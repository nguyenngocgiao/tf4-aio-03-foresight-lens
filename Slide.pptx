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9" d="100"/>
          <a:sy n="59"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8356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Foresight Lens: a capacity-exhaustion prediction engine. We predict OOM / CPU starvation at least 15 minutes before an SLO breach, advise the SRE team, and never act on our own — at essentially zero inference cost. XBrain Capstone, Task Force 4, AI group AIO-03.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client's words: by the time the monitor goes red, the system is already down. They want early prediction, but they do NOT want the AI to act on its own, and the entire monthly bill must stay under $200. Three tier-1 services are in scope: Payment Gateway, Fraud Detection, Ledger.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monitoring is reactive: it fires at 99% CPU, when the outage has already started. The failure modes are slow — memory leaks to OOM, CPU starvation, connection-pool and queue exhaustion — they build over tens of minutes but the alert only arrives at the cliff edge. Off-the-shelf AIOps is too heavy and too expensive, and the team distrusts anything that auto-restarts healthy servers.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Foresight Lens predicts capacity exhaustion early and advises — it never touches infrastructure. Four outcomes: early prediction with 15+ minutes of lead, strict multi-tenant isolation across the three services, FinOps discipline through an in-house statistical model with zero token cost, and actionable advice — every alert carries a recommended action, target, confidence, and an evidence link. The CDO platform keeps the kill switch.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Offline, STL decomposition learns each service's daily load curve from clean days and stores a seasonal profile plus residual sigma. At inference, we subtract the season and run an EWMA control chart over the residual — alpha 0.3 smooths one-off spikes, and a breach of the K=4-sigma limit raises an anomaly. De-seasonalising first is the key: it stops normal daytime peaks from looking like incidents. It's deterministic, fully explainable, runs in under 10 ms, and costs about zero.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considered three approaches on the same held-out data. An LLM would cost on the order of ten thousand dollars a month, answer in seconds, and can hallucinate arithmetic — disqualified on cost and latency. Isolation Forest failed the false-positive gate at 21.4% because it has no concept of season. STL plus EWMA passes both gates, runs in milliseconds, costs about $36 a month, and is mathematically exact. For infrastructure time-series, statistics beat generation.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One-directional data flow. CDO platforms push a 120-minute signal window over POST /v1/predict to an internal ALB. FastAPI plus Pydantic validates schema and tenant, the STL+EWMA engine scores it, and the decision router turns the score into a confidence-gated recommendation. Before responding, we hash the input with SHA-256 and write a six-field audit record. The engine is a stateless ECS Fargate service — it reads per-service baselines from S3 and never calls back into CDO infrastructure. SRE stays in the loop as the manual approval gate.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contracts, signed and frozen on W11 T5. The Telemetry contract defines the signals CDO emits — seven gauges at one-minute granularity. The API contract defines POST /v1/predict, its request and response schema, the SLA, and the error codes. The Deployment contract defines compute, scaling, canary rollout and rollback. The schema is identical between the W11 mock and the W12 final build, so CDO never has to rewrite their integration.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measured on a held-out labelled day across the three services, with about 790 scored windows — nothing is hard-coded; re-run tf4_evidence.py to reproduce it. Recall 0.971 against a 0.80 gate, false-positive rate 7.1% against a 12% gate, median lead time 110 minutes against 15, Brier score 0.049 — well calibrated. Precision 0.793 hits the stretch target; the slightly-below-0.80 comes from boundary windows just after a fault clears. Nine of nine pytest scenarios pass.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engine runs at about $36 a month — two Fargate tasks for high availability, flat. That's 18% of the $200 budget. There is zero inference token cost because there's no LLM, and the marginal cost of adding a tenant is under a dollar a month. As a hard backstop, a cost circuit breaker scales the service to zero if spend ever reaches $200; in practice it never fires.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guardrails make this safe to put in an operations loop. A confidence below 0.7 is downgraded from SCALE_UP to INVESTIGATE. The engine is assist-only — it never executes. Every decision writes a six-field audit record with a SHA-256 input hash and no raw PII. If the engine returns a 5xx, CDO fails open to rule-based alerting. Tenants are isolated by header and stateless per-request scoping. And a 600-request-per-minute rate limit stops a noisy neighbour.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endpoint serves all three services. The X-Tenant-Id header routes each request to that service's own baseline, and the engine state is created and destroyed within a single request — there is no global memory that could carry one tenant's data into another's analysis. Here's a live request and response for the payment gateway: a SCALE_UP recommendation at 0.82 confidence, with an evidence link and an audit id. A missing header is a 401; a mismatched tenant_id is a 400.</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architecture decision records capture the trade-offs. Statistics over LLM. A 0.7 confidence gate, chosen between a too-loose 0.5 and a too-strict 0.8. Manual silence for flash sales rather than blunting sensitivity year-round. STL+EWMA over Isolation Forest, proven by A/B. Weekly plus drift-triggered retraining. And the EWMA parameters alpha 0.3 and K=4, picked from a 16-point sweep where K=3 failed the FP gate and K=4.5 cost recall.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resilience scenarios, ordered by severity — these are drawn from the documented eval traps and failure modes; swap in the actual graded W12 curveballs if they differ. Small: a noisy baseline with no mean shift — EWMA smoothing holds false positives at 7.1% where K=3 would have given 17.5%. Medium: an injected sudden spike plus a slow leak — both caught with 110-minute median lead. Chaos: the engine itself goes down — CDO fails open to rule-based alerting and the cost breaker can scale to zero, with no cascade.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every client gate is met with margin, the bill is about $36 a month — under a fifth of the budget — three contracts are signed and frozen, and we have a real artifact, not a slide-ware demo: a FastAPI engine on Fargate with nine passing tests and reproducible evidence. We're ready for the W12 final build, where IAM SigV4 is enforced and the schema stays exactly the same.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material for questions: the full EWMA parameter sweep, the seven-signal telemetry catalogue, the API error-code table, and the deployment specifics — region, networking, rollout and rollback.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555726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XBRAIN CAPSTONE · TASK FORCE 4 · AIO-03</a:t>
            </a:r>
            <a:endParaRPr lang="en-US" sz="1275" dirty="0"/>
          </a:p>
        </p:txBody>
      </p:sp>
      <p:sp>
        <p:nvSpPr>
          <p:cNvPr id="3" name="Text 1"/>
          <p:cNvSpPr/>
          <p:nvPr/>
        </p:nvSpPr>
        <p:spPr>
          <a:xfrm>
            <a:off x="14432281" y="571500"/>
            <a:ext cx="3277362"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PITCH · W12 FINAL BUILD</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261110"/>
            <a:ext cx="8759190" cy="289560"/>
          </a:xfrm>
          <a:prstGeom prst="rect">
            <a:avLst/>
          </a:prstGeom>
          <a:noFill/>
          <a:ln/>
        </p:spPr>
        <p:txBody>
          <a:bodyPr wrap="square" lIns="25400" tIns="25400" rIns="25400" bIns="25400" rtlCol="0" anchor="t">
            <a:normAutofit/>
          </a:bodyPr>
          <a:lstStyle/>
          <a:p>
            <a:pPr marL="0" indent="0" algn="l">
              <a:buNone/>
            </a:pPr>
            <a:r>
              <a:rPr lang="en-US" sz="1500" kern="0" spc="240" dirty="0">
                <a:solidFill>
                  <a:srgbClr val="1F5061"/>
                </a:solidFill>
                <a:latin typeface="Courier New" pitchFamily="34" charset="0"/>
                <a:ea typeface="Courier New" pitchFamily="34" charset="-122"/>
                <a:cs typeface="Courier New" pitchFamily="34" charset="-120"/>
              </a:rPr>
              <a:t>TIME-SERIES ANOMALY DETECTION</a:t>
            </a:r>
            <a:endParaRPr lang="en-US" sz="1500" dirty="0"/>
          </a:p>
        </p:txBody>
      </p:sp>
      <p:sp>
        <p:nvSpPr>
          <p:cNvPr id="6" name="Text 4"/>
          <p:cNvSpPr/>
          <p:nvPr/>
        </p:nvSpPr>
        <p:spPr>
          <a:xfrm>
            <a:off x="876300" y="1760220"/>
            <a:ext cx="8201787" cy="2491740"/>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10500" b="1" kern="0" spc="-262" dirty="0">
                <a:solidFill>
                  <a:srgbClr val="1B1B19"/>
                </a:solidFill>
                <a:latin typeface="Georgia" pitchFamily="34" charset="0"/>
                <a:ea typeface="Georgia" pitchFamily="34" charset="-122"/>
                <a:cs typeface="Georgia" pitchFamily="34" charset="-120"/>
              </a:rPr>
              <a:t>Foresight Lens</a:t>
            </a:r>
            <a:endParaRPr lang="en-US" sz="10500" dirty="0"/>
          </a:p>
        </p:txBody>
      </p:sp>
      <p:sp>
        <p:nvSpPr>
          <p:cNvPr id="7" name="Text 5"/>
          <p:cNvSpPr/>
          <p:nvPr/>
        </p:nvSpPr>
        <p:spPr>
          <a:xfrm>
            <a:off x="876300" y="4499610"/>
            <a:ext cx="6475095" cy="988933"/>
          </a:xfrm>
          <a:prstGeom prst="rect">
            <a:avLst/>
          </a:prstGeom>
          <a:noFill/>
          <a:ln/>
        </p:spPr>
        <p:txBody>
          <a:bodyPr wrap="square" lIns="25400" tIns="25400" rIns="25400" bIns="25400" rtlCol="0" anchor="t">
            <a:normAutofit fontScale="92500" lnSpcReduction="10000"/>
          </a:bodyPr>
          <a:lstStyle/>
          <a:p>
            <a:pPr marL="0" indent="0" algn="l">
              <a:lnSpc>
                <a:spcPct val="128000"/>
              </a:lnSpc>
              <a:buNone/>
            </a:pPr>
            <a:r>
              <a:rPr lang="en-US" sz="2925" i="1" dirty="0">
                <a:solidFill>
                  <a:srgbClr val="54514A"/>
                </a:solidFill>
                <a:latin typeface="Georgia" pitchFamily="34" charset="0"/>
                <a:ea typeface="Georgia" pitchFamily="34" charset="-122"/>
                <a:cs typeface="Georgia" pitchFamily="34" charset="-120"/>
              </a:rPr>
              <a:t>A capacity-exhaustion prediction engine for tier-1 cloud services.</a:t>
            </a:r>
            <a:endParaRPr lang="en-US" sz="2925" dirty="0"/>
          </a:p>
        </p:txBody>
      </p:sp>
      <p:sp>
        <p:nvSpPr>
          <p:cNvPr id="8" name="Shape 6"/>
          <p:cNvSpPr/>
          <p:nvPr/>
        </p:nvSpPr>
        <p:spPr>
          <a:xfrm>
            <a:off x="876300" y="7865745"/>
            <a:ext cx="5715000" cy="9525"/>
          </a:xfrm>
          <a:prstGeom prst="rect">
            <a:avLst/>
          </a:prstGeom>
          <a:solidFill>
            <a:srgbClr val="CFC9BC"/>
          </a:solidFill>
          <a:ln/>
        </p:spPr>
      </p:sp>
      <p:sp>
        <p:nvSpPr>
          <p:cNvPr id="9" name="Shape 7"/>
          <p:cNvSpPr/>
          <p:nvPr/>
        </p:nvSpPr>
        <p:spPr>
          <a:xfrm>
            <a:off x="876300" y="8122920"/>
            <a:ext cx="5715000" cy="9525"/>
          </a:xfrm>
          <a:prstGeom prst="rect">
            <a:avLst/>
          </a:prstGeom>
          <a:solidFill>
            <a:srgbClr val="1B1B19"/>
          </a:solidFill>
          <a:ln/>
        </p:spPr>
      </p:sp>
      <p:sp>
        <p:nvSpPr>
          <p:cNvPr id="10" name="Text 8"/>
          <p:cNvSpPr/>
          <p:nvPr/>
        </p:nvSpPr>
        <p:spPr>
          <a:xfrm>
            <a:off x="876300" y="8321040"/>
            <a:ext cx="1894332" cy="220980"/>
          </a:xfrm>
          <a:prstGeom prst="rect">
            <a:avLst/>
          </a:prstGeom>
          <a:noFill/>
          <a:ln/>
        </p:spPr>
        <p:txBody>
          <a:bodyPr wrap="square" lIns="25400" tIns="25400" rIns="25400" bIns="25400" rtlCol="0" anchor="t">
            <a:normAutofit lnSpcReduction="10000"/>
          </a:bodyPr>
          <a:lstStyle/>
          <a:p>
            <a:pPr marL="0" indent="0" algn="l">
              <a:buNone/>
            </a:pPr>
            <a:r>
              <a:rPr lang="en-US" sz="1125" kern="0" spc="135" dirty="0">
                <a:solidFill>
                  <a:srgbClr val="8C887C"/>
                </a:solidFill>
                <a:latin typeface="Courier New" pitchFamily="34" charset="0"/>
                <a:ea typeface="Courier New" pitchFamily="34" charset="-122"/>
                <a:cs typeface="Courier New" pitchFamily="34" charset="-120"/>
              </a:rPr>
              <a:t>LEAD TIME</a:t>
            </a:r>
            <a:endParaRPr lang="en-US" sz="1125" dirty="0"/>
          </a:p>
        </p:txBody>
      </p:sp>
      <p:sp>
        <p:nvSpPr>
          <p:cNvPr id="11" name="Text 9"/>
          <p:cNvSpPr/>
          <p:nvPr/>
        </p:nvSpPr>
        <p:spPr>
          <a:xfrm>
            <a:off x="876300" y="8542020"/>
            <a:ext cx="1894332" cy="42672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F5061"/>
                </a:solidFill>
                <a:latin typeface="Georgia" pitchFamily="34" charset="0"/>
                <a:ea typeface="Georgia" pitchFamily="34" charset="-122"/>
                <a:cs typeface="Georgia" pitchFamily="34" charset="-120"/>
              </a:rPr>
              <a:t>≥ 15 min</a:t>
            </a:r>
            <a:endParaRPr lang="en-US" sz="2700" dirty="0"/>
          </a:p>
        </p:txBody>
      </p:sp>
      <p:sp>
        <p:nvSpPr>
          <p:cNvPr id="12" name="Shape 10"/>
          <p:cNvSpPr/>
          <p:nvPr/>
        </p:nvSpPr>
        <p:spPr>
          <a:xfrm>
            <a:off x="2598420" y="8130540"/>
            <a:ext cx="9525" cy="990600"/>
          </a:xfrm>
          <a:prstGeom prst="rect">
            <a:avLst/>
          </a:prstGeom>
          <a:solidFill>
            <a:srgbClr val="E0DBCF"/>
          </a:solidFill>
          <a:ln/>
        </p:spPr>
      </p:sp>
      <p:sp>
        <p:nvSpPr>
          <p:cNvPr id="13" name="Text 11"/>
          <p:cNvSpPr/>
          <p:nvPr/>
        </p:nvSpPr>
        <p:spPr>
          <a:xfrm>
            <a:off x="2872740" y="8321040"/>
            <a:ext cx="1894332" cy="220980"/>
          </a:xfrm>
          <a:prstGeom prst="rect">
            <a:avLst/>
          </a:prstGeom>
          <a:noFill/>
          <a:ln/>
        </p:spPr>
        <p:txBody>
          <a:bodyPr wrap="square" lIns="25400" tIns="25400" rIns="25400" bIns="25400" rtlCol="0" anchor="t">
            <a:normAutofit lnSpcReduction="10000"/>
          </a:bodyPr>
          <a:lstStyle/>
          <a:p>
            <a:pPr marL="0" indent="0" algn="l">
              <a:buNone/>
            </a:pPr>
            <a:r>
              <a:rPr lang="en-US" sz="1125" kern="0" spc="135" dirty="0">
                <a:solidFill>
                  <a:srgbClr val="8C887C"/>
                </a:solidFill>
                <a:latin typeface="Courier New" pitchFamily="34" charset="0"/>
                <a:ea typeface="Courier New" pitchFamily="34" charset="-122"/>
                <a:cs typeface="Courier New" pitchFamily="34" charset="-120"/>
              </a:rPr>
              <a:t>INFERENCE</a:t>
            </a:r>
            <a:endParaRPr lang="en-US" sz="1125" dirty="0"/>
          </a:p>
        </p:txBody>
      </p:sp>
      <p:sp>
        <p:nvSpPr>
          <p:cNvPr id="14" name="Text 12"/>
          <p:cNvSpPr/>
          <p:nvPr/>
        </p:nvSpPr>
        <p:spPr>
          <a:xfrm>
            <a:off x="2872740" y="8542020"/>
            <a:ext cx="1894332" cy="426720"/>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B1B19"/>
                </a:solidFill>
                <a:latin typeface="Georgia" pitchFamily="34" charset="0"/>
                <a:ea typeface="Georgia" pitchFamily="34" charset="-122"/>
                <a:cs typeface="Georgia" pitchFamily="34" charset="-120"/>
              </a:rPr>
              <a:t>~$0 cost</a:t>
            </a:r>
            <a:endParaRPr lang="en-US" sz="2700" dirty="0"/>
          </a:p>
        </p:txBody>
      </p:sp>
      <p:sp>
        <p:nvSpPr>
          <p:cNvPr id="15" name="Shape 13"/>
          <p:cNvSpPr/>
          <p:nvPr/>
        </p:nvSpPr>
        <p:spPr>
          <a:xfrm>
            <a:off x="4594860" y="8130540"/>
            <a:ext cx="9525" cy="990600"/>
          </a:xfrm>
          <a:prstGeom prst="rect">
            <a:avLst/>
          </a:prstGeom>
          <a:solidFill>
            <a:srgbClr val="E0DBCF"/>
          </a:solidFill>
          <a:ln/>
        </p:spPr>
      </p:sp>
      <p:sp>
        <p:nvSpPr>
          <p:cNvPr id="16" name="Text 14"/>
          <p:cNvSpPr/>
          <p:nvPr/>
        </p:nvSpPr>
        <p:spPr>
          <a:xfrm>
            <a:off x="4869180" y="8321040"/>
            <a:ext cx="1894332" cy="220980"/>
          </a:xfrm>
          <a:prstGeom prst="rect">
            <a:avLst/>
          </a:prstGeom>
          <a:noFill/>
          <a:ln/>
        </p:spPr>
        <p:txBody>
          <a:bodyPr wrap="square" lIns="25400" tIns="25400" rIns="25400" bIns="25400" rtlCol="0" anchor="t">
            <a:normAutofit lnSpcReduction="10000"/>
          </a:bodyPr>
          <a:lstStyle/>
          <a:p>
            <a:pPr marL="0" indent="0" algn="l">
              <a:buNone/>
            </a:pPr>
            <a:r>
              <a:rPr lang="en-US" sz="1125" kern="0" spc="135" dirty="0">
                <a:solidFill>
                  <a:srgbClr val="8C887C"/>
                </a:solidFill>
                <a:latin typeface="Courier New" pitchFamily="34" charset="0"/>
                <a:ea typeface="Courier New" pitchFamily="34" charset="-122"/>
                <a:cs typeface="Courier New" pitchFamily="34" charset="-120"/>
              </a:rPr>
              <a:t>MODEL</a:t>
            </a:r>
            <a:endParaRPr lang="en-US" sz="1125" dirty="0"/>
          </a:p>
        </p:txBody>
      </p:sp>
      <p:sp>
        <p:nvSpPr>
          <p:cNvPr id="17" name="Text 15"/>
          <p:cNvSpPr/>
          <p:nvPr/>
        </p:nvSpPr>
        <p:spPr>
          <a:xfrm>
            <a:off x="4869180" y="8580120"/>
            <a:ext cx="1894332" cy="358140"/>
          </a:xfrm>
          <a:prstGeom prst="rect">
            <a:avLst/>
          </a:prstGeom>
          <a:noFill/>
          <a:ln/>
        </p:spPr>
        <p:txBody>
          <a:bodyPr wrap="none" lIns="25400" tIns="25400" rIns="25400" bIns="25400" rtlCol="0" anchor="t">
            <a:normAutofit fontScale="92500" lnSpcReduction="1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ewma-stl-v1</a:t>
            </a:r>
            <a:endParaRPr lang="en-US" sz="2250" dirty="0"/>
          </a:p>
        </p:txBody>
      </p:sp>
      <p:sp>
        <p:nvSpPr>
          <p:cNvPr id="18" name="Shape 16"/>
          <p:cNvSpPr/>
          <p:nvPr/>
        </p:nvSpPr>
        <p:spPr>
          <a:xfrm>
            <a:off x="9448800" y="2721531"/>
            <a:ext cx="7962900" cy="4220885"/>
          </a:xfrm>
          <a:prstGeom prst="rect">
            <a:avLst/>
          </a:prstGeom>
          <a:solidFill>
            <a:srgbClr val="FCFBF6"/>
          </a:solidFill>
          <a:ln w="7620">
            <a:solidFill>
              <a:srgbClr val="1B1B19"/>
            </a:solidFill>
            <a:prstDash val="solid"/>
          </a:ln>
        </p:spPr>
      </p:sp>
      <p:sp>
        <p:nvSpPr>
          <p:cNvPr id="19" name="Text 17"/>
          <p:cNvSpPr/>
          <p:nvPr/>
        </p:nvSpPr>
        <p:spPr>
          <a:xfrm>
            <a:off x="9761220" y="3014901"/>
            <a:ext cx="2310289" cy="220980"/>
          </a:xfrm>
          <a:prstGeom prst="rect">
            <a:avLst/>
          </a:prstGeom>
          <a:noFill/>
          <a:ln/>
        </p:spPr>
        <p:txBody>
          <a:bodyPr wrap="square" lIns="25400" tIns="25400" rIns="25400" bIns="25400" rtlCol="0" anchor="t">
            <a:normAutofit lnSpcReduction="10000"/>
          </a:bodyPr>
          <a:lstStyle/>
          <a:p>
            <a:pPr marL="0" indent="0" algn="l">
              <a:buNone/>
            </a:pPr>
            <a:r>
              <a:rPr lang="en-US" sz="1125" kern="0" spc="113" dirty="0">
                <a:solidFill>
                  <a:srgbClr val="8C887C"/>
                </a:solidFill>
                <a:latin typeface="Courier New" pitchFamily="34" charset="0"/>
                <a:ea typeface="Courier New" pitchFamily="34" charset="-122"/>
                <a:cs typeface="Courier New" pitchFamily="34" charset="-120"/>
              </a:rPr>
              <a:t>PAYMENT-GW · MEMORY %</a:t>
            </a:r>
            <a:endParaRPr lang="en-US" sz="1125" dirty="0"/>
          </a:p>
        </p:txBody>
      </p:sp>
      <p:sp>
        <p:nvSpPr>
          <p:cNvPr id="20" name="Text 18"/>
          <p:cNvSpPr/>
          <p:nvPr/>
        </p:nvSpPr>
        <p:spPr>
          <a:xfrm>
            <a:off x="15299056" y="3014901"/>
            <a:ext cx="1980248" cy="220980"/>
          </a:xfrm>
          <a:prstGeom prst="rect">
            <a:avLst/>
          </a:prstGeom>
          <a:noFill/>
          <a:ln/>
        </p:spPr>
        <p:txBody>
          <a:bodyPr wrap="square" lIns="25400" tIns="25400" rIns="25400" bIns="25400" rtlCol="0" anchor="t">
            <a:normAutofit lnSpcReduction="10000"/>
          </a:bodyPr>
          <a:lstStyle/>
          <a:p>
            <a:pPr marL="0" indent="0" algn="l">
              <a:buNone/>
            </a:pPr>
            <a:r>
              <a:rPr lang="en-US" sz="1125" kern="0" spc="113" dirty="0">
                <a:solidFill>
                  <a:srgbClr val="1F5061"/>
                </a:solidFill>
                <a:latin typeface="Courier New" pitchFamily="34" charset="0"/>
                <a:ea typeface="Courier New" pitchFamily="34" charset="-122"/>
                <a:cs typeface="Courier New" pitchFamily="34" charset="-120"/>
              </a:rPr>
              <a:t>EWMA CONTROL CHART</a:t>
            </a:r>
            <a:endParaRPr lang="en-US" sz="1125" dirty="0"/>
          </a:p>
        </p:txBody>
      </p:sp>
      <p:pic>
        <p:nvPicPr>
          <p:cNvPr id="21"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61220" y="3273981"/>
            <a:ext cx="7338060" cy="3104555"/>
          </a:xfrm>
          <a:prstGeom prst="rect">
            <a:avLst/>
          </a:prstGeom>
        </p:spPr>
      </p:pic>
      <p:sp>
        <p:nvSpPr>
          <p:cNvPr id="22" name="Text 19"/>
          <p:cNvSpPr/>
          <p:nvPr/>
        </p:nvSpPr>
        <p:spPr>
          <a:xfrm>
            <a:off x="9761220" y="6492836"/>
            <a:ext cx="1158240" cy="251460"/>
          </a:xfrm>
          <a:prstGeom prst="rect">
            <a:avLst/>
          </a:prstGeom>
          <a:noFill/>
          <a:ln/>
        </p:spPr>
        <p:txBody>
          <a:bodyPr wrap="square" lIns="25400" tIns="25400" rIns="25400" bIns="25400" rtlCol="0" anchor="t">
            <a:normAutofit/>
          </a:bodyPr>
          <a:lstStyle/>
          <a:p>
            <a:pPr marL="0" indent="0" algn="l">
              <a:buNone/>
            </a:pPr>
            <a:r>
              <a:rPr lang="en-US" sz="1200" dirty="0">
                <a:solidFill>
                  <a:srgbClr val="1F5061"/>
                </a:solidFill>
                <a:latin typeface="Courier New" pitchFamily="34" charset="0"/>
                <a:ea typeface="Courier New" pitchFamily="34" charset="-122"/>
                <a:cs typeface="Courier New" pitchFamily="34" charset="-120"/>
              </a:rPr>
              <a:t>● alert · t₀</a:t>
            </a:r>
            <a:endParaRPr lang="en-US" sz="1200" dirty="0"/>
          </a:p>
        </p:txBody>
      </p:sp>
      <p:sp>
        <p:nvSpPr>
          <p:cNvPr id="23" name="Text 20"/>
          <p:cNvSpPr/>
          <p:nvPr/>
        </p:nvSpPr>
        <p:spPr>
          <a:xfrm>
            <a:off x="12655153" y="6492836"/>
            <a:ext cx="1696962" cy="251460"/>
          </a:xfrm>
          <a:prstGeom prst="rect">
            <a:avLst/>
          </a:prstGeom>
          <a:noFill/>
          <a:ln/>
        </p:spPr>
        <p:txBody>
          <a:bodyPr wrap="square" lIns="25400" tIns="25400" rIns="25400" bIns="25400" rtlCol="0" anchor="t">
            <a:normAutofit/>
          </a:bodyPr>
          <a:lstStyle/>
          <a:p>
            <a:pPr marL="0" indent="0" algn="l">
              <a:buNone/>
            </a:pPr>
            <a:r>
              <a:rPr lang="en-US" sz="1200" dirty="0">
                <a:solidFill>
                  <a:srgbClr val="54514A"/>
                </a:solidFill>
                <a:latin typeface="Courier New" pitchFamily="34" charset="0"/>
                <a:ea typeface="Courier New" pitchFamily="34" charset="-122"/>
                <a:cs typeface="Courier New" pitchFamily="34" charset="-120"/>
              </a:rPr>
              <a:t>◀ 110 min lead ▶</a:t>
            </a:r>
            <a:endParaRPr lang="en-US" sz="1200" dirty="0"/>
          </a:p>
        </p:txBody>
      </p:sp>
      <p:sp>
        <p:nvSpPr>
          <p:cNvPr id="24" name="Text 21"/>
          <p:cNvSpPr/>
          <p:nvPr/>
        </p:nvSpPr>
        <p:spPr>
          <a:xfrm>
            <a:off x="16009620" y="6492836"/>
            <a:ext cx="1165860" cy="251460"/>
          </a:xfrm>
          <a:prstGeom prst="rect">
            <a:avLst/>
          </a:prstGeom>
          <a:noFill/>
          <a:ln/>
        </p:spPr>
        <p:txBody>
          <a:bodyPr wrap="square" lIns="25400" tIns="25400" rIns="25400" bIns="25400" rtlCol="0" anchor="t">
            <a:normAutofit/>
          </a:bodyPr>
          <a:lstStyle/>
          <a:p>
            <a:pPr marL="0" indent="0" algn="l">
              <a:buNone/>
            </a:pPr>
            <a:r>
              <a:rPr lang="en-US" sz="1200" dirty="0">
                <a:solidFill>
                  <a:srgbClr val="A8432E"/>
                </a:solidFill>
                <a:latin typeface="Courier New" pitchFamily="34" charset="0"/>
                <a:ea typeface="Courier New" pitchFamily="34" charset="-122"/>
                <a:cs typeface="Courier New" pitchFamily="34" charset="-120"/>
              </a:rPr>
              <a:t>● SLO breach</a:t>
            </a:r>
            <a:endParaRPr lang="en-US" sz="1200" dirty="0"/>
          </a:p>
        </p:txBody>
      </p:sp>
      <p:sp>
        <p:nvSpPr>
          <p:cNvPr id="25" name="Text 22"/>
          <p:cNvSpPr/>
          <p:nvPr/>
        </p:nvSpPr>
        <p:spPr>
          <a:xfrm>
            <a:off x="9448800" y="7094815"/>
            <a:ext cx="8201787" cy="60388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7A766C"/>
                </a:solidFill>
                <a:latin typeface="Georgia" pitchFamily="34" charset="0"/>
                <a:ea typeface="Georgia" pitchFamily="34" charset="-122"/>
                <a:cs typeface="Georgia" pitchFamily="34" charset="-120"/>
              </a:rPr>
              <a:t>Fig. 1 — EWMA control chart raises an alert ~110 min before the de-seasonalised signal breaches the SLO.</a:t>
            </a:r>
            <a:endParaRPr lang="en-US" sz="1650" dirty="0"/>
          </a:p>
        </p:txBody>
      </p:sp>
      <p:sp>
        <p:nvSpPr>
          <p:cNvPr id="26" name="Shape 23"/>
          <p:cNvSpPr/>
          <p:nvPr/>
        </p:nvSpPr>
        <p:spPr>
          <a:xfrm>
            <a:off x="876300" y="9387840"/>
            <a:ext cx="16535400" cy="9525"/>
          </a:xfrm>
          <a:prstGeom prst="rect">
            <a:avLst/>
          </a:prstGeom>
          <a:solidFill>
            <a:srgbClr val="CFC9BC"/>
          </a:solidFill>
          <a:ln/>
        </p:spPr>
      </p:sp>
      <p:sp>
        <p:nvSpPr>
          <p:cNvPr id="27" name="Text 24"/>
          <p:cNvSpPr/>
          <p:nvPr/>
        </p:nvSpPr>
        <p:spPr>
          <a:xfrm>
            <a:off x="876300" y="9566910"/>
            <a:ext cx="4714089" cy="243840"/>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8C887C"/>
                </a:solidFill>
                <a:latin typeface="Courier New" pitchFamily="34" charset="0"/>
                <a:ea typeface="Courier New" pitchFamily="34" charset="-122"/>
                <a:cs typeface="Courier New" pitchFamily="34" charset="-120"/>
              </a:rPr>
              <a:t>AI GROUP · STATISTICAL ANOMALY ENGINE</a:t>
            </a:r>
            <a:endParaRPr lang="en-US" sz="1200" dirty="0"/>
          </a:p>
        </p:txBody>
      </p:sp>
      <p:sp>
        <p:nvSpPr>
          <p:cNvPr id="28" name="Text 25"/>
          <p:cNvSpPr/>
          <p:nvPr/>
        </p:nvSpPr>
        <p:spPr>
          <a:xfrm>
            <a:off x="16948309" y="9566910"/>
            <a:ext cx="539591" cy="243840"/>
          </a:xfrm>
          <a:prstGeom prst="rect">
            <a:avLst/>
          </a:prstGeom>
          <a:noFill/>
          <a:ln/>
        </p:spPr>
        <p:txBody>
          <a:bodyPr wrap="square" lIns="25400" tIns="25400" rIns="25400" bIns="25400" rtlCol="0" anchor="t">
            <a:normAutofit/>
          </a:bodyPr>
          <a:lstStyle/>
          <a:p>
            <a:pPr marL="0" indent="0" algn="l">
              <a:buNone/>
            </a:pPr>
            <a:r>
              <a:rPr lang="en-US" sz="1200" kern="0" spc="192" dirty="0">
                <a:solidFill>
                  <a:srgbClr val="8C887C"/>
                </a:solidFill>
                <a:latin typeface="Courier New" pitchFamily="34" charset="0"/>
                <a:ea typeface="Courier New" pitchFamily="34" charset="-122"/>
                <a:cs typeface="Courier New" pitchFamily="34" charset="-120"/>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02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02</a:t>
            </a:r>
            <a:endParaRPr lang="en-US" sz="1725" dirty="0"/>
          </a:p>
        </p:txBody>
      </p:sp>
      <p:sp>
        <p:nvSpPr>
          <p:cNvPr id="6" name="Text 4"/>
          <p:cNvSpPr/>
          <p:nvPr/>
        </p:nvSpPr>
        <p:spPr>
          <a:xfrm>
            <a:off x="1329690" y="1184910"/>
            <a:ext cx="4054793"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Client Context</a:t>
            </a:r>
            <a:endParaRPr lang="en-US" sz="4500" dirty="0"/>
          </a:p>
        </p:txBody>
      </p:sp>
      <p:sp>
        <p:nvSpPr>
          <p:cNvPr id="7" name="Shape 5"/>
          <p:cNvSpPr/>
          <p:nvPr/>
        </p:nvSpPr>
        <p:spPr>
          <a:xfrm>
            <a:off x="876300" y="2080260"/>
            <a:ext cx="22860" cy="7673340"/>
          </a:xfrm>
          <a:prstGeom prst="rect">
            <a:avLst/>
          </a:prstGeom>
          <a:solidFill>
            <a:srgbClr val="1F5061"/>
          </a:solidFill>
          <a:ln/>
        </p:spPr>
      </p:sp>
      <p:sp>
        <p:nvSpPr>
          <p:cNvPr id="8" name="Text 6"/>
          <p:cNvSpPr/>
          <p:nvPr/>
        </p:nvSpPr>
        <p:spPr>
          <a:xfrm>
            <a:off x="1299210" y="3978593"/>
            <a:ext cx="9417570" cy="590550"/>
          </a:xfrm>
          <a:prstGeom prst="rect">
            <a:avLst/>
          </a:prstGeom>
          <a:noFill/>
          <a:ln/>
        </p:spPr>
        <p:txBody>
          <a:bodyPr wrap="square" lIns="25400" tIns="25400" rIns="25400" bIns="25400" rtlCol="0" anchor="t">
            <a:normAutofit fontScale="70000" lnSpcReduction="20000"/>
          </a:bodyPr>
          <a:lstStyle/>
          <a:p>
            <a:pPr marL="0" indent="0" algn="l">
              <a:lnSpc>
                <a:spcPct val="60000"/>
              </a:lnSpc>
              <a:buNone/>
            </a:pPr>
            <a:r>
              <a:rPr lang="en-US" sz="9000" dirty="0">
                <a:solidFill>
                  <a:srgbClr val="D8D2C4"/>
                </a:solidFill>
                <a:latin typeface="Georgia" pitchFamily="34" charset="0"/>
                <a:ea typeface="Georgia" pitchFamily="34" charset="-122"/>
                <a:cs typeface="Georgia" pitchFamily="34" charset="-120"/>
              </a:rPr>
              <a:t>“</a:t>
            </a:r>
            <a:endParaRPr lang="en-US" sz="9000" dirty="0"/>
          </a:p>
        </p:txBody>
      </p:sp>
      <p:sp>
        <p:nvSpPr>
          <p:cNvPr id="9" name="Text 7"/>
          <p:cNvSpPr/>
          <p:nvPr/>
        </p:nvSpPr>
        <p:spPr>
          <a:xfrm>
            <a:off x="1256514" y="4129734"/>
            <a:ext cx="8818270" cy="2817495"/>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3075" i="1" dirty="0">
                <a:solidFill>
                  <a:srgbClr val="33322D"/>
                </a:solidFill>
                <a:latin typeface="Georgia" pitchFamily="34" charset="0"/>
                <a:ea typeface="Georgia" pitchFamily="34" charset="-122"/>
                <a:cs typeface="Georgia" pitchFamily="34" charset="-120"/>
              </a:rPr>
              <a:t>When the monitor turns red, the system is </a:t>
            </a:r>
            <a:r>
              <a:rPr lang="en-US" sz="3075" dirty="0">
                <a:solidFill>
                  <a:srgbClr val="A8432E"/>
                </a:solidFill>
                <a:latin typeface="Georgia" pitchFamily="34" charset="0"/>
                <a:ea typeface="Georgia" pitchFamily="34" charset="-122"/>
                <a:cs typeface="Georgia" pitchFamily="34" charset="-120"/>
              </a:rPr>
              <a:t>already down </a:t>
            </a:r>
            <a:r>
              <a:rPr lang="en-US" sz="3075" i="1" dirty="0">
                <a:solidFill>
                  <a:srgbClr val="33322D"/>
                </a:solidFill>
                <a:latin typeface="Georgia" pitchFamily="34" charset="0"/>
                <a:ea typeface="Georgia" pitchFamily="34" charset="-122"/>
                <a:cs typeface="Georgia" pitchFamily="34" charset="-120"/>
              </a:rPr>
              <a:t>. We need to predict the incident early enough for SRE to intervene — but we don't want the AI to act on its own, and the monthly bill must stay </a:t>
            </a:r>
            <a:r>
              <a:rPr lang="en-US" sz="3075" dirty="0">
                <a:solidFill>
                  <a:srgbClr val="1F5061"/>
                </a:solidFill>
                <a:latin typeface="Georgia" pitchFamily="34" charset="0"/>
                <a:ea typeface="Georgia" pitchFamily="34" charset="-122"/>
                <a:cs typeface="Georgia" pitchFamily="34" charset="-120"/>
              </a:rPr>
              <a:t>under $200</a:t>
            </a:r>
            <a:r>
              <a:rPr lang="en-US" sz="3075" i="1" dirty="0">
                <a:solidFill>
                  <a:srgbClr val="33322D"/>
                </a:solidFill>
                <a:latin typeface="Georgia" pitchFamily="34" charset="0"/>
                <a:ea typeface="Georgia" pitchFamily="34" charset="-122"/>
                <a:cs typeface="Georgia" pitchFamily="34" charset="-120"/>
              </a:rPr>
              <a:t>.</a:t>
            </a:r>
            <a:endParaRPr lang="en-US" sz="3075" dirty="0"/>
          </a:p>
        </p:txBody>
      </p:sp>
      <p:sp>
        <p:nvSpPr>
          <p:cNvPr id="10" name="Text 8"/>
          <p:cNvSpPr/>
          <p:nvPr/>
        </p:nvSpPr>
        <p:spPr>
          <a:xfrm>
            <a:off x="1299210" y="7634288"/>
            <a:ext cx="9417570" cy="259080"/>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8C887C"/>
                </a:solidFill>
                <a:latin typeface="Courier New" pitchFamily="34" charset="0"/>
                <a:ea typeface="Courier New" pitchFamily="34" charset="-122"/>
                <a:cs typeface="Courier New" pitchFamily="34" charset="-120"/>
              </a:rPr>
              <a:t>— CLIENT INTERVIEW · W11</a:t>
            </a:r>
            <a:endParaRPr lang="en-US" sz="1350" dirty="0"/>
          </a:p>
        </p:txBody>
      </p:sp>
      <p:sp>
        <p:nvSpPr>
          <p:cNvPr id="11" name="Text 9"/>
          <p:cNvSpPr/>
          <p:nvPr/>
        </p:nvSpPr>
        <p:spPr>
          <a:xfrm>
            <a:off x="10394038" y="2080260"/>
            <a:ext cx="7719429" cy="251460"/>
          </a:xfrm>
          <a:prstGeom prst="rect">
            <a:avLst/>
          </a:prstGeom>
          <a:noFill/>
          <a:ln/>
        </p:spPr>
        <p:txBody>
          <a:bodyPr wrap="square" lIns="25400" tIns="25400" rIns="25400" bIns="25400" rtlCol="0" anchor="t">
            <a:normAutofit/>
          </a:bodyPr>
          <a:lstStyle/>
          <a:p>
            <a:pPr marL="0" indent="0" algn="l">
              <a:buNone/>
            </a:pPr>
            <a:r>
              <a:rPr lang="en-US" sz="1275" kern="0" spc="204" dirty="0">
                <a:solidFill>
                  <a:srgbClr val="8C887C"/>
                </a:solidFill>
                <a:latin typeface="Courier New" pitchFamily="34" charset="0"/>
                <a:ea typeface="Courier New" pitchFamily="34" charset="-122"/>
                <a:cs typeface="Courier New" pitchFamily="34" charset="-120"/>
              </a:rPr>
              <a:t>HARD CONSTRAINTS</a:t>
            </a:r>
            <a:endParaRPr lang="en-US" sz="1275" dirty="0"/>
          </a:p>
        </p:txBody>
      </p:sp>
      <p:sp>
        <p:nvSpPr>
          <p:cNvPr id="12" name="Shape 10"/>
          <p:cNvSpPr/>
          <p:nvPr/>
        </p:nvSpPr>
        <p:spPr>
          <a:xfrm>
            <a:off x="10394038" y="2426970"/>
            <a:ext cx="7017663" cy="19050"/>
          </a:xfrm>
          <a:prstGeom prst="rect">
            <a:avLst/>
          </a:prstGeom>
          <a:solidFill>
            <a:srgbClr val="1B1B19"/>
          </a:solidFill>
          <a:ln/>
        </p:spPr>
      </p:sp>
      <p:sp>
        <p:nvSpPr>
          <p:cNvPr id="13" name="Shape 11"/>
          <p:cNvSpPr/>
          <p:nvPr/>
        </p:nvSpPr>
        <p:spPr>
          <a:xfrm>
            <a:off x="10394038" y="4074438"/>
            <a:ext cx="7017663" cy="9525"/>
          </a:xfrm>
          <a:prstGeom prst="rect">
            <a:avLst/>
          </a:prstGeom>
          <a:solidFill>
            <a:srgbClr val="E0DBCF"/>
          </a:solidFill>
          <a:ln/>
        </p:spPr>
      </p:sp>
      <p:sp>
        <p:nvSpPr>
          <p:cNvPr id="14" name="Text 12"/>
          <p:cNvSpPr/>
          <p:nvPr/>
        </p:nvSpPr>
        <p:spPr>
          <a:xfrm>
            <a:off x="10432138" y="3354348"/>
            <a:ext cx="2460902"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1F5061"/>
                </a:solidFill>
                <a:latin typeface="Georgia" pitchFamily="34" charset="0"/>
                <a:ea typeface="Georgia" pitchFamily="34" charset="-122"/>
                <a:cs typeface="Georgia" pitchFamily="34" charset="-120"/>
              </a:rPr>
              <a:t>≤ $200</a:t>
            </a:r>
            <a:endParaRPr lang="en-US" sz="4050" dirty="0"/>
          </a:p>
        </p:txBody>
      </p:sp>
      <p:sp>
        <p:nvSpPr>
          <p:cNvPr id="15" name="Text 13"/>
          <p:cNvSpPr/>
          <p:nvPr/>
        </p:nvSpPr>
        <p:spPr>
          <a:xfrm>
            <a:off x="12430409" y="3447693"/>
            <a:ext cx="530816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54514A"/>
                </a:solidFill>
                <a:latin typeface="Arial" pitchFamily="34" charset="0"/>
                <a:ea typeface="Arial" pitchFamily="34" charset="-122"/>
                <a:cs typeface="Arial" pitchFamily="34" charset="-120"/>
              </a:rPr>
              <a:t>total monthly spend for the whole AI solution</a:t>
            </a:r>
            <a:endParaRPr lang="en-US" sz="2025" dirty="0"/>
          </a:p>
        </p:txBody>
      </p:sp>
      <p:sp>
        <p:nvSpPr>
          <p:cNvPr id="16" name="Shape 14"/>
          <p:cNvSpPr/>
          <p:nvPr/>
        </p:nvSpPr>
        <p:spPr>
          <a:xfrm>
            <a:off x="10394038" y="6567487"/>
            <a:ext cx="7017663" cy="9525"/>
          </a:xfrm>
          <a:prstGeom prst="rect">
            <a:avLst/>
          </a:prstGeom>
          <a:solidFill>
            <a:srgbClr val="E0DBCF"/>
          </a:solidFill>
          <a:ln/>
        </p:spPr>
      </p:sp>
      <p:sp>
        <p:nvSpPr>
          <p:cNvPr id="17" name="Text 15"/>
          <p:cNvSpPr/>
          <p:nvPr/>
        </p:nvSpPr>
        <p:spPr>
          <a:xfrm>
            <a:off x="10432138" y="5806440"/>
            <a:ext cx="1953934"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B07D33"/>
                </a:solidFill>
                <a:latin typeface="Georgia" pitchFamily="34" charset="0"/>
                <a:ea typeface="Georgia" pitchFamily="34" charset="-122"/>
                <a:cs typeface="Georgia" pitchFamily="34" charset="-120"/>
              </a:rPr>
              <a:t>Advise</a:t>
            </a:r>
            <a:endParaRPr lang="en-US" sz="4050" dirty="0"/>
          </a:p>
        </p:txBody>
      </p:sp>
      <p:sp>
        <p:nvSpPr>
          <p:cNvPr id="18" name="Text 16"/>
          <p:cNvSpPr/>
          <p:nvPr/>
        </p:nvSpPr>
        <p:spPr>
          <a:xfrm>
            <a:off x="12386072" y="5765482"/>
            <a:ext cx="5352500" cy="70675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54514A"/>
                </a:solidFill>
                <a:latin typeface="Arial" pitchFamily="34" charset="0"/>
                <a:ea typeface="Arial" pitchFamily="34" charset="-122"/>
                <a:cs typeface="Arial" pitchFamily="34" charset="-120"/>
              </a:rPr>
              <a:t>no auto-remediation — humans keep the decision</a:t>
            </a:r>
            <a:endParaRPr lang="en-US" sz="2025" dirty="0"/>
          </a:p>
        </p:txBody>
      </p:sp>
      <p:sp>
        <p:nvSpPr>
          <p:cNvPr id="19" name="Text 17"/>
          <p:cNvSpPr/>
          <p:nvPr/>
        </p:nvSpPr>
        <p:spPr>
          <a:xfrm>
            <a:off x="10432138" y="8258413"/>
            <a:ext cx="1571625" cy="624840"/>
          </a:xfrm>
          <a:prstGeom prst="rect">
            <a:avLst/>
          </a:prstGeom>
          <a:noFill/>
          <a:ln/>
        </p:spPr>
        <p:txBody>
          <a:bodyPr wrap="square" lIns="25400" tIns="25400" rIns="25400" bIns="25400" rtlCol="0" anchor="t">
            <a:normAutofit lnSpcReduction="10000"/>
          </a:bodyPr>
          <a:lstStyle/>
          <a:p>
            <a:pPr marL="0" indent="0" algn="l">
              <a:buNone/>
            </a:pPr>
            <a:r>
              <a:rPr lang="en-US" sz="4050" b="1" dirty="0">
                <a:solidFill>
                  <a:srgbClr val="1B1B19"/>
                </a:solidFill>
                <a:latin typeface="Georgia" pitchFamily="34" charset="0"/>
                <a:ea typeface="Georgia" pitchFamily="34" charset="-122"/>
                <a:cs typeface="Georgia" pitchFamily="34" charset="-120"/>
              </a:rPr>
              <a:t>3 svc</a:t>
            </a:r>
            <a:endParaRPr lang="en-US" sz="4050" dirty="0"/>
          </a:p>
        </p:txBody>
      </p:sp>
      <p:sp>
        <p:nvSpPr>
          <p:cNvPr id="20" name="Text 18"/>
          <p:cNvSpPr/>
          <p:nvPr/>
        </p:nvSpPr>
        <p:spPr>
          <a:xfrm>
            <a:off x="12127588" y="8384620"/>
            <a:ext cx="5610984" cy="343853"/>
          </a:xfrm>
          <a:prstGeom prst="rect">
            <a:avLst/>
          </a:prstGeom>
          <a:noFill/>
          <a:ln/>
        </p:spPr>
        <p:txBody>
          <a:bodyPr wrap="square" lIns="25400" tIns="25400" rIns="25400" bIns="25400" rtlCol="0" anchor="t">
            <a:normAutofit fontScale="85000" lnSpcReduction="10000"/>
          </a:bodyPr>
          <a:lstStyle/>
          <a:p>
            <a:pPr marL="0" indent="0" algn="l">
              <a:lnSpc>
                <a:spcPct val="130000"/>
              </a:lnSpc>
              <a:buNone/>
            </a:pPr>
            <a:r>
              <a:rPr lang="en-US" sz="2025" dirty="0">
                <a:solidFill>
                  <a:srgbClr val="54514A"/>
                </a:solidFill>
                <a:latin typeface="Arial" pitchFamily="34" charset="0"/>
                <a:ea typeface="Arial" pitchFamily="34" charset="-122"/>
                <a:cs typeface="Arial" pitchFamily="34" charset="-120"/>
              </a:rPr>
              <a:t>Payment Gateway · Fraud Detection · Ledger</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03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516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03</a:t>
            </a:r>
            <a:endParaRPr lang="en-US" sz="1725" dirty="0"/>
          </a:p>
        </p:txBody>
      </p:sp>
      <p:sp>
        <p:nvSpPr>
          <p:cNvPr id="6" name="Text 4"/>
          <p:cNvSpPr/>
          <p:nvPr/>
        </p:nvSpPr>
        <p:spPr>
          <a:xfrm>
            <a:off x="1329690" y="1184910"/>
            <a:ext cx="9443895" cy="6477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Reactive monitoring alerts </a:t>
            </a:r>
            <a:r>
              <a:rPr lang="en-US" sz="4500" i="1" kern="0" spc="-45" dirty="0">
                <a:solidFill>
                  <a:srgbClr val="A8432E"/>
                </a:solidFill>
                <a:latin typeface="Georgia" pitchFamily="34" charset="0"/>
                <a:ea typeface="Georgia" pitchFamily="34" charset="-122"/>
                <a:cs typeface="Georgia" pitchFamily="34" charset="-120"/>
              </a:rPr>
              <a:t>too late</a:t>
            </a:r>
            <a:endParaRPr lang="en-US" sz="4500" dirty="0"/>
          </a:p>
        </p:txBody>
      </p:sp>
      <p:sp>
        <p:nvSpPr>
          <p:cNvPr id="7" name="Text 5"/>
          <p:cNvSpPr/>
          <p:nvPr/>
        </p:nvSpPr>
        <p:spPr>
          <a:xfrm>
            <a:off x="876300" y="2118360"/>
            <a:ext cx="8106704" cy="251460"/>
          </a:xfrm>
          <a:prstGeom prst="rect">
            <a:avLst/>
          </a:prstGeom>
          <a:noFill/>
          <a:ln/>
        </p:spPr>
        <p:txBody>
          <a:bodyPr wrap="square" lIns="25400" tIns="25400" rIns="25400" bIns="25400" rtlCol="0" anchor="t">
            <a:normAutofit/>
          </a:bodyPr>
          <a:lstStyle/>
          <a:p>
            <a:pPr marL="0" indent="0" algn="l">
              <a:buNone/>
            </a:pPr>
            <a:r>
              <a:rPr lang="en-US" sz="1275" kern="0" spc="153" dirty="0">
                <a:solidFill>
                  <a:srgbClr val="8C887C"/>
                </a:solidFill>
                <a:latin typeface="Courier New" pitchFamily="34" charset="0"/>
                <a:ea typeface="Courier New" pitchFamily="34" charset="-122"/>
                <a:cs typeface="Courier New" pitchFamily="34" charset="-120"/>
              </a:rPr>
              <a:t>CPU % · TODAY'S THRESHOLD ALERT</a:t>
            </a:r>
            <a:endParaRPr lang="en-US" sz="1275" dirty="0"/>
          </a:p>
        </p:txBody>
      </p:sp>
      <p:pic>
        <p:nvPicPr>
          <p:cNvPr id="8"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6300" y="3443526"/>
            <a:ext cx="7369731" cy="4535210"/>
          </a:xfrm>
          <a:prstGeom prst="rect">
            <a:avLst/>
          </a:prstGeom>
        </p:spPr>
      </p:pic>
      <p:sp>
        <p:nvSpPr>
          <p:cNvPr id="9" name="Text 6"/>
          <p:cNvSpPr/>
          <p:nvPr/>
        </p:nvSpPr>
        <p:spPr>
          <a:xfrm>
            <a:off x="876300" y="9166860"/>
            <a:ext cx="7590823" cy="6248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i="1" dirty="0">
                <a:solidFill>
                  <a:srgbClr val="7A766C"/>
                </a:solidFill>
                <a:latin typeface="Georgia" pitchFamily="34" charset="0"/>
                <a:ea typeface="Georgia" pitchFamily="34" charset="-122"/>
                <a:cs typeface="Georgia" pitchFamily="34" charset="-120"/>
              </a:rPr>
              <a:t>Fig. 2 — The signal is visible for 90+ minutes, yet the threshold only triggers at the cliff edge.</a:t>
            </a:r>
            <a:endParaRPr lang="en-US" sz="1650" dirty="0"/>
          </a:p>
        </p:txBody>
      </p:sp>
      <p:sp>
        <p:nvSpPr>
          <p:cNvPr id="10" name="Shape 7"/>
          <p:cNvSpPr/>
          <p:nvPr/>
        </p:nvSpPr>
        <p:spPr>
          <a:xfrm>
            <a:off x="8760381" y="2118360"/>
            <a:ext cx="8651320" cy="15240"/>
          </a:xfrm>
          <a:prstGeom prst="rect">
            <a:avLst/>
          </a:prstGeom>
          <a:solidFill>
            <a:srgbClr val="1B1B19"/>
          </a:solidFill>
          <a:ln/>
        </p:spPr>
      </p:sp>
      <p:sp>
        <p:nvSpPr>
          <p:cNvPr id="11" name="Shape 8"/>
          <p:cNvSpPr/>
          <p:nvPr/>
        </p:nvSpPr>
        <p:spPr>
          <a:xfrm>
            <a:off x="8760381" y="4032885"/>
            <a:ext cx="8651320" cy="9525"/>
          </a:xfrm>
          <a:prstGeom prst="rect">
            <a:avLst/>
          </a:prstGeom>
          <a:solidFill>
            <a:srgbClr val="E0DBCF"/>
          </a:solidFill>
          <a:ln/>
        </p:spPr>
      </p:sp>
      <p:sp>
        <p:nvSpPr>
          <p:cNvPr id="12" name="Text 9"/>
          <p:cNvSpPr/>
          <p:nvPr/>
        </p:nvSpPr>
        <p:spPr>
          <a:xfrm>
            <a:off x="8798481" y="2946083"/>
            <a:ext cx="45720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A8432E"/>
                </a:solidFill>
                <a:latin typeface="Courier New" pitchFamily="34" charset="0"/>
                <a:ea typeface="Courier New" pitchFamily="34" charset="-122"/>
                <a:cs typeface="Courier New" pitchFamily="34" charset="-120"/>
              </a:rPr>
              <a:t>01</a:t>
            </a:r>
            <a:endParaRPr lang="en-US" sz="1650" dirty="0"/>
          </a:p>
        </p:txBody>
      </p:sp>
      <p:sp>
        <p:nvSpPr>
          <p:cNvPr id="13" name="Text 10"/>
          <p:cNvSpPr/>
          <p:nvPr/>
        </p:nvSpPr>
        <p:spPr>
          <a:xfrm>
            <a:off x="9389031" y="2751534"/>
            <a:ext cx="7241786"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Slow exhaustion, sudden collapse</a:t>
            </a:r>
            <a:endParaRPr lang="en-US" sz="2250" dirty="0"/>
          </a:p>
        </p:txBody>
      </p:sp>
      <p:sp>
        <p:nvSpPr>
          <p:cNvPr id="14" name="Text 11"/>
          <p:cNvSpPr/>
          <p:nvPr/>
        </p:nvSpPr>
        <p:spPr>
          <a:xfrm>
            <a:off x="9389031" y="3119199"/>
            <a:ext cx="7241786"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Memory leak → OOM, CPU starvation, connection-pool &amp; queue backlog.</a:t>
            </a:r>
            <a:endParaRPr lang="en-US" sz="1725" dirty="0"/>
          </a:p>
        </p:txBody>
      </p:sp>
      <p:sp>
        <p:nvSpPr>
          <p:cNvPr id="15" name="Shape 12"/>
          <p:cNvSpPr/>
          <p:nvPr/>
        </p:nvSpPr>
        <p:spPr>
          <a:xfrm>
            <a:off x="8760381" y="5939790"/>
            <a:ext cx="8651320" cy="9525"/>
          </a:xfrm>
          <a:prstGeom prst="rect">
            <a:avLst/>
          </a:prstGeom>
          <a:solidFill>
            <a:srgbClr val="E0DBCF"/>
          </a:solidFill>
          <a:ln/>
        </p:spPr>
      </p:sp>
      <p:sp>
        <p:nvSpPr>
          <p:cNvPr id="16" name="Text 13"/>
          <p:cNvSpPr/>
          <p:nvPr/>
        </p:nvSpPr>
        <p:spPr>
          <a:xfrm>
            <a:off x="8798481" y="4852988"/>
            <a:ext cx="45720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A8432E"/>
                </a:solidFill>
                <a:latin typeface="Courier New" pitchFamily="34" charset="0"/>
                <a:ea typeface="Courier New" pitchFamily="34" charset="-122"/>
                <a:cs typeface="Courier New" pitchFamily="34" charset="-120"/>
              </a:rPr>
              <a:t>02</a:t>
            </a:r>
            <a:endParaRPr lang="en-US" sz="1650" dirty="0"/>
          </a:p>
        </p:txBody>
      </p:sp>
      <p:sp>
        <p:nvSpPr>
          <p:cNvPr id="17" name="Text 14"/>
          <p:cNvSpPr/>
          <p:nvPr/>
        </p:nvSpPr>
        <p:spPr>
          <a:xfrm>
            <a:off x="9389031" y="4658439"/>
            <a:ext cx="5934980"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Reactive, not predictive</a:t>
            </a:r>
            <a:endParaRPr lang="en-US" sz="2250" dirty="0"/>
          </a:p>
        </p:txBody>
      </p:sp>
      <p:sp>
        <p:nvSpPr>
          <p:cNvPr id="18" name="Text 15"/>
          <p:cNvSpPr/>
          <p:nvPr/>
        </p:nvSpPr>
        <p:spPr>
          <a:xfrm>
            <a:off x="9389031" y="5026104"/>
            <a:ext cx="5934980"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Thresholds fire at 99% — no lead time to scale up or restart.</a:t>
            </a:r>
            <a:endParaRPr lang="en-US" sz="1725" dirty="0"/>
          </a:p>
        </p:txBody>
      </p:sp>
      <p:sp>
        <p:nvSpPr>
          <p:cNvPr id="19" name="Shape 16"/>
          <p:cNvSpPr/>
          <p:nvPr/>
        </p:nvSpPr>
        <p:spPr>
          <a:xfrm>
            <a:off x="8760381" y="7846695"/>
            <a:ext cx="8651320" cy="9525"/>
          </a:xfrm>
          <a:prstGeom prst="rect">
            <a:avLst/>
          </a:prstGeom>
          <a:solidFill>
            <a:srgbClr val="E0DBCF"/>
          </a:solidFill>
          <a:ln/>
        </p:spPr>
      </p:sp>
      <p:sp>
        <p:nvSpPr>
          <p:cNvPr id="20" name="Text 17"/>
          <p:cNvSpPr/>
          <p:nvPr/>
        </p:nvSpPr>
        <p:spPr>
          <a:xfrm>
            <a:off x="8798481" y="6759893"/>
            <a:ext cx="45720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A8432E"/>
                </a:solidFill>
                <a:latin typeface="Courier New" pitchFamily="34" charset="0"/>
                <a:ea typeface="Courier New" pitchFamily="34" charset="-122"/>
                <a:cs typeface="Courier New" pitchFamily="34" charset="-120"/>
              </a:rPr>
              <a:t>03</a:t>
            </a:r>
            <a:endParaRPr lang="en-US" sz="1650" dirty="0"/>
          </a:p>
        </p:txBody>
      </p:sp>
      <p:sp>
        <p:nvSpPr>
          <p:cNvPr id="21" name="Text 18"/>
          <p:cNvSpPr/>
          <p:nvPr/>
        </p:nvSpPr>
        <p:spPr>
          <a:xfrm>
            <a:off x="9389031" y="6565345"/>
            <a:ext cx="5700284"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AIOps tools are heavy &amp; costly</a:t>
            </a:r>
            <a:endParaRPr lang="en-US" sz="2250" dirty="0"/>
          </a:p>
        </p:txBody>
      </p:sp>
      <p:sp>
        <p:nvSpPr>
          <p:cNvPr id="22" name="Text 19"/>
          <p:cNvSpPr/>
          <p:nvPr/>
        </p:nvSpPr>
        <p:spPr>
          <a:xfrm>
            <a:off x="9389031" y="6933009"/>
            <a:ext cx="5700284"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Market platforms blow past the $200 budget at this scale.</a:t>
            </a:r>
            <a:endParaRPr lang="en-US" sz="1725" dirty="0"/>
          </a:p>
        </p:txBody>
      </p:sp>
      <p:sp>
        <p:nvSpPr>
          <p:cNvPr id="23" name="Text 20"/>
          <p:cNvSpPr/>
          <p:nvPr/>
        </p:nvSpPr>
        <p:spPr>
          <a:xfrm>
            <a:off x="8798481" y="8666798"/>
            <a:ext cx="457200" cy="312420"/>
          </a:xfrm>
          <a:prstGeom prst="rect">
            <a:avLst/>
          </a:prstGeom>
          <a:noFill/>
          <a:ln/>
        </p:spPr>
        <p:txBody>
          <a:bodyPr wrap="square" lIns="25400" tIns="25400" rIns="25400" bIns="25400" rtlCol="0" anchor="t">
            <a:normAutofit/>
          </a:bodyPr>
          <a:lstStyle/>
          <a:p>
            <a:pPr marL="0" indent="0" algn="l">
              <a:buNone/>
            </a:pPr>
            <a:r>
              <a:rPr lang="en-US" sz="1650" dirty="0">
                <a:solidFill>
                  <a:srgbClr val="A8432E"/>
                </a:solidFill>
                <a:latin typeface="Courier New" pitchFamily="34" charset="0"/>
                <a:ea typeface="Courier New" pitchFamily="34" charset="-122"/>
                <a:cs typeface="Courier New" pitchFamily="34" charset="-120"/>
              </a:rPr>
              <a:t>04</a:t>
            </a:r>
            <a:endParaRPr lang="en-US" sz="1650" dirty="0"/>
          </a:p>
        </p:txBody>
      </p:sp>
      <p:sp>
        <p:nvSpPr>
          <p:cNvPr id="24" name="Text 21"/>
          <p:cNvSpPr/>
          <p:nvPr/>
        </p:nvSpPr>
        <p:spPr>
          <a:xfrm>
            <a:off x="9389031" y="8472250"/>
            <a:ext cx="5494401" cy="35814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Auto-remediation is distrusted</a:t>
            </a:r>
            <a:endParaRPr lang="en-US" sz="2250" dirty="0"/>
          </a:p>
        </p:txBody>
      </p:sp>
      <p:sp>
        <p:nvSpPr>
          <p:cNvPr id="25" name="Text 22"/>
          <p:cNvSpPr/>
          <p:nvPr/>
        </p:nvSpPr>
        <p:spPr>
          <a:xfrm>
            <a:off x="9389031" y="8839914"/>
            <a:ext cx="5494401"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Fear of an AI shutting down healthy servers by mistake.</a:t>
            </a:r>
            <a:endParaRPr lang="en-US" sz="17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04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516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04</a:t>
            </a:r>
            <a:endParaRPr lang="en-US" sz="1725" dirty="0"/>
          </a:p>
        </p:txBody>
      </p:sp>
      <p:sp>
        <p:nvSpPr>
          <p:cNvPr id="6" name="Text 4"/>
          <p:cNvSpPr/>
          <p:nvPr/>
        </p:nvSpPr>
        <p:spPr>
          <a:xfrm>
            <a:off x="1329690" y="1184910"/>
            <a:ext cx="12449759" cy="6477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Predict early, advise clearly — </a:t>
            </a:r>
            <a:r>
              <a:rPr lang="en-US" sz="4500" i="1" kern="0" spc="-45" dirty="0">
                <a:solidFill>
                  <a:srgbClr val="1F5061"/>
                </a:solidFill>
                <a:latin typeface="Georgia" pitchFamily="34" charset="0"/>
                <a:ea typeface="Georgia" pitchFamily="34" charset="-122"/>
                <a:cs typeface="Georgia" pitchFamily="34" charset="-120"/>
              </a:rPr>
              <a:t>never act alone</a:t>
            </a:r>
            <a:endParaRPr lang="en-US" sz="4500" dirty="0"/>
          </a:p>
        </p:txBody>
      </p:sp>
      <p:sp>
        <p:nvSpPr>
          <p:cNvPr id="7" name="Shape 5"/>
          <p:cNvSpPr/>
          <p:nvPr/>
        </p:nvSpPr>
        <p:spPr>
          <a:xfrm>
            <a:off x="876300" y="9220200"/>
            <a:ext cx="16535400" cy="15240"/>
          </a:xfrm>
          <a:prstGeom prst="rect">
            <a:avLst/>
          </a:prstGeom>
          <a:solidFill>
            <a:srgbClr val="1B1B19"/>
          </a:solidFill>
          <a:ln/>
        </p:spPr>
      </p:sp>
      <p:sp>
        <p:nvSpPr>
          <p:cNvPr id="8" name="Shape 6"/>
          <p:cNvSpPr/>
          <p:nvPr/>
        </p:nvSpPr>
        <p:spPr>
          <a:xfrm>
            <a:off x="876300" y="2118360"/>
            <a:ext cx="16535400" cy="15240"/>
          </a:xfrm>
          <a:prstGeom prst="rect">
            <a:avLst/>
          </a:prstGeom>
          <a:solidFill>
            <a:srgbClr val="1B1B19"/>
          </a:solidFill>
          <a:ln/>
        </p:spPr>
      </p:sp>
      <p:sp>
        <p:nvSpPr>
          <p:cNvPr id="9" name="Shape 7"/>
          <p:cNvSpPr/>
          <p:nvPr/>
        </p:nvSpPr>
        <p:spPr>
          <a:xfrm>
            <a:off x="5004435" y="2133600"/>
            <a:ext cx="9525" cy="7086600"/>
          </a:xfrm>
          <a:prstGeom prst="rect">
            <a:avLst/>
          </a:prstGeom>
          <a:solidFill>
            <a:srgbClr val="E0DBCF"/>
          </a:solidFill>
          <a:ln/>
        </p:spPr>
      </p:sp>
      <p:sp>
        <p:nvSpPr>
          <p:cNvPr id="10" name="Text 8"/>
          <p:cNvSpPr/>
          <p:nvPr/>
        </p:nvSpPr>
        <p:spPr>
          <a:xfrm>
            <a:off x="1162050" y="2457450"/>
            <a:ext cx="391229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1F5061"/>
                </a:solidFill>
                <a:latin typeface="Courier New" pitchFamily="34" charset="0"/>
                <a:ea typeface="Courier New" pitchFamily="34" charset="-122"/>
                <a:cs typeface="Courier New" pitchFamily="34" charset="-120"/>
              </a:rPr>
              <a:t>OUTCOME 01</a:t>
            </a:r>
            <a:endParaRPr lang="en-US" sz="1200" dirty="0"/>
          </a:p>
        </p:txBody>
      </p:sp>
      <p:sp>
        <p:nvSpPr>
          <p:cNvPr id="11" name="Text 9"/>
          <p:cNvSpPr/>
          <p:nvPr/>
        </p:nvSpPr>
        <p:spPr>
          <a:xfrm>
            <a:off x="1162050" y="2834640"/>
            <a:ext cx="3912298"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Early prediction</a:t>
            </a:r>
            <a:endParaRPr lang="en-US" sz="2325" dirty="0"/>
          </a:p>
        </p:txBody>
      </p:sp>
      <p:sp>
        <p:nvSpPr>
          <p:cNvPr id="12" name="Text 10"/>
          <p:cNvSpPr/>
          <p:nvPr/>
        </p:nvSpPr>
        <p:spPr>
          <a:xfrm>
            <a:off x="1162050" y="3279577"/>
            <a:ext cx="3663334" cy="4950023"/>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Flag capacity exhaustion ≥ 15 min before an SLO breach.</a:t>
            </a:r>
            <a:endParaRPr lang="en-US" sz="1650" dirty="0"/>
          </a:p>
        </p:txBody>
      </p:sp>
      <p:sp>
        <p:nvSpPr>
          <p:cNvPr id="13" name="Text 11"/>
          <p:cNvSpPr/>
          <p:nvPr/>
        </p:nvSpPr>
        <p:spPr>
          <a:xfrm>
            <a:off x="1162050" y="8362950"/>
            <a:ext cx="391229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dirty="0">
                <a:solidFill>
                  <a:srgbClr val="1F5061"/>
                </a:solidFill>
                <a:latin typeface="Georgia" pitchFamily="34" charset="0"/>
                <a:ea typeface="Georgia" pitchFamily="34" charset="-122"/>
                <a:cs typeface="Georgia" pitchFamily="34" charset="-120"/>
              </a:rPr>
              <a:t>110</a:t>
            </a:r>
            <a:r>
              <a:rPr lang="en-US" sz="1650" b="1" dirty="0">
                <a:solidFill>
                  <a:srgbClr val="8C887C"/>
                </a:solidFill>
                <a:latin typeface="Courier New" pitchFamily="34" charset="0"/>
                <a:ea typeface="Courier New" pitchFamily="34" charset="-122"/>
                <a:cs typeface="Courier New" pitchFamily="34" charset="-120"/>
              </a:rPr>
              <a:t>min</a:t>
            </a:r>
            <a:endParaRPr lang="en-US" sz="4500" dirty="0"/>
          </a:p>
        </p:txBody>
      </p:sp>
      <p:sp>
        <p:nvSpPr>
          <p:cNvPr id="14" name="Shape 12"/>
          <p:cNvSpPr/>
          <p:nvPr/>
        </p:nvSpPr>
        <p:spPr>
          <a:xfrm>
            <a:off x="9140190" y="2133600"/>
            <a:ext cx="9525" cy="7086600"/>
          </a:xfrm>
          <a:prstGeom prst="rect">
            <a:avLst/>
          </a:prstGeom>
          <a:solidFill>
            <a:srgbClr val="E0DBCF"/>
          </a:solidFill>
          <a:ln/>
        </p:spPr>
      </p:sp>
      <p:sp>
        <p:nvSpPr>
          <p:cNvPr id="15" name="Text 13"/>
          <p:cNvSpPr/>
          <p:nvPr/>
        </p:nvSpPr>
        <p:spPr>
          <a:xfrm>
            <a:off x="5297805" y="2457450"/>
            <a:ext cx="391229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1F5061"/>
                </a:solidFill>
                <a:latin typeface="Courier New" pitchFamily="34" charset="0"/>
                <a:ea typeface="Courier New" pitchFamily="34" charset="-122"/>
                <a:cs typeface="Courier New" pitchFamily="34" charset="-120"/>
              </a:rPr>
              <a:t>OUTCOME 02</a:t>
            </a:r>
            <a:endParaRPr lang="en-US" sz="1200" dirty="0"/>
          </a:p>
        </p:txBody>
      </p:sp>
      <p:sp>
        <p:nvSpPr>
          <p:cNvPr id="16" name="Text 14"/>
          <p:cNvSpPr/>
          <p:nvPr/>
        </p:nvSpPr>
        <p:spPr>
          <a:xfrm>
            <a:off x="5297805" y="2834640"/>
            <a:ext cx="3912298"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Tenant isolation</a:t>
            </a:r>
            <a:endParaRPr lang="en-US" sz="2325" dirty="0"/>
          </a:p>
        </p:txBody>
      </p:sp>
      <p:sp>
        <p:nvSpPr>
          <p:cNvPr id="17" name="Text 15"/>
          <p:cNvSpPr/>
          <p:nvPr/>
        </p:nvSpPr>
        <p:spPr>
          <a:xfrm>
            <a:off x="5297805" y="3279577"/>
            <a:ext cx="3663334" cy="4950023"/>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Per-service baselines, zero cross-tenant data bleed.</a:t>
            </a:r>
            <a:endParaRPr lang="en-US" sz="1650" dirty="0"/>
          </a:p>
        </p:txBody>
      </p:sp>
      <p:sp>
        <p:nvSpPr>
          <p:cNvPr id="18" name="Text 16"/>
          <p:cNvSpPr/>
          <p:nvPr/>
        </p:nvSpPr>
        <p:spPr>
          <a:xfrm>
            <a:off x="5297805" y="8362950"/>
            <a:ext cx="391229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dirty="0">
                <a:solidFill>
                  <a:srgbClr val="1B1B19"/>
                </a:solidFill>
                <a:latin typeface="Georgia" pitchFamily="34" charset="0"/>
                <a:ea typeface="Georgia" pitchFamily="34" charset="-122"/>
                <a:cs typeface="Georgia" pitchFamily="34" charset="-120"/>
              </a:rPr>
              <a:t>3</a:t>
            </a:r>
            <a:r>
              <a:rPr lang="en-US" sz="1650" b="1" dirty="0">
                <a:solidFill>
                  <a:srgbClr val="8C887C"/>
                </a:solidFill>
                <a:latin typeface="Courier New" pitchFamily="34" charset="0"/>
                <a:ea typeface="Courier New" pitchFamily="34" charset="-122"/>
                <a:cs typeface="Courier New" pitchFamily="34" charset="-120"/>
              </a:rPr>
              <a:t>tenants</a:t>
            </a:r>
            <a:endParaRPr lang="en-US" sz="4500" dirty="0"/>
          </a:p>
        </p:txBody>
      </p:sp>
      <p:sp>
        <p:nvSpPr>
          <p:cNvPr id="19" name="Shape 17"/>
          <p:cNvSpPr/>
          <p:nvPr/>
        </p:nvSpPr>
        <p:spPr>
          <a:xfrm>
            <a:off x="13275945" y="2133600"/>
            <a:ext cx="9525" cy="7086600"/>
          </a:xfrm>
          <a:prstGeom prst="rect">
            <a:avLst/>
          </a:prstGeom>
          <a:solidFill>
            <a:srgbClr val="E0DBCF"/>
          </a:solidFill>
          <a:ln/>
        </p:spPr>
      </p:sp>
      <p:sp>
        <p:nvSpPr>
          <p:cNvPr id="20" name="Text 18"/>
          <p:cNvSpPr/>
          <p:nvPr/>
        </p:nvSpPr>
        <p:spPr>
          <a:xfrm>
            <a:off x="9433560" y="2457450"/>
            <a:ext cx="391229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1F5061"/>
                </a:solidFill>
                <a:latin typeface="Courier New" pitchFamily="34" charset="0"/>
                <a:ea typeface="Courier New" pitchFamily="34" charset="-122"/>
                <a:cs typeface="Courier New" pitchFamily="34" charset="-120"/>
              </a:rPr>
              <a:t>OUTCOME 03</a:t>
            </a:r>
            <a:endParaRPr lang="en-US" sz="1200" dirty="0"/>
          </a:p>
        </p:txBody>
      </p:sp>
      <p:sp>
        <p:nvSpPr>
          <p:cNvPr id="21" name="Text 19"/>
          <p:cNvSpPr/>
          <p:nvPr/>
        </p:nvSpPr>
        <p:spPr>
          <a:xfrm>
            <a:off x="9433560" y="2834640"/>
            <a:ext cx="3912298"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FinOps first</a:t>
            </a:r>
            <a:endParaRPr lang="en-US" sz="2325" dirty="0"/>
          </a:p>
        </p:txBody>
      </p:sp>
      <p:sp>
        <p:nvSpPr>
          <p:cNvPr id="22" name="Text 20"/>
          <p:cNvSpPr/>
          <p:nvPr/>
        </p:nvSpPr>
        <p:spPr>
          <a:xfrm>
            <a:off x="9433560" y="3279577"/>
            <a:ext cx="3663334" cy="4950023"/>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In-house statistical model — no LLM tokens.</a:t>
            </a:r>
            <a:endParaRPr lang="en-US" sz="1650" dirty="0"/>
          </a:p>
        </p:txBody>
      </p:sp>
      <p:sp>
        <p:nvSpPr>
          <p:cNvPr id="23" name="Text 21"/>
          <p:cNvSpPr/>
          <p:nvPr/>
        </p:nvSpPr>
        <p:spPr>
          <a:xfrm>
            <a:off x="9433560" y="8362950"/>
            <a:ext cx="391229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dirty="0">
                <a:solidFill>
                  <a:srgbClr val="B07D33"/>
                </a:solidFill>
                <a:latin typeface="Georgia" pitchFamily="34" charset="0"/>
                <a:ea typeface="Georgia" pitchFamily="34" charset="-122"/>
                <a:cs typeface="Georgia" pitchFamily="34" charset="-120"/>
              </a:rPr>
              <a:t>$0</a:t>
            </a:r>
            <a:r>
              <a:rPr lang="en-US" sz="1650" b="1" dirty="0">
                <a:solidFill>
                  <a:srgbClr val="8C887C"/>
                </a:solidFill>
                <a:latin typeface="Courier New" pitchFamily="34" charset="0"/>
                <a:ea typeface="Courier New" pitchFamily="34" charset="-122"/>
                <a:cs typeface="Courier New" pitchFamily="34" charset="-120"/>
              </a:rPr>
              <a:t>tokens</a:t>
            </a:r>
            <a:endParaRPr lang="en-US" sz="4500" dirty="0"/>
          </a:p>
        </p:txBody>
      </p:sp>
      <p:sp>
        <p:nvSpPr>
          <p:cNvPr id="24" name="Text 22"/>
          <p:cNvSpPr/>
          <p:nvPr/>
        </p:nvSpPr>
        <p:spPr>
          <a:xfrm>
            <a:off x="13569315" y="2457450"/>
            <a:ext cx="391229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1F5061"/>
                </a:solidFill>
                <a:latin typeface="Courier New" pitchFamily="34" charset="0"/>
                <a:ea typeface="Courier New" pitchFamily="34" charset="-122"/>
                <a:cs typeface="Courier New" pitchFamily="34" charset="-120"/>
              </a:rPr>
              <a:t>OUTCOME 04</a:t>
            </a:r>
            <a:endParaRPr lang="en-US" sz="1200" dirty="0"/>
          </a:p>
        </p:txBody>
      </p:sp>
      <p:sp>
        <p:nvSpPr>
          <p:cNvPr id="25" name="Text 23"/>
          <p:cNvSpPr/>
          <p:nvPr/>
        </p:nvSpPr>
        <p:spPr>
          <a:xfrm>
            <a:off x="13569315" y="2834640"/>
            <a:ext cx="3912298"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Actionable advice</a:t>
            </a:r>
            <a:endParaRPr lang="en-US" sz="2325" dirty="0"/>
          </a:p>
        </p:txBody>
      </p:sp>
      <p:sp>
        <p:nvSpPr>
          <p:cNvPr id="26" name="Text 24"/>
          <p:cNvSpPr/>
          <p:nvPr/>
        </p:nvSpPr>
        <p:spPr>
          <a:xfrm>
            <a:off x="13569315" y="3279577"/>
            <a:ext cx="3663334" cy="4950023"/>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Action, target, confidence &amp; evidence per alert.</a:t>
            </a:r>
            <a:endParaRPr lang="en-US" sz="1650" dirty="0"/>
          </a:p>
        </p:txBody>
      </p:sp>
      <p:sp>
        <p:nvSpPr>
          <p:cNvPr id="27" name="Text 25"/>
          <p:cNvSpPr/>
          <p:nvPr/>
        </p:nvSpPr>
        <p:spPr>
          <a:xfrm>
            <a:off x="13569315" y="8362950"/>
            <a:ext cx="391229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b="1" dirty="0">
                <a:solidFill>
                  <a:srgbClr val="1B1B19"/>
                </a:solidFill>
                <a:latin typeface="Georgia" pitchFamily="34" charset="0"/>
                <a:ea typeface="Georgia" pitchFamily="34" charset="-122"/>
                <a:cs typeface="Georgia" pitchFamily="34" charset="-120"/>
              </a:rPr>
              <a:t>5</a:t>
            </a:r>
            <a:r>
              <a:rPr lang="en-US" sz="1650" b="1" dirty="0">
                <a:solidFill>
                  <a:srgbClr val="8C887C"/>
                </a:solidFill>
                <a:latin typeface="Courier New" pitchFamily="34" charset="0"/>
                <a:ea typeface="Courier New" pitchFamily="34" charset="-122"/>
                <a:cs typeface="Courier New" pitchFamily="34" charset="-120"/>
              </a:rPr>
              <a:t>verbs</a:t>
            </a:r>
            <a:endParaRPr lang="en-US" sz="4500" dirty="0"/>
          </a:p>
        </p:txBody>
      </p:sp>
      <p:sp>
        <p:nvSpPr>
          <p:cNvPr id="28" name="Text 26"/>
          <p:cNvSpPr/>
          <p:nvPr/>
        </p:nvSpPr>
        <p:spPr>
          <a:xfrm>
            <a:off x="49530" y="9464040"/>
            <a:ext cx="18188940" cy="327660"/>
          </a:xfrm>
          <a:prstGeom prst="rect">
            <a:avLst/>
          </a:prstGeom>
          <a:noFill/>
          <a:ln/>
        </p:spPr>
        <p:txBody>
          <a:bodyPr wrap="square" lIns="25400" tIns="25400" rIns="25400" bIns="25400" rtlCol="0" anchor="t">
            <a:normAutofit fontScale="92500" lnSpcReduction="10000"/>
          </a:bodyPr>
          <a:lstStyle/>
          <a:p>
            <a:pPr marL="0" indent="0" algn="ctr">
              <a:buNone/>
            </a:pPr>
            <a:r>
              <a:rPr lang="en-US" sz="2025" i="1" dirty="0">
                <a:solidFill>
                  <a:srgbClr val="54514A"/>
                </a:solidFill>
                <a:latin typeface="Georgia" pitchFamily="34" charset="0"/>
                <a:ea typeface="Georgia" pitchFamily="34" charset="-122"/>
                <a:cs typeface="Georgia" pitchFamily="34" charset="-120"/>
              </a:rPr>
              <a:t>Predict </a:t>
            </a:r>
            <a:r>
              <a:rPr lang="en-US" sz="2025" i="1" dirty="0">
                <a:solidFill>
                  <a:srgbClr val="1F5061"/>
                </a:solidFill>
                <a:latin typeface="Georgia" pitchFamily="34" charset="0"/>
                <a:ea typeface="Georgia" pitchFamily="34" charset="-122"/>
                <a:cs typeface="Georgia" pitchFamily="34" charset="-120"/>
              </a:rPr>
              <a:t>+ </a:t>
            </a:r>
            <a:r>
              <a:rPr lang="en-US" sz="2025" i="1" dirty="0">
                <a:solidFill>
                  <a:srgbClr val="54514A"/>
                </a:solidFill>
                <a:latin typeface="Georgia" pitchFamily="34" charset="0"/>
                <a:ea typeface="Georgia" pitchFamily="34" charset="-122"/>
                <a:cs typeface="Georgia" pitchFamily="34" charset="-120"/>
              </a:rPr>
              <a:t>Recommend — an advisor, not an actor. The CDO platform owns every action.</a:t>
            </a:r>
            <a:endParaRPr lang="en-US" sz="20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05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05</a:t>
            </a:r>
            <a:endParaRPr lang="en-US" sz="1725" dirty="0"/>
          </a:p>
        </p:txBody>
      </p:sp>
      <p:sp>
        <p:nvSpPr>
          <p:cNvPr id="6" name="Text 4"/>
          <p:cNvSpPr/>
          <p:nvPr/>
        </p:nvSpPr>
        <p:spPr>
          <a:xfrm>
            <a:off x="1329690" y="1184910"/>
            <a:ext cx="8461236"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How it works — STL </a:t>
            </a:r>
            <a:r>
              <a:rPr lang="en-US" sz="4500" kern="0" spc="-45" dirty="0">
                <a:solidFill>
                  <a:srgbClr val="1F5061"/>
                </a:solidFill>
                <a:latin typeface="Georgia" pitchFamily="34" charset="0"/>
                <a:ea typeface="Georgia" pitchFamily="34" charset="-122"/>
                <a:cs typeface="Georgia" pitchFamily="34" charset="-120"/>
              </a:rPr>
              <a:t>+ </a:t>
            </a:r>
            <a:r>
              <a:rPr lang="en-US" sz="4500" kern="0" spc="-45" dirty="0">
                <a:solidFill>
                  <a:srgbClr val="1B1B19"/>
                </a:solidFill>
                <a:latin typeface="Georgia" pitchFamily="34" charset="0"/>
                <a:ea typeface="Georgia" pitchFamily="34" charset="-122"/>
                <a:cs typeface="Georgia" pitchFamily="34" charset="-120"/>
              </a:rPr>
              <a:t>EWMA</a:t>
            </a:r>
            <a:endParaRPr lang="en-US" sz="4500" dirty="0"/>
          </a:p>
        </p:txBody>
      </p:sp>
      <p:sp>
        <p:nvSpPr>
          <p:cNvPr id="7" name="Text 5"/>
          <p:cNvSpPr/>
          <p:nvPr/>
        </p:nvSpPr>
        <p:spPr>
          <a:xfrm>
            <a:off x="876300" y="2061210"/>
            <a:ext cx="2816352"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DE-SEASONALISED RESIDUAL</a:t>
            </a:r>
            <a:endParaRPr lang="en-US" sz="1200" dirty="0"/>
          </a:p>
        </p:txBody>
      </p:sp>
      <p:sp>
        <p:nvSpPr>
          <p:cNvPr id="8" name="Text 6"/>
          <p:cNvSpPr/>
          <p:nvPr/>
        </p:nvSpPr>
        <p:spPr>
          <a:xfrm>
            <a:off x="9004578" y="2061210"/>
            <a:ext cx="1399794"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B07D33"/>
                </a:solidFill>
                <a:latin typeface="Courier New" pitchFamily="34" charset="0"/>
                <a:ea typeface="Courier New" pitchFamily="34" charset="-122"/>
                <a:cs typeface="Courier New" pitchFamily="34" charset="-120"/>
              </a:rPr>
              <a:t>K = 4Σ LIMIT</a:t>
            </a:r>
            <a:endParaRPr lang="en-US" sz="1200" dirty="0"/>
          </a:p>
        </p:txBody>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6300" y="3909060"/>
            <a:ext cx="9400818" cy="3615690"/>
          </a:xfrm>
          <a:prstGeom prst="rect">
            <a:avLst/>
          </a:prstGeom>
        </p:spPr>
      </p:pic>
      <p:sp>
        <p:nvSpPr>
          <p:cNvPr id="10" name="Text 7"/>
          <p:cNvSpPr/>
          <p:nvPr/>
        </p:nvSpPr>
        <p:spPr>
          <a:xfrm>
            <a:off x="876300" y="9224010"/>
            <a:ext cx="53340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C0BBAD"/>
                </a:solidFill>
                <a:latin typeface="Courier New" pitchFamily="34" charset="0"/>
                <a:ea typeface="Courier New" pitchFamily="34" charset="-122"/>
                <a:cs typeface="Courier New" pitchFamily="34" charset="-120"/>
              </a:rPr>
              <a:t>— raw</a:t>
            </a:r>
            <a:endParaRPr lang="en-US" sz="1200" dirty="0"/>
          </a:p>
        </p:txBody>
      </p:sp>
      <p:sp>
        <p:nvSpPr>
          <p:cNvPr id="11" name="Text 8"/>
          <p:cNvSpPr/>
          <p:nvPr/>
        </p:nvSpPr>
        <p:spPr>
          <a:xfrm>
            <a:off x="3438406" y="9224010"/>
            <a:ext cx="1399794" cy="243840"/>
          </a:xfrm>
          <a:prstGeom prst="rect">
            <a:avLst/>
          </a:prstGeom>
          <a:noFill/>
          <a:ln/>
        </p:spPr>
        <p:txBody>
          <a:bodyPr wrap="square" lIns="25400" tIns="25400" rIns="25400" bIns="25400" rtlCol="0" anchor="t">
            <a:normAutofit/>
          </a:bodyPr>
          <a:lstStyle/>
          <a:p>
            <a:pPr marL="0" indent="0" algn="l">
              <a:buNone/>
            </a:pPr>
            <a:r>
              <a:rPr lang="en-US" sz="1200" dirty="0">
                <a:solidFill>
                  <a:srgbClr val="1F5061"/>
                </a:solidFill>
                <a:latin typeface="Courier New" pitchFamily="34" charset="0"/>
                <a:ea typeface="Courier New" pitchFamily="34" charset="-122"/>
                <a:cs typeface="Courier New" pitchFamily="34" charset="-120"/>
              </a:rPr>
              <a:t>— EWMA (α=0.3)</a:t>
            </a:r>
            <a:endParaRPr lang="en-US" sz="1200" dirty="0"/>
          </a:p>
        </p:txBody>
      </p:sp>
      <p:sp>
        <p:nvSpPr>
          <p:cNvPr id="12" name="Text 9"/>
          <p:cNvSpPr/>
          <p:nvPr/>
        </p:nvSpPr>
        <p:spPr>
          <a:xfrm>
            <a:off x="6815852" y="9224010"/>
            <a:ext cx="70866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1F5061"/>
                </a:solidFill>
                <a:latin typeface="Courier New" pitchFamily="34" charset="0"/>
                <a:ea typeface="Courier New" pitchFamily="34" charset="-122"/>
                <a:cs typeface="Courier New" pitchFamily="34" charset="-120"/>
              </a:rPr>
              <a:t>● alert</a:t>
            </a:r>
            <a:endParaRPr lang="en-US" sz="1200" dirty="0"/>
          </a:p>
        </p:txBody>
      </p:sp>
      <p:sp>
        <p:nvSpPr>
          <p:cNvPr id="13" name="Text 10"/>
          <p:cNvSpPr/>
          <p:nvPr/>
        </p:nvSpPr>
        <p:spPr>
          <a:xfrm>
            <a:off x="9553218" y="9224010"/>
            <a:ext cx="80010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A8432E"/>
                </a:solidFill>
                <a:latin typeface="Courier New" pitchFamily="34" charset="0"/>
                <a:ea typeface="Courier New" pitchFamily="34" charset="-122"/>
                <a:cs typeface="Courier New" pitchFamily="34" charset="-120"/>
              </a:rPr>
              <a:t>● breach</a:t>
            </a:r>
            <a:endParaRPr lang="en-US" sz="1200" dirty="0"/>
          </a:p>
        </p:txBody>
      </p:sp>
      <p:sp>
        <p:nvSpPr>
          <p:cNvPr id="14" name="Text 11"/>
          <p:cNvSpPr/>
          <p:nvPr/>
        </p:nvSpPr>
        <p:spPr>
          <a:xfrm>
            <a:off x="876300" y="9525000"/>
            <a:ext cx="103409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i="1" dirty="0">
                <a:solidFill>
                  <a:srgbClr val="7A766C"/>
                </a:solidFill>
                <a:latin typeface="Georgia" pitchFamily="34" charset="0"/>
                <a:ea typeface="Georgia" pitchFamily="34" charset="-122"/>
                <a:cs typeface="Georgia" pitchFamily="34" charset="-120"/>
              </a:rPr>
              <a:t>Fig. 3 — Sustained drift breaches the 4σ limit; one-off spikes are smoothed.</a:t>
            </a:r>
            <a:endParaRPr lang="en-US" sz="1575" dirty="0"/>
          </a:p>
        </p:txBody>
      </p:sp>
      <p:sp>
        <p:nvSpPr>
          <p:cNvPr id="15" name="Shape 12"/>
          <p:cNvSpPr/>
          <p:nvPr/>
        </p:nvSpPr>
        <p:spPr>
          <a:xfrm>
            <a:off x="10791468" y="5404485"/>
            <a:ext cx="6620233" cy="9525"/>
          </a:xfrm>
          <a:prstGeom prst="rect">
            <a:avLst/>
          </a:prstGeom>
          <a:solidFill>
            <a:srgbClr val="E0DBCF"/>
          </a:solidFill>
          <a:ln/>
        </p:spPr>
      </p:sp>
      <p:sp>
        <p:nvSpPr>
          <p:cNvPr id="16" name="Shape 13"/>
          <p:cNvSpPr/>
          <p:nvPr/>
        </p:nvSpPr>
        <p:spPr>
          <a:xfrm>
            <a:off x="10791468" y="2061210"/>
            <a:ext cx="6620233" cy="15240"/>
          </a:xfrm>
          <a:prstGeom prst="rect">
            <a:avLst/>
          </a:prstGeom>
          <a:solidFill>
            <a:srgbClr val="1B1B19"/>
          </a:solidFill>
          <a:ln/>
        </p:spPr>
      </p:sp>
      <p:sp>
        <p:nvSpPr>
          <p:cNvPr id="17" name="Text 14"/>
          <p:cNvSpPr/>
          <p:nvPr/>
        </p:nvSpPr>
        <p:spPr>
          <a:xfrm>
            <a:off x="10829568" y="3287078"/>
            <a:ext cx="76200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B07D33"/>
                </a:solidFill>
                <a:latin typeface="Courier New" pitchFamily="34" charset="0"/>
                <a:ea typeface="Courier New" pitchFamily="34" charset="-122"/>
                <a:cs typeface="Courier New" pitchFamily="34" charset="-120"/>
              </a:rPr>
              <a:t>STEP 1</a:t>
            </a:r>
            <a:endParaRPr lang="en-US" sz="1500" dirty="0"/>
          </a:p>
        </p:txBody>
      </p:sp>
      <p:sp>
        <p:nvSpPr>
          <p:cNvPr id="18" name="Text 15"/>
          <p:cNvSpPr/>
          <p:nvPr/>
        </p:nvSpPr>
        <p:spPr>
          <a:xfrm>
            <a:off x="11648718" y="3226117"/>
            <a:ext cx="2307914" cy="413385"/>
          </a:xfrm>
          <a:prstGeom prst="rect">
            <a:avLst/>
          </a:prstGeom>
          <a:noFill/>
          <a:ln/>
        </p:spPr>
        <p:txBody>
          <a:bodyPr wrap="square" lIns="25400" tIns="25400" rIns="25400" bIns="25400" rtlCol="0" anchor="t">
            <a:normAutofit/>
          </a:bodyPr>
          <a:lstStyle/>
          <a:p>
            <a:pPr marL="0" indent="0" algn="l">
              <a:buNone/>
            </a:pPr>
            <a:r>
              <a:rPr lang="en-US" sz="2250" b="1" dirty="0">
                <a:solidFill>
                  <a:srgbClr val="1B1B19"/>
                </a:solidFill>
                <a:latin typeface="Georgia" pitchFamily="34" charset="0"/>
                <a:ea typeface="Georgia" pitchFamily="34" charset="-122"/>
                <a:cs typeface="Georgia" pitchFamily="34" charset="-120"/>
              </a:rPr>
              <a:t>STL · offline</a:t>
            </a:r>
            <a:endParaRPr lang="en-US" sz="2250" dirty="0"/>
          </a:p>
        </p:txBody>
      </p:sp>
      <p:sp>
        <p:nvSpPr>
          <p:cNvPr id="19" name="Text 16"/>
          <p:cNvSpPr/>
          <p:nvPr/>
        </p:nvSpPr>
        <p:spPr>
          <a:xfrm>
            <a:off x="10829568" y="3641408"/>
            <a:ext cx="6740354" cy="6515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725" dirty="0">
                <a:solidFill>
                  <a:srgbClr val="6E6C64"/>
                </a:solidFill>
                <a:latin typeface="Arial" pitchFamily="34" charset="0"/>
                <a:ea typeface="Arial" pitchFamily="34" charset="-122"/>
                <a:cs typeface="Arial" pitchFamily="34" charset="-120"/>
              </a:rPr>
              <a:t>Learn each service's daily load curve from clean days; store seasonal profile + residual σ. Removes the season that fools naïve detectors.</a:t>
            </a:r>
            <a:endParaRPr lang="en-US" sz="1725" dirty="0"/>
          </a:p>
        </p:txBody>
      </p:sp>
      <p:sp>
        <p:nvSpPr>
          <p:cNvPr id="20" name="Shape 17"/>
          <p:cNvSpPr/>
          <p:nvPr/>
        </p:nvSpPr>
        <p:spPr>
          <a:xfrm>
            <a:off x="10791468" y="8740140"/>
            <a:ext cx="6620233" cy="15240"/>
          </a:xfrm>
          <a:prstGeom prst="rect">
            <a:avLst/>
          </a:prstGeom>
          <a:solidFill>
            <a:srgbClr val="1B1B19"/>
          </a:solidFill>
          <a:ln/>
        </p:spPr>
      </p:sp>
      <p:sp>
        <p:nvSpPr>
          <p:cNvPr id="21" name="Text 18"/>
          <p:cNvSpPr/>
          <p:nvPr/>
        </p:nvSpPr>
        <p:spPr>
          <a:xfrm>
            <a:off x="10829568" y="6622732"/>
            <a:ext cx="76200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1F5061"/>
                </a:solidFill>
                <a:latin typeface="Courier New" pitchFamily="34" charset="0"/>
                <a:ea typeface="Courier New" pitchFamily="34" charset="-122"/>
                <a:cs typeface="Courier New" pitchFamily="34" charset="-120"/>
              </a:rPr>
              <a:t>STEP 2</a:t>
            </a:r>
            <a:endParaRPr lang="en-US" sz="1500" dirty="0"/>
          </a:p>
        </p:txBody>
      </p:sp>
      <p:sp>
        <p:nvSpPr>
          <p:cNvPr id="22" name="Text 19"/>
          <p:cNvSpPr/>
          <p:nvPr/>
        </p:nvSpPr>
        <p:spPr>
          <a:xfrm>
            <a:off x="11648718" y="6561773"/>
            <a:ext cx="3053871" cy="312419"/>
          </a:xfrm>
          <a:prstGeom prst="rect">
            <a:avLst/>
          </a:prstGeom>
          <a:noFill/>
          <a:ln/>
        </p:spPr>
        <p:txBody>
          <a:bodyPr wrap="square" lIns="25400" tIns="25400" rIns="25400" bIns="25400" rtlCol="0" anchor="t">
            <a:normAutofit fontScale="92500" lnSpcReduction="20000"/>
          </a:bodyPr>
          <a:lstStyle/>
          <a:p>
            <a:pPr marL="0" indent="0" algn="l">
              <a:buNone/>
            </a:pPr>
            <a:r>
              <a:rPr lang="en-US" sz="2250" b="1" dirty="0">
                <a:solidFill>
                  <a:srgbClr val="1B1B19"/>
                </a:solidFill>
                <a:latin typeface="Georgia" pitchFamily="34" charset="0"/>
                <a:ea typeface="Georgia" pitchFamily="34" charset="-122"/>
                <a:cs typeface="Georgia" pitchFamily="34" charset="-120"/>
              </a:rPr>
              <a:t>EWMA · inference</a:t>
            </a:r>
            <a:endParaRPr lang="en-US" sz="2250" dirty="0"/>
          </a:p>
        </p:txBody>
      </p:sp>
      <p:sp>
        <p:nvSpPr>
          <p:cNvPr id="23" name="Text 20"/>
          <p:cNvSpPr/>
          <p:nvPr/>
        </p:nvSpPr>
        <p:spPr>
          <a:xfrm>
            <a:off x="10829568" y="6977063"/>
            <a:ext cx="6740354" cy="6515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725" dirty="0">
                <a:solidFill>
                  <a:srgbClr val="6E6C64"/>
                </a:solidFill>
                <a:latin typeface="Arial" pitchFamily="34" charset="0"/>
                <a:ea typeface="Arial" pitchFamily="34" charset="-122"/>
                <a:cs typeface="Arial" pitchFamily="34" charset="-120"/>
              </a:rPr>
              <a:t>Run a control chart on the residual. Sustained drift breaches the K=4σ limit → anomaly.</a:t>
            </a:r>
            <a:endParaRPr lang="en-US" sz="1725" dirty="0"/>
          </a:p>
        </p:txBody>
      </p:sp>
      <p:sp>
        <p:nvSpPr>
          <p:cNvPr id="24" name="Text 21"/>
          <p:cNvSpPr/>
          <p:nvPr/>
        </p:nvSpPr>
        <p:spPr>
          <a:xfrm>
            <a:off x="10791468" y="8983980"/>
            <a:ext cx="2049184" cy="384810"/>
          </a:xfrm>
          <a:prstGeom prst="rect">
            <a:avLst/>
          </a:prstGeom>
          <a:noFill/>
          <a:ln/>
        </p:spPr>
        <p:txBody>
          <a:bodyPr wrap="square" lIns="25400" tIns="25400" rIns="25400" bIns="25400" rtlCol="0" anchor="t">
            <a:normAutofit fontScale="70000" lnSpcReduction="20000"/>
          </a:bodyPr>
          <a:lstStyle/>
          <a:p>
            <a:pPr marL="0" indent="0" algn="l">
              <a:lnSpc>
                <a:spcPct val="100000"/>
              </a:lnSpc>
              <a:buNone/>
            </a:pPr>
            <a:r>
              <a:rPr lang="en-US" sz="3600" b="1" dirty="0">
                <a:solidFill>
                  <a:srgbClr val="1F5061"/>
                </a:solidFill>
                <a:latin typeface="Georgia" pitchFamily="34" charset="0"/>
                <a:ea typeface="Georgia" pitchFamily="34" charset="-122"/>
                <a:cs typeface="Georgia" pitchFamily="34" charset="-120"/>
              </a:rPr>
              <a:t>&lt; 10 ms</a:t>
            </a:r>
            <a:endParaRPr lang="en-US" sz="3600" dirty="0"/>
          </a:p>
        </p:txBody>
      </p:sp>
      <p:sp>
        <p:nvSpPr>
          <p:cNvPr id="25" name="Text 22"/>
          <p:cNvSpPr/>
          <p:nvPr/>
        </p:nvSpPr>
        <p:spPr>
          <a:xfrm>
            <a:off x="10791468" y="9479280"/>
            <a:ext cx="1751183"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E6C64"/>
                </a:solidFill>
                <a:latin typeface="Arial" pitchFamily="34" charset="0"/>
                <a:ea typeface="Arial" pitchFamily="34" charset="-122"/>
                <a:cs typeface="Arial" pitchFamily="34" charset="-120"/>
              </a:rPr>
              <a:t>compute / call</a:t>
            </a:r>
            <a:endParaRPr lang="en-US" sz="1500" dirty="0"/>
          </a:p>
        </p:txBody>
      </p:sp>
      <p:sp>
        <p:nvSpPr>
          <p:cNvPr id="26" name="Text 23"/>
          <p:cNvSpPr/>
          <p:nvPr/>
        </p:nvSpPr>
        <p:spPr>
          <a:xfrm>
            <a:off x="12840651" y="8983980"/>
            <a:ext cx="2680085" cy="384810"/>
          </a:xfrm>
          <a:prstGeom prst="rect">
            <a:avLst/>
          </a:prstGeom>
          <a:noFill/>
          <a:ln/>
        </p:spPr>
        <p:txBody>
          <a:bodyPr wrap="square" lIns="25400" tIns="25400" rIns="25400" bIns="25400" rtlCol="0" anchor="t">
            <a:normAutofit fontScale="70000" lnSpcReduction="20000"/>
          </a:bodyPr>
          <a:lstStyle/>
          <a:p>
            <a:pPr marL="0" indent="0" algn="l">
              <a:lnSpc>
                <a:spcPct val="100000"/>
              </a:lnSpc>
              <a:buNone/>
            </a:pPr>
            <a:r>
              <a:rPr lang="en-US" sz="3600" b="1" dirty="0">
                <a:solidFill>
                  <a:srgbClr val="1B1B19"/>
                </a:solidFill>
                <a:latin typeface="Georgia" pitchFamily="34" charset="0"/>
                <a:ea typeface="Georgia" pitchFamily="34" charset="-122"/>
                <a:cs typeface="Georgia" pitchFamily="34" charset="-120"/>
              </a:rPr>
              <a:t>100%</a:t>
            </a:r>
            <a:endParaRPr lang="en-US" sz="3600" dirty="0"/>
          </a:p>
        </p:txBody>
      </p:sp>
      <p:sp>
        <p:nvSpPr>
          <p:cNvPr id="27" name="Text 24"/>
          <p:cNvSpPr/>
          <p:nvPr/>
        </p:nvSpPr>
        <p:spPr>
          <a:xfrm>
            <a:off x="12840652" y="9479280"/>
            <a:ext cx="2384286"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E6C64"/>
                </a:solidFill>
                <a:latin typeface="Arial" pitchFamily="34" charset="0"/>
                <a:ea typeface="Arial" pitchFamily="34" charset="-122"/>
                <a:cs typeface="Arial" pitchFamily="34" charset="-120"/>
              </a:rPr>
              <a:t>deterministic &amp; explainable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06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06</a:t>
            </a:r>
            <a:endParaRPr lang="en-US" sz="1725" dirty="0"/>
          </a:p>
        </p:txBody>
      </p:sp>
      <p:sp>
        <p:nvSpPr>
          <p:cNvPr id="6" name="Text 4"/>
          <p:cNvSpPr/>
          <p:nvPr/>
        </p:nvSpPr>
        <p:spPr>
          <a:xfrm>
            <a:off x="1329690" y="1184910"/>
            <a:ext cx="4994100"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Why not an LLM?</a:t>
            </a:r>
            <a:endParaRPr lang="en-US" sz="4500" dirty="0"/>
          </a:p>
        </p:txBody>
      </p:sp>
      <p:sp>
        <p:nvSpPr>
          <p:cNvPr id="7" name="Text 5"/>
          <p:cNvSpPr/>
          <p:nvPr/>
        </p:nvSpPr>
        <p:spPr>
          <a:xfrm>
            <a:off x="14531340" y="1367790"/>
            <a:ext cx="3168396"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TABLE 1 — IDENTICAL HOLDOUT</a:t>
            </a:r>
            <a:endParaRPr lang="en-US" sz="1200" dirty="0"/>
          </a:p>
        </p:txBody>
      </p:sp>
      <p:sp>
        <p:nvSpPr>
          <p:cNvPr id="8" name="Shape 6"/>
          <p:cNvSpPr/>
          <p:nvPr/>
        </p:nvSpPr>
        <p:spPr>
          <a:xfrm>
            <a:off x="876300" y="2396490"/>
            <a:ext cx="16535400" cy="15240"/>
          </a:xfrm>
          <a:prstGeom prst="rect">
            <a:avLst/>
          </a:prstGeom>
          <a:solidFill>
            <a:srgbClr val="1B1B19"/>
          </a:solidFill>
          <a:ln/>
        </p:spPr>
      </p:sp>
      <p:sp>
        <p:nvSpPr>
          <p:cNvPr id="9" name="Text 7"/>
          <p:cNvSpPr/>
          <p:nvPr/>
        </p:nvSpPr>
        <p:spPr>
          <a:xfrm>
            <a:off x="933450" y="2042160"/>
            <a:ext cx="5204567" cy="259080"/>
          </a:xfrm>
          <a:prstGeom prst="rect">
            <a:avLst/>
          </a:prstGeom>
          <a:noFill/>
          <a:ln/>
        </p:spPr>
        <p:txBody>
          <a:bodyPr wrap="square" lIns="25400" tIns="25400" rIns="25400" bIns="25400" rtlCol="0" anchor="t">
            <a:normAutofit/>
          </a:bodyPr>
          <a:lstStyle/>
          <a:p>
            <a:pPr marL="0" indent="0" algn="l">
              <a:buNone/>
            </a:pPr>
            <a:r>
              <a:rPr lang="en-US" sz="1350" kern="0" spc="81" dirty="0">
                <a:solidFill>
                  <a:srgbClr val="8C887C"/>
                </a:solidFill>
                <a:latin typeface="Courier New" pitchFamily="34" charset="0"/>
                <a:ea typeface="Courier New" pitchFamily="34" charset="-122"/>
                <a:cs typeface="Courier New" pitchFamily="34" charset="-120"/>
              </a:rPr>
              <a:t>APPROACH</a:t>
            </a:r>
            <a:endParaRPr lang="en-US" sz="1350" dirty="0"/>
          </a:p>
        </p:txBody>
      </p:sp>
      <p:sp>
        <p:nvSpPr>
          <p:cNvPr id="10" name="Text 8"/>
          <p:cNvSpPr/>
          <p:nvPr/>
        </p:nvSpPr>
        <p:spPr>
          <a:xfrm>
            <a:off x="5386554" y="2042160"/>
            <a:ext cx="3061526" cy="259080"/>
          </a:xfrm>
          <a:prstGeom prst="rect">
            <a:avLst/>
          </a:prstGeom>
          <a:noFill/>
          <a:ln/>
        </p:spPr>
        <p:txBody>
          <a:bodyPr wrap="square" lIns="25400" tIns="25400" rIns="25400" bIns="25400" rtlCol="0" anchor="t">
            <a:normAutofit/>
          </a:bodyPr>
          <a:lstStyle/>
          <a:p>
            <a:pPr marL="0" indent="0" algn="r">
              <a:buNone/>
            </a:pPr>
            <a:r>
              <a:rPr lang="en-US" sz="1350" kern="0" spc="81" dirty="0">
                <a:solidFill>
                  <a:srgbClr val="8C887C"/>
                </a:solidFill>
                <a:latin typeface="Courier New" pitchFamily="34" charset="0"/>
                <a:ea typeface="Courier New" pitchFamily="34" charset="-122"/>
                <a:cs typeface="Courier New" pitchFamily="34" charset="-120"/>
              </a:rPr>
              <a:t>COST / MO</a:t>
            </a:r>
            <a:endParaRPr lang="en-US" sz="1350" dirty="0"/>
          </a:p>
        </p:txBody>
      </p:sp>
      <p:sp>
        <p:nvSpPr>
          <p:cNvPr id="11" name="Text 9"/>
          <p:cNvSpPr/>
          <p:nvPr/>
        </p:nvSpPr>
        <p:spPr>
          <a:xfrm>
            <a:off x="8169747" y="2042160"/>
            <a:ext cx="3061656" cy="259080"/>
          </a:xfrm>
          <a:prstGeom prst="rect">
            <a:avLst/>
          </a:prstGeom>
          <a:noFill/>
          <a:ln/>
        </p:spPr>
        <p:txBody>
          <a:bodyPr wrap="square" lIns="25400" tIns="25400" rIns="25400" bIns="25400" rtlCol="0" anchor="t">
            <a:normAutofit/>
          </a:bodyPr>
          <a:lstStyle/>
          <a:p>
            <a:pPr marL="0" indent="0" algn="r">
              <a:buNone/>
            </a:pPr>
            <a:r>
              <a:rPr lang="en-US" sz="1350" kern="0" spc="81" dirty="0">
                <a:solidFill>
                  <a:srgbClr val="8C887C"/>
                </a:solidFill>
                <a:latin typeface="Courier New" pitchFamily="34" charset="0"/>
                <a:ea typeface="Courier New" pitchFamily="34" charset="-122"/>
                <a:cs typeface="Courier New" pitchFamily="34" charset="-120"/>
              </a:rPr>
              <a:t>LATENCY</a:t>
            </a:r>
            <a:endParaRPr lang="en-US" sz="1350" dirty="0"/>
          </a:p>
        </p:txBody>
      </p:sp>
      <p:sp>
        <p:nvSpPr>
          <p:cNvPr id="12" name="Text 10"/>
          <p:cNvSpPr/>
          <p:nvPr/>
        </p:nvSpPr>
        <p:spPr>
          <a:xfrm>
            <a:off x="10953083" y="2042160"/>
            <a:ext cx="3061526" cy="259080"/>
          </a:xfrm>
          <a:prstGeom prst="rect">
            <a:avLst/>
          </a:prstGeom>
          <a:noFill/>
          <a:ln/>
        </p:spPr>
        <p:txBody>
          <a:bodyPr wrap="square" lIns="25400" tIns="25400" rIns="25400" bIns="25400" rtlCol="0" anchor="t">
            <a:normAutofit/>
          </a:bodyPr>
          <a:lstStyle/>
          <a:p>
            <a:pPr marL="0" indent="0" algn="r">
              <a:buNone/>
            </a:pPr>
            <a:r>
              <a:rPr lang="en-US" sz="1350" kern="0" spc="81" dirty="0">
                <a:solidFill>
                  <a:srgbClr val="8C887C"/>
                </a:solidFill>
                <a:latin typeface="Courier New" pitchFamily="34" charset="0"/>
                <a:ea typeface="Courier New" pitchFamily="34" charset="-122"/>
                <a:cs typeface="Courier New" pitchFamily="34" charset="-120"/>
              </a:rPr>
              <a:t>FP RATE</a:t>
            </a:r>
            <a:endParaRPr lang="en-US" sz="1350" dirty="0"/>
          </a:p>
        </p:txBody>
      </p:sp>
      <p:sp>
        <p:nvSpPr>
          <p:cNvPr id="13" name="Text 11"/>
          <p:cNvSpPr/>
          <p:nvPr/>
        </p:nvSpPr>
        <p:spPr>
          <a:xfrm>
            <a:off x="13680614" y="2042160"/>
            <a:ext cx="3673935" cy="259080"/>
          </a:xfrm>
          <a:prstGeom prst="rect">
            <a:avLst/>
          </a:prstGeom>
          <a:noFill/>
          <a:ln/>
        </p:spPr>
        <p:txBody>
          <a:bodyPr wrap="square" lIns="25400" tIns="25400" rIns="25400" bIns="25400" rtlCol="0" anchor="t">
            <a:normAutofit/>
          </a:bodyPr>
          <a:lstStyle/>
          <a:p>
            <a:pPr marL="0" indent="0" algn="r">
              <a:buNone/>
            </a:pPr>
            <a:r>
              <a:rPr lang="en-US" sz="1350" kern="0" spc="81" dirty="0">
                <a:solidFill>
                  <a:srgbClr val="8C887C"/>
                </a:solidFill>
                <a:latin typeface="Courier New" pitchFamily="34" charset="0"/>
                <a:ea typeface="Courier New" pitchFamily="34" charset="-122"/>
                <a:cs typeface="Courier New" pitchFamily="34" charset="-120"/>
              </a:rPr>
              <a:t>VERDICT</a:t>
            </a:r>
            <a:endParaRPr lang="en-US" sz="1350" dirty="0"/>
          </a:p>
        </p:txBody>
      </p:sp>
      <p:sp>
        <p:nvSpPr>
          <p:cNvPr id="14" name="Shape 12"/>
          <p:cNvSpPr/>
          <p:nvPr/>
        </p:nvSpPr>
        <p:spPr>
          <a:xfrm>
            <a:off x="876300" y="2411730"/>
            <a:ext cx="16535400" cy="2235160"/>
          </a:xfrm>
          <a:prstGeom prst="rect">
            <a:avLst/>
          </a:prstGeom>
          <a:solidFill>
            <a:srgbClr val="1F5061">
              <a:alpha val="6000"/>
            </a:srgbClr>
          </a:solidFill>
          <a:ln/>
        </p:spPr>
      </p:sp>
      <p:sp>
        <p:nvSpPr>
          <p:cNvPr id="15" name="Shape 13"/>
          <p:cNvSpPr/>
          <p:nvPr/>
        </p:nvSpPr>
        <p:spPr>
          <a:xfrm>
            <a:off x="876300" y="4639270"/>
            <a:ext cx="16535400" cy="9525"/>
          </a:xfrm>
          <a:prstGeom prst="rect">
            <a:avLst/>
          </a:prstGeom>
          <a:solidFill>
            <a:srgbClr val="E0DBCF"/>
          </a:solidFill>
          <a:ln/>
        </p:spPr>
      </p:sp>
      <p:sp>
        <p:nvSpPr>
          <p:cNvPr id="16" name="Text 14"/>
          <p:cNvSpPr/>
          <p:nvPr/>
        </p:nvSpPr>
        <p:spPr>
          <a:xfrm>
            <a:off x="933450" y="3210163"/>
            <a:ext cx="5204567" cy="40386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F5061"/>
                </a:solidFill>
                <a:latin typeface="Georgia" pitchFamily="34" charset="0"/>
                <a:ea typeface="Georgia" pitchFamily="34" charset="-122"/>
                <a:cs typeface="Georgia" pitchFamily="34" charset="-120"/>
              </a:rPr>
              <a:t>STL + EWMA</a:t>
            </a:r>
            <a:endParaRPr lang="en-US" sz="2550" dirty="0"/>
          </a:p>
        </p:txBody>
      </p:sp>
      <p:sp>
        <p:nvSpPr>
          <p:cNvPr id="17" name="Text 15"/>
          <p:cNvSpPr/>
          <p:nvPr/>
        </p:nvSpPr>
        <p:spPr>
          <a:xfrm>
            <a:off x="933450" y="3604498"/>
            <a:ext cx="5204567" cy="274320"/>
          </a:xfrm>
          <a:prstGeom prst="rect">
            <a:avLst/>
          </a:prstGeom>
          <a:noFill/>
          <a:ln/>
        </p:spPr>
        <p:txBody>
          <a:bodyPr wrap="square" lIns="25400" tIns="25400" rIns="25400" bIns="25400" rtlCol="0" anchor="t">
            <a:normAutofit/>
          </a:bodyPr>
          <a:lstStyle/>
          <a:p>
            <a:pPr marL="0" indent="0" algn="l">
              <a:buNone/>
            </a:pPr>
            <a:r>
              <a:rPr lang="en-US" sz="1425" dirty="0">
                <a:solidFill>
                  <a:srgbClr val="8C887C"/>
                </a:solidFill>
                <a:latin typeface="Courier New" pitchFamily="34" charset="0"/>
                <a:ea typeface="Courier New" pitchFamily="34" charset="-122"/>
                <a:cs typeface="Courier New" pitchFamily="34" charset="-120"/>
              </a:rPr>
              <a:t>control chart</a:t>
            </a:r>
            <a:endParaRPr lang="en-US" sz="1425" dirty="0"/>
          </a:p>
        </p:txBody>
      </p:sp>
      <p:sp>
        <p:nvSpPr>
          <p:cNvPr id="18" name="Text 16"/>
          <p:cNvSpPr/>
          <p:nvPr/>
        </p:nvSpPr>
        <p:spPr>
          <a:xfrm>
            <a:off x="5386554" y="3308271"/>
            <a:ext cx="3061526" cy="472440"/>
          </a:xfrm>
          <a:prstGeom prst="rect">
            <a:avLst/>
          </a:prstGeom>
          <a:noFill/>
          <a:ln/>
        </p:spPr>
        <p:txBody>
          <a:bodyPr wrap="square" lIns="25400" tIns="25400" rIns="25400" bIns="25400" rtlCol="0" anchor="t">
            <a:normAutofit lnSpcReduction="10000"/>
          </a:bodyPr>
          <a:lstStyle/>
          <a:p>
            <a:pPr marL="0" indent="0" algn="r">
              <a:buNone/>
            </a:pPr>
            <a:r>
              <a:rPr lang="en-US" sz="3000" b="1" dirty="0">
                <a:solidFill>
                  <a:srgbClr val="1B1B19"/>
                </a:solidFill>
                <a:latin typeface="Georgia" pitchFamily="34" charset="0"/>
                <a:ea typeface="Georgia" pitchFamily="34" charset="-122"/>
                <a:cs typeface="Georgia" pitchFamily="34" charset="-120"/>
              </a:rPr>
              <a:t>~$36</a:t>
            </a:r>
            <a:endParaRPr lang="en-US" sz="3000" dirty="0"/>
          </a:p>
        </p:txBody>
      </p:sp>
      <p:sp>
        <p:nvSpPr>
          <p:cNvPr id="19" name="Text 17"/>
          <p:cNvSpPr/>
          <p:nvPr/>
        </p:nvSpPr>
        <p:spPr>
          <a:xfrm>
            <a:off x="8169747" y="3308271"/>
            <a:ext cx="3061656" cy="472440"/>
          </a:xfrm>
          <a:prstGeom prst="rect">
            <a:avLst/>
          </a:prstGeom>
          <a:noFill/>
          <a:ln/>
        </p:spPr>
        <p:txBody>
          <a:bodyPr wrap="square" lIns="25400" tIns="25400" rIns="25400" bIns="25400" rtlCol="0" anchor="t">
            <a:normAutofit lnSpcReduction="10000"/>
          </a:bodyPr>
          <a:lstStyle/>
          <a:p>
            <a:pPr marL="0" indent="0" algn="r">
              <a:buNone/>
            </a:pPr>
            <a:r>
              <a:rPr lang="en-US" sz="3000" b="1" dirty="0">
                <a:solidFill>
                  <a:srgbClr val="1B1B19"/>
                </a:solidFill>
                <a:latin typeface="Georgia" pitchFamily="34" charset="0"/>
                <a:ea typeface="Georgia" pitchFamily="34" charset="-122"/>
                <a:cs typeface="Georgia" pitchFamily="34" charset="-120"/>
              </a:rPr>
              <a:t>&lt;10 ms</a:t>
            </a:r>
            <a:endParaRPr lang="en-US" sz="3000" dirty="0"/>
          </a:p>
        </p:txBody>
      </p:sp>
      <p:sp>
        <p:nvSpPr>
          <p:cNvPr id="20" name="Text 18"/>
          <p:cNvSpPr/>
          <p:nvPr/>
        </p:nvSpPr>
        <p:spPr>
          <a:xfrm>
            <a:off x="10953083" y="3308271"/>
            <a:ext cx="3061526" cy="472440"/>
          </a:xfrm>
          <a:prstGeom prst="rect">
            <a:avLst/>
          </a:prstGeom>
          <a:noFill/>
          <a:ln/>
        </p:spPr>
        <p:txBody>
          <a:bodyPr wrap="square" lIns="25400" tIns="25400" rIns="25400" bIns="25400" rtlCol="0" anchor="t">
            <a:normAutofit lnSpcReduction="10000"/>
          </a:bodyPr>
          <a:lstStyle/>
          <a:p>
            <a:pPr marL="0" indent="0" algn="r">
              <a:buNone/>
            </a:pPr>
            <a:r>
              <a:rPr lang="en-US" sz="3000" b="1" dirty="0">
                <a:solidFill>
                  <a:srgbClr val="1F5061"/>
                </a:solidFill>
                <a:latin typeface="Georgia" pitchFamily="34" charset="0"/>
                <a:ea typeface="Georgia" pitchFamily="34" charset="-122"/>
                <a:cs typeface="Georgia" pitchFamily="34" charset="-120"/>
              </a:rPr>
              <a:t>7.1%</a:t>
            </a:r>
            <a:endParaRPr lang="en-US" sz="3000" dirty="0"/>
          </a:p>
        </p:txBody>
      </p:sp>
      <p:sp>
        <p:nvSpPr>
          <p:cNvPr id="21" name="Text 19"/>
          <p:cNvSpPr/>
          <p:nvPr/>
        </p:nvSpPr>
        <p:spPr>
          <a:xfrm>
            <a:off x="13680614" y="3395901"/>
            <a:ext cx="3673935" cy="297180"/>
          </a:xfrm>
          <a:prstGeom prst="rect">
            <a:avLst/>
          </a:prstGeom>
          <a:noFill/>
          <a:ln/>
        </p:spPr>
        <p:txBody>
          <a:bodyPr wrap="square" lIns="25400" tIns="25400" rIns="25400" bIns="25400" rtlCol="0" anchor="t">
            <a:normAutofit/>
          </a:bodyPr>
          <a:lstStyle/>
          <a:p>
            <a:pPr marL="0" indent="0" algn="r">
              <a:buNone/>
            </a:pPr>
            <a:r>
              <a:rPr lang="en-US" sz="1500" dirty="0">
                <a:solidFill>
                  <a:srgbClr val="1F5061"/>
                </a:solidFill>
                <a:latin typeface="Courier New" pitchFamily="34" charset="0"/>
                <a:ea typeface="Courier New" pitchFamily="34" charset="-122"/>
                <a:cs typeface="Courier New" pitchFamily="34" charset="-120"/>
              </a:rPr>
              <a:t>✓ chosen</a:t>
            </a:r>
            <a:endParaRPr lang="en-US" sz="1500" dirty="0"/>
          </a:p>
        </p:txBody>
      </p:sp>
      <p:sp>
        <p:nvSpPr>
          <p:cNvPr id="22" name="Shape 20"/>
          <p:cNvSpPr/>
          <p:nvPr/>
        </p:nvSpPr>
        <p:spPr>
          <a:xfrm>
            <a:off x="876300" y="6874550"/>
            <a:ext cx="16535400" cy="9525"/>
          </a:xfrm>
          <a:prstGeom prst="rect">
            <a:avLst/>
          </a:prstGeom>
          <a:solidFill>
            <a:srgbClr val="E0DBCF"/>
          </a:solidFill>
          <a:ln/>
        </p:spPr>
      </p:sp>
      <p:sp>
        <p:nvSpPr>
          <p:cNvPr id="23" name="Text 21"/>
          <p:cNvSpPr/>
          <p:nvPr/>
        </p:nvSpPr>
        <p:spPr>
          <a:xfrm>
            <a:off x="933450" y="5403532"/>
            <a:ext cx="5204567" cy="487680"/>
          </a:xfrm>
          <a:prstGeom prst="rect">
            <a:avLst/>
          </a:prstGeom>
          <a:noFill/>
          <a:ln/>
        </p:spPr>
        <p:txBody>
          <a:bodyPr wrap="square" lIns="25400" tIns="25400" rIns="25400" bIns="25400" rtlCol="0" anchor="t">
            <a:normAutofit/>
          </a:bodyPr>
          <a:lstStyle/>
          <a:p>
            <a:pPr marL="0" indent="0" algn="l">
              <a:buNone/>
            </a:pPr>
            <a:r>
              <a:rPr lang="en-US" sz="2325" dirty="0">
                <a:solidFill>
                  <a:srgbClr val="33322D"/>
                </a:solidFill>
                <a:latin typeface="Georgia" pitchFamily="34" charset="0"/>
                <a:ea typeface="Georgia" pitchFamily="34" charset="-122"/>
                <a:cs typeface="Georgia" pitchFamily="34" charset="-120"/>
              </a:rPr>
              <a:t>Isolation Forest</a:t>
            </a:r>
            <a:endParaRPr lang="en-US" sz="2325" dirty="0"/>
          </a:p>
        </p:txBody>
      </p:sp>
      <p:sp>
        <p:nvSpPr>
          <p:cNvPr id="24" name="Text 22"/>
          <p:cNvSpPr/>
          <p:nvPr/>
        </p:nvSpPr>
        <p:spPr>
          <a:xfrm>
            <a:off x="933450" y="5881688"/>
            <a:ext cx="5204567" cy="274320"/>
          </a:xfrm>
          <a:prstGeom prst="rect">
            <a:avLst/>
          </a:prstGeom>
          <a:noFill/>
          <a:ln/>
        </p:spPr>
        <p:txBody>
          <a:bodyPr wrap="square" lIns="25400" tIns="25400" rIns="25400" bIns="25400" rtlCol="0" anchor="t">
            <a:normAutofit/>
          </a:bodyPr>
          <a:lstStyle/>
          <a:p>
            <a:pPr marL="0" indent="0" algn="l">
              <a:buNone/>
            </a:pPr>
            <a:r>
              <a:rPr lang="en-US" sz="1425" dirty="0">
                <a:solidFill>
                  <a:srgbClr val="8C887C"/>
                </a:solidFill>
                <a:latin typeface="Courier New" pitchFamily="34" charset="0"/>
                <a:ea typeface="Courier New" pitchFamily="34" charset="-122"/>
                <a:cs typeface="Courier New" pitchFamily="34" charset="-120"/>
              </a:rPr>
              <a:t>contamination 0.02</a:t>
            </a:r>
            <a:endParaRPr lang="en-US" sz="1425" dirty="0"/>
          </a:p>
        </p:txBody>
      </p:sp>
      <p:sp>
        <p:nvSpPr>
          <p:cNvPr id="25" name="Text 23"/>
          <p:cNvSpPr/>
          <p:nvPr/>
        </p:nvSpPr>
        <p:spPr>
          <a:xfrm>
            <a:off x="5386554" y="5509260"/>
            <a:ext cx="306152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54514A"/>
                </a:solidFill>
                <a:latin typeface="Georgia" pitchFamily="34" charset="0"/>
                <a:ea typeface="Georgia" pitchFamily="34" charset="-122"/>
                <a:cs typeface="Georgia" pitchFamily="34" charset="-120"/>
              </a:rPr>
              <a:t>~$150</a:t>
            </a:r>
            <a:endParaRPr lang="en-US" sz="2625" dirty="0"/>
          </a:p>
        </p:txBody>
      </p:sp>
      <p:sp>
        <p:nvSpPr>
          <p:cNvPr id="26" name="Text 24"/>
          <p:cNvSpPr/>
          <p:nvPr/>
        </p:nvSpPr>
        <p:spPr>
          <a:xfrm>
            <a:off x="8169747" y="5509260"/>
            <a:ext cx="306165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54514A"/>
                </a:solidFill>
                <a:latin typeface="Georgia" pitchFamily="34" charset="0"/>
                <a:ea typeface="Georgia" pitchFamily="34" charset="-122"/>
                <a:cs typeface="Georgia" pitchFamily="34" charset="-120"/>
              </a:rPr>
              <a:t>~20 ms</a:t>
            </a:r>
            <a:endParaRPr lang="en-US" sz="2625" dirty="0"/>
          </a:p>
        </p:txBody>
      </p:sp>
      <p:sp>
        <p:nvSpPr>
          <p:cNvPr id="27" name="Text 25"/>
          <p:cNvSpPr/>
          <p:nvPr/>
        </p:nvSpPr>
        <p:spPr>
          <a:xfrm>
            <a:off x="10953083" y="5509260"/>
            <a:ext cx="306152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A8432E"/>
                </a:solidFill>
                <a:latin typeface="Georgia" pitchFamily="34" charset="0"/>
                <a:ea typeface="Georgia" pitchFamily="34" charset="-122"/>
                <a:cs typeface="Georgia" pitchFamily="34" charset="-120"/>
              </a:rPr>
              <a:t>21.4%</a:t>
            </a:r>
            <a:endParaRPr lang="en-US" sz="2625" dirty="0"/>
          </a:p>
        </p:txBody>
      </p:sp>
      <p:sp>
        <p:nvSpPr>
          <p:cNvPr id="28" name="Text 26"/>
          <p:cNvSpPr/>
          <p:nvPr/>
        </p:nvSpPr>
        <p:spPr>
          <a:xfrm>
            <a:off x="13680614" y="5650230"/>
            <a:ext cx="3673935" cy="259080"/>
          </a:xfrm>
          <a:prstGeom prst="rect">
            <a:avLst/>
          </a:prstGeom>
          <a:noFill/>
          <a:ln/>
        </p:spPr>
        <p:txBody>
          <a:bodyPr wrap="square" lIns="25400" tIns="25400" rIns="25400" bIns="25400" rtlCol="0" anchor="t">
            <a:normAutofit/>
          </a:bodyPr>
          <a:lstStyle/>
          <a:p>
            <a:pPr marL="0" indent="0" algn="r">
              <a:buNone/>
            </a:pPr>
            <a:r>
              <a:rPr lang="en-US" sz="1350" dirty="0">
                <a:solidFill>
                  <a:srgbClr val="A8432E"/>
                </a:solidFill>
                <a:latin typeface="Courier New" pitchFamily="34" charset="0"/>
                <a:ea typeface="Courier New" pitchFamily="34" charset="-122"/>
                <a:cs typeface="Courier New" pitchFamily="34" charset="-120"/>
              </a:rPr>
              <a:t>FP gate fail</a:t>
            </a:r>
            <a:endParaRPr lang="en-US" sz="1350" dirty="0"/>
          </a:p>
        </p:txBody>
      </p:sp>
      <p:sp>
        <p:nvSpPr>
          <p:cNvPr id="29" name="Shape 27"/>
          <p:cNvSpPr/>
          <p:nvPr/>
        </p:nvSpPr>
        <p:spPr>
          <a:xfrm>
            <a:off x="876300" y="9109710"/>
            <a:ext cx="16535400" cy="15240"/>
          </a:xfrm>
          <a:prstGeom prst="rect">
            <a:avLst/>
          </a:prstGeom>
          <a:solidFill>
            <a:srgbClr val="1B1B19"/>
          </a:solidFill>
          <a:ln/>
        </p:spPr>
      </p:sp>
      <p:sp>
        <p:nvSpPr>
          <p:cNvPr id="30" name="Text 28"/>
          <p:cNvSpPr/>
          <p:nvPr/>
        </p:nvSpPr>
        <p:spPr>
          <a:xfrm>
            <a:off x="933450" y="7638693"/>
            <a:ext cx="5204567" cy="487680"/>
          </a:xfrm>
          <a:prstGeom prst="rect">
            <a:avLst/>
          </a:prstGeom>
          <a:noFill/>
          <a:ln/>
        </p:spPr>
        <p:txBody>
          <a:bodyPr wrap="square" lIns="25400" tIns="25400" rIns="25400" bIns="25400" rtlCol="0" anchor="t">
            <a:normAutofit/>
          </a:bodyPr>
          <a:lstStyle/>
          <a:p>
            <a:pPr marL="0" indent="0" algn="l">
              <a:buNone/>
            </a:pPr>
            <a:r>
              <a:rPr lang="en-US" sz="2325" dirty="0">
                <a:solidFill>
                  <a:srgbClr val="33322D"/>
                </a:solidFill>
                <a:latin typeface="Georgia" pitchFamily="34" charset="0"/>
                <a:ea typeface="Georgia" pitchFamily="34" charset="-122"/>
                <a:cs typeface="Georgia" pitchFamily="34" charset="-120"/>
              </a:rPr>
              <a:t>LLM (Bedrock)</a:t>
            </a:r>
            <a:endParaRPr lang="en-US" sz="2325" dirty="0"/>
          </a:p>
        </p:txBody>
      </p:sp>
      <p:sp>
        <p:nvSpPr>
          <p:cNvPr id="31" name="Text 29"/>
          <p:cNvSpPr/>
          <p:nvPr/>
        </p:nvSpPr>
        <p:spPr>
          <a:xfrm>
            <a:off x="933450" y="8116848"/>
            <a:ext cx="5204567" cy="274320"/>
          </a:xfrm>
          <a:prstGeom prst="rect">
            <a:avLst/>
          </a:prstGeom>
          <a:noFill/>
          <a:ln/>
        </p:spPr>
        <p:txBody>
          <a:bodyPr wrap="square" lIns="25400" tIns="25400" rIns="25400" bIns="25400" rtlCol="0" anchor="t">
            <a:normAutofit/>
          </a:bodyPr>
          <a:lstStyle/>
          <a:p>
            <a:pPr marL="0" indent="0" algn="l">
              <a:buNone/>
            </a:pPr>
            <a:r>
              <a:rPr lang="en-US" sz="1425" dirty="0">
                <a:solidFill>
                  <a:srgbClr val="8C887C"/>
                </a:solidFill>
                <a:latin typeface="Courier New" pitchFamily="34" charset="0"/>
                <a:ea typeface="Courier New" pitchFamily="34" charset="-122"/>
                <a:cs typeface="Courier New" pitchFamily="34" charset="-120"/>
              </a:rPr>
              <a:t>per-window prompt</a:t>
            </a:r>
            <a:endParaRPr lang="en-US" sz="1425" dirty="0"/>
          </a:p>
        </p:txBody>
      </p:sp>
      <p:sp>
        <p:nvSpPr>
          <p:cNvPr id="32" name="Text 30"/>
          <p:cNvSpPr/>
          <p:nvPr/>
        </p:nvSpPr>
        <p:spPr>
          <a:xfrm>
            <a:off x="5386554" y="7744420"/>
            <a:ext cx="306152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A8432E"/>
                </a:solidFill>
                <a:latin typeface="Georgia" pitchFamily="34" charset="0"/>
                <a:ea typeface="Georgia" pitchFamily="34" charset="-122"/>
                <a:cs typeface="Georgia" pitchFamily="34" charset="-120"/>
              </a:rPr>
              <a:t>~$10k</a:t>
            </a:r>
            <a:endParaRPr lang="en-US" sz="2625" dirty="0"/>
          </a:p>
        </p:txBody>
      </p:sp>
      <p:sp>
        <p:nvSpPr>
          <p:cNvPr id="33" name="Text 31"/>
          <p:cNvSpPr/>
          <p:nvPr/>
        </p:nvSpPr>
        <p:spPr>
          <a:xfrm>
            <a:off x="8169747" y="7744420"/>
            <a:ext cx="306165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A8432E"/>
                </a:solidFill>
                <a:latin typeface="Georgia" pitchFamily="34" charset="0"/>
                <a:ea typeface="Georgia" pitchFamily="34" charset="-122"/>
                <a:cs typeface="Georgia" pitchFamily="34" charset="-120"/>
              </a:rPr>
              <a:t>~2 s</a:t>
            </a:r>
            <a:endParaRPr lang="en-US" sz="2625" dirty="0"/>
          </a:p>
        </p:txBody>
      </p:sp>
      <p:sp>
        <p:nvSpPr>
          <p:cNvPr id="34" name="Text 32"/>
          <p:cNvSpPr/>
          <p:nvPr/>
        </p:nvSpPr>
        <p:spPr>
          <a:xfrm>
            <a:off x="10953083" y="7744420"/>
            <a:ext cx="3061526" cy="541020"/>
          </a:xfrm>
          <a:prstGeom prst="rect">
            <a:avLst/>
          </a:prstGeom>
          <a:noFill/>
          <a:ln/>
        </p:spPr>
        <p:txBody>
          <a:bodyPr wrap="square" lIns="25400" tIns="25400" rIns="25400" bIns="25400" rtlCol="0" anchor="t">
            <a:normAutofit/>
          </a:bodyPr>
          <a:lstStyle/>
          <a:p>
            <a:pPr marL="0" indent="0" algn="r">
              <a:buNone/>
            </a:pPr>
            <a:r>
              <a:rPr lang="en-US" sz="2625" dirty="0">
                <a:solidFill>
                  <a:srgbClr val="54514A"/>
                </a:solidFill>
                <a:latin typeface="Georgia" pitchFamily="34" charset="0"/>
                <a:ea typeface="Georgia" pitchFamily="34" charset="-122"/>
                <a:cs typeface="Georgia" pitchFamily="34" charset="-120"/>
              </a:rPr>
              <a:t>—</a:t>
            </a:r>
            <a:endParaRPr lang="en-US" sz="2625" dirty="0"/>
          </a:p>
        </p:txBody>
      </p:sp>
      <p:sp>
        <p:nvSpPr>
          <p:cNvPr id="35" name="Text 33"/>
          <p:cNvSpPr/>
          <p:nvPr/>
        </p:nvSpPr>
        <p:spPr>
          <a:xfrm>
            <a:off x="13680614" y="7885390"/>
            <a:ext cx="3673935" cy="259080"/>
          </a:xfrm>
          <a:prstGeom prst="rect">
            <a:avLst/>
          </a:prstGeom>
          <a:noFill/>
          <a:ln/>
        </p:spPr>
        <p:txBody>
          <a:bodyPr wrap="square" lIns="25400" tIns="25400" rIns="25400" bIns="25400" rtlCol="0" anchor="t">
            <a:normAutofit/>
          </a:bodyPr>
          <a:lstStyle/>
          <a:p>
            <a:pPr marL="0" indent="0" algn="r">
              <a:buNone/>
            </a:pPr>
            <a:r>
              <a:rPr lang="en-US" sz="1350" dirty="0">
                <a:solidFill>
                  <a:srgbClr val="A8432E"/>
                </a:solidFill>
                <a:latin typeface="Courier New" pitchFamily="34" charset="0"/>
                <a:ea typeface="Courier New" pitchFamily="34" charset="-122"/>
                <a:cs typeface="Courier New" pitchFamily="34" charset="-120"/>
              </a:rPr>
              <a:t>cost + hallucination</a:t>
            </a:r>
            <a:endParaRPr lang="en-US" sz="1350" dirty="0"/>
          </a:p>
        </p:txBody>
      </p:sp>
      <p:sp>
        <p:nvSpPr>
          <p:cNvPr id="36" name="Text 34"/>
          <p:cNvSpPr/>
          <p:nvPr/>
        </p:nvSpPr>
        <p:spPr>
          <a:xfrm>
            <a:off x="876300" y="9372600"/>
            <a:ext cx="18188940" cy="4191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54514A"/>
                </a:solidFill>
                <a:latin typeface="Georgia" pitchFamily="34" charset="0"/>
                <a:ea typeface="Georgia" pitchFamily="34" charset="-122"/>
                <a:cs typeface="Georgia" pitchFamily="34" charset="-120"/>
              </a:rPr>
              <a:t>For infrastructure time-series, </a:t>
            </a:r>
            <a:r>
              <a:rPr lang="en-US" sz="2100" b="1" dirty="0">
                <a:solidFill>
                  <a:srgbClr val="1B1B19"/>
                </a:solidFill>
                <a:latin typeface="Georgia" pitchFamily="34" charset="0"/>
                <a:ea typeface="Georgia" pitchFamily="34" charset="-122"/>
                <a:cs typeface="Georgia" pitchFamily="34" charset="-120"/>
              </a:rPr>
              <a:t>exact math beats generated text </a:t>
            </a:r>
            <a:r>
              <a:rPr lang="en-US" sz="2100" dirty="0">
                <a:solidFill>
                  <a:srgbClr val="54514A"/>
                </a:solidFill>
                <a:latin typeface="Georgia" pitchFamily="34" charset="0"/>
                <a:ea typeface="Georgia" pitchFamily="34" charset="-122"/>
                <a:cs typeface="Georgia" pitchFamily="34" charset="-120"/>
              </a:rPr>
              <a:t>— a 4σ breach is a sentence any engineer can defend. </a:t>
            </a:r>
            <a:r>
              <a:rPr lang="en-US" sz="1350" dirty="0">
                <a:solidFill>
                  <a:srgbClr val="A29E92"/>
                </a:solidFill>
                <a:latin typeface="Courier New" pitchFamily="34" charset="0"/>
                <a:ea typeface="Courier New" pitchFamily="34" charset="-122"/>
                <a:cs typeface="Courier New" pitchFamily="34" charset="-120"/>
              </a:rPr>
              <a:t>ADR-001 · ADR-004</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07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07</a:t>
            </a:r>
            <a:endParaRPr lang="en-US" sz="1725" dirty="0"/>
          </a:p>
        </p:txBody>
      </p:sp>
      <p:sp>
        <p:nvSpPr>
          <p:cNvPr id="6" name="Text 4"/>
          <p:cNvSpPr/>
          <p:nvPr/>
        </p:nvSpPr>
        <p:spPr>
          <a:xfrm>
            <a:off x="1329690" y="1184910"/>
            <a:ext cx="5453539"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System architecture</a:t>
            </a:r>
            <a:endParaRPr lang="en-US" sz="4500" dirty="0"/>
          </a:p>
        </p:txBody>
      </p:sp>
      <p:sp>
        <p:nvSpPr>
          <p:cNvPr id="7" name="Text 5"/>
          <p:cNvSpPr/>
          <p:nvPr/>
        </p:nvSpPr>
        <p:spPr>
          <a:xfrm>
            <a:off x="12672060" y="1337310"/>
            <a:ext cx="5213604" cy="304800"/>
          </a:xfrm>
          <a:prstGeom prst="rect">
            <a:avLst/>
          </a:prstGeom>
          <a:noFill/>
          <a:ln/>
        </p:spPr>
        <p:txBody>
          <a:bodyPr wrap="square" lIns="25400" tIns="25400" rIns="25400" bIns="25400" rtlCol="0" anchor="t">
            <a:normAutofit lnSpcReduction="10000"/>
          </a:bodyPr>
          <a:lstStyle/>
          <a:p>
            <a:pPr marL="0" indent="0" algn="l">
              <a:buNone/>
            </a:pPr>
            <a:r>
              <a:rPr lang="en-US" sz="1800" i="1" dirty="0">
                <a:solidFill>
                  <a:srgbClr val="7A766C"/>
                </a:solidFill>
                <a:latin typeface="Georgia" pitchFamily="34" charset="0"/>
                <a:ea typeface="Georgia" pitchFamily="34" charset="-122"/>
                <a:cs typeface="Georgia" pitchFamily="34" charset="-120"/>
              </a:rPr>
              <a:t>Fig. 4 — Stateless, one-directional request path</a:t>
            </a:r>
            <a:endParaRPr lang="en-US" sz="1800" dirty="0"/>
          </a:p>
        </p:txBody>
      </p:sp>
      <p:sp>
        <p:nvSpPr>
          <p:cNvPr id="8" name="Shape 6"/>
          <p:cNvSpPr/>
          <p:nvPr/>
        </p:nvSpPr>
        <p:spPr>
          <a:xfrm>
            <a:off x="876300" y="2042160"/>
            <a:ext cx="3581281" cy="3840480"/>
          </a:xfrm>
          <a:prstGeom prst="roundRect">
            <a:avLst>
              <a:gd name="adj" fmla="val 1596"/>
            </a:avLst>
          </a:prstGeom>
          <a:solidFill>
            <a:srgbClr val="F0F2EE"/>
          </a:solidFill>
          <a:ln w="15240">
            <a:solidFill>
              <a:srgbClr val="1F5061"/>
            </a:solidFill>
            <a:prstDash val="solid"/>
          </a:ln>
        </p:spPr>
      </p:sp>
      <p:sp>
        <p:nvSpPr>
          <p:cNvPr id="9" name="Text 7"/>
          <p:cNvSpPr/>
          <p:nvPr/>
        </p:nvSpPr>
        <p:spPr>
          <a:xfrm>
            <a:off x="1120140" y="2305050"/>
            <a:ext cx="3402961" cy="243840"/>
          </a:xfrm>
          <a:prstGeom prst="rect">
            <a:avLst/>
          </a:prstGeom>
          <a:noFill/>
          <a:ln/>
        </p:spPr>
        <p:txBody>
          <a:bodyPr wrap="square" lIns="25400" tIns="25400" rIns="25400" bIns="25400" rtlCol="0" anchor="t">
            <a:normAutofit/>
          </a:bodyPr>
          <a:lstStyle/>
          <a:p>
            <a:pPr marL="0" indent="0" algn="l">
              <a:buNone/>
            </a:pPr>
            <a:r>
              <a:rPr lang="en-US" sz="1200" kern="0" spc="96" dirty="0">
                <a:solidFill>
                  <a:srgbClr val="1F5061"/>
                </a:solidFill>
                <a:latin typeface="Courier New" pitchFamily="34" charset="0"/>
                <a:ea typeface="Courier New" pitchFamily="34" charset="-122"/>
                <a:cs typeface="Courier New" pitchFamily="34" charset="-120"/>
              </a:rPr>
              <a:t>CDO PLATFORM</a:t>
            </a:r>
            <a:endParaRPr lang="en-US" sz="1200" dirty="0"/>
          </a:p>
        </p:txBody>
      </p:sp>
      <p:sp>
        <p:nvSpPr>
          <p:cNvPr id="10" name="Text 8"/>
          <p:cNvSpPr/>
          <p:nvPr/>
        </p:nvSpPr>
        <p:spPr>
          <a:xfrm>
            <a:off x="1120140" y="2606040"/>
            <a:ext cx="3402961" cy="336709"/>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2100" b="1" dirty="0">
                <a:solidFill>
                  <a:srgbClr val="1B1B19"/>
                </a:solidFill>
                <a:latin typeface="Georgia" pitchFamily="34" charset="0"/>
                <a:ea typeface="Georgia" pitchFamily="34" charset="-122"/>
                <a:cs typeface="Georgia" pitchFamily="34" charset="-120"/>
              </a:rPr>
              <a:t>Prometheus push</a:t>
            </a:r>
            <a:endParaRPr lang="en-US" sz="2100" dirty="0"/>
          </a:p>
        </p:txBody>
      </p:sp>
      <p:sp>
        <p:nvSpPr>
          <p:cNvPr id="11" name="Text 9"/>
          <p:cNvSpPr/>
          <p:nvPr/>
        </p:nvSpPr>
        <p:spPr>
          <a:xfrm>
            <a:off x="1120140" y="2999899"/>
            <a:ext cx="3402961"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6E6C64"/>
                </a:solidFill>
                <a:latin typeface="Arial" pitchFamily="34" charset="0"/>
                <a:ea typeface="Arial" pitchFamily="34" charset="-122"/>
                <a:cs typeface="Arial" pitchFamily="34" charset="-120"/>
              </a:rPr>
              <a:t>120-min signal window, per service</a:t>
            </a:r>
            <a:endParaRPr lang="en-US" sz="1500" dirty="0"/>
          </a:p>
        </p:txBody>
      </p:sp>
      <p:sp>
        <p:nvSpPr>
          <p:cNvPr id="12" name="Text 10"/>
          <p:cNvSpPr/>
          <p:nvPr/>
        </p:nvSpPr>
        <p:spPr>
          <a:xfrm>
            <a:off x="1120140" y="5414010"/>
            <a:ext cx="3186409" cy="243840"/>
          </a:xfrm>
          <a:prstGeom prst="rect">
            <a:avLst/>
          </a:prstGeom>
          <a:noFill/>
          <a:ln/>
        </p:spPr>
        <p:txBody>
          <a:bodyPr wrap="square" lIns="25400" tIns="25400" rIns="25400" bIns="25400" rtlCol="0" anchor="t">
            <a:normAutofit/>
          </a:bodyPr>
          <a:lstStyle/>
          <a:p>
            <a:pPr marL="0" indent="0" algn="l">
              <a:buNone/>
            </a:pPr>
            <a:r>
              <a:rPr lang="en-US" sz="1200" dirty="0">
                <a:solidFill>
                  <a:srgbClr val="8C887C"/>
                </a:solidFill>
                <a:latin typeface="Courier New" pitchFamily="34" charset="0"/>
                <a:ea typeface="Courier New" pitchFamily="34" charset="-122"/>
                <a:cs typeface="Courier New" pitchFamily="34" charset="-120"/>
              </a:rPr>
              <a:t>7 gauges · 1-min</a:t>
            </a:r>
            <a:endParaRPr lang="en-US" sz="1200" dirty="0"/>
          </a:p>
        </p:txBody>
      </p:sp>
      <p:sp>
        <p:nvSpPr>
          <p:cNvPr id="13" name="Text 11"/>
          <p:cNvSpPr/>
          <p:nvPr/>
        </p:nvSpPr>
        <p:spPr>
          <a:xfrm>
            <a:off x="4609981" y="3716655"/>
            <a:ext cx="1609344" cy="243840"/>
          </a:xfrm>
          <a:prstGeom prst="rect">
            <a:avLst/>
          </a:prstGeom>
          <a:noFill/>
          <a:ln/>
        </p:spPr>
        <p:txBody>
          <a:bodyPr wrap="none" lIns="25400" tIns="25400" rIns="25400" bIns="25400" rtlCol="0" anchor="t">
            <a:normAutofit/>
          </a:bodyPr>
          <a:lstStyle/>
          <a:p>
            <a:pPr marL="0" indent="0" algn="l">
              <a:buNone/>
            </a:pPr>
            <a:r>
              <a:rPr lang="en-US" sz="1200" dirty="0">
                <a:solidFill>
                  <a:srgbClr val="1F5061"/>
                </a:solidFill>
                <a:latin typeface="Courier New" pitchFamily="34" charset="0"/>
                <a:ea typeface="Courier New" pitchFamily="34" charset="-122"/>
                <a:cs typeface="Courier New" pitchFamily="34" charset="-120"/>
              </a:rPr>
              <a:t>POST /v1/predict</a:t>
            </a:r>
            <a:endParaRPr lang="en-US" sz="1200" dirty="0"/>
          </a:p>
        </p:txBody>
      </p:sp>
      <p:sp>
        <p:nvSpPr>
          <p:cNvPr id="14" name="Text 12"/>
          <p:cNvSpPr/>
          <p:nvPr/>
        </p:nvSpPr>
        <p:spPr>
          <a:xfrm>
            <a:off x="5218152" y="3922395"/>
            <a:ext cx="322778" cy="3238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250" dirty="0">
                <a:solidFill>
                  <a:srgbClr val="1F5061"/>
                </a:solidFill>
                <a:latin typeface="Arial" pitchFamily="34" charset="0"/>
                <a:ea typeface="Arial" pitchFamily="34" charset="-122"/>
                <a:cs typeface="Arial" pitchFamily="34" charset="-120"/>
              </a:rPr>
              <a:t>→</a:t>
            </a:r>
            <a:endParaRPr lang="en-US" sz="2250" dirty="0"/>
          </a:p>
        </p:txBody>
      </p:sp>
      <p:sp>
        <p:nvSpPr>
          <p:cNvPr id="15" name="Shape 13"/>
          <p:cNvSpPr/>
          <p:nvPr/>
        </p:nvSpPr>
        <p:spPr>
          <a:xfrm>
            <a:off x="6225421" y="2042160"/>
            <a:ext cx="11186279" cy="3750588"/>
          </a:xfrm>
          <a:prstGeom prst="roundRect">
            <a:avLst>
              <a:gd name="adj" fmla="val 1984"/>
            </a:avLst>
          </a:prstGeom>
          <a:ln w="15240">
            <a:solidFill>
              <a:srgbClr val="BBB5A6"/>
            </a:solidFill>
            <a:prstDash val="dash"/>
          </a:ln>
        </p:spPr>
      </p:sp>
      <p:sp>
        <p:nvSpPr>
          <p:cNvPr id="16" name="Text 14"/>
          <p:cNvSpPr/>
          <p:nvPr/>
        </p:nvSpPr>
        <p:spPr>
          <a:xfrm>
            <a:off x="6450211" y="2228850"/>
            <a:ext cx="11810369" cy="220980"/>
          </a:xfrm>
          <a:prstGeom prst="rect">
            <a:avLst/>
          </a:prstGeom>
          <a:noFill/>
          <a:ln/>
        </p:spPr>
        <p:txBody>
          <a:bodyPr wrap="square" lIns="25400" tIns="25400" rIns="25400" bIns="25400" rtlCol="0" anchor="t">
            <a:normAutofit lnSpcReduction="10000"/>
          </a:bodyPr>
          <a:lstStyle/>
          <a:p>
            <a:pPr marL="0" indent="0" algn="l">
              <a:buNone/>
            </a:pPr>
            <a:r>
              <a:rPr lang="en-US" sz="1125" kern="0" spc="113" dirty="0">
                <a:solidFill>
                  <a:srgbClr val="8C887C"/>
                </a:solidFill>
                <a:latin typeface="Courier New" pitchFamily="34" charset="0"/>
                <a:ea typeface="Courier New" pitchFamily="34" charset="-122"/>
                <a:cs typeface="Courier New" pitchFamily="34" charset="-120"/>
              </a:rPr>
              <a:t>AWS · STATELESS ECS FARGATE · min 2 / max 4 · internal ALB</a:t>
            </a:r>
            <a:endParaRPr lang="en-US" sz="1125" dirty="0"/>
          </a:p>
        </p:txBody>
      </p:sp>
      <p:sp>
        <p:nvSpPr>
          <p:cNvPr id="17" name="Shape 15"/>
          <p:cNvSpPr/>
          <p:nvPr/>
        </p:nvSpPr>
        <p:spPr>
          <a:xfrm>
            <a:off x="6450211" y="2545080"/>
            <a:ext cx="3278862" cy="3150870"/>
          </a:xfrm>
          <a:prstGeom prst="roundRect">
            <a:avLst>
              <a:gd name="adj" fmla="val 1814"/>
            </a:avLst>
          </a:prstGeom>
          <a:solidFill>
            <a:srgbClr val="FCFBF6"/>
          </a:solidFill>
          <a:ln w="7620">
            <a:solidFill>
              <a:srgbClr val="D8D2C4"/>
            </a:solidFill>
            <a:prstDash val="solid"/>
          </a:ln>
        </p:spPr>
      </p:sp>
      <p:sp>
        <p:nvSpPr>
          <p:cNvPr id="18" name="Text 16"/>
          <p:cNvSpPr/>
          <p:nvPr/>
        </p:nvSpPr>
        <p:spPr>
          <a:xfrm>
            <a:off x="6629281" y="2743200"/>
            <a:ext cx="321279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B1B19"/>
                </a:solidFill>
                <a:latin typeface="Georgia" pitchFamily="34" charset="0"/>
                <a:ea typeface="Georgia" pitchFamily="34" charset="-122"/>
                <a:cs typeface="Georgia" pitchFamily="34" charset="-120"/>
              </a:rPr>
              <a:t>API &amp; Routing</a:t>
            </a:r>
            <a:endParaRPr lang="en-US" sz="1800" dirty="0"/>
          </a:p>
        </p:txBody>
      </p:sp>
      <p:sp>
        <p:nvSpPr>
          <p:cNvPr id="19" name="Text 17"/>
          <p:cNvSpPr/>
          <p:nvPr/>
        </p:nvSpPr>
        <p:spPr>
          <a:xfrm>
            <a:off x="6629281" y="3086100"/>
            <a:ext cx="3008344" cy="2449830"/>
          </a:xfrm>
          <a:prstGeom prst="rect">
            <a:avLst/>
          </a:prstGeom>
          <a:noFill/>
          <a:ln/>
        </p:spPr>
        <p:txBody>
          <a:bodyPr wrap="square" lIns="25400" tIns="25400" rIns="25400" bIns="25400" rtlCol="0" anchor="t">
            <a:normAutofit/>
          </a:bodyPr>
          <a:lstStyle/>
          <a:p>
            <a:pPr marL="0" indent="0" algn="l">
              <a:lnSpc>
                <a:spcPct val="132000"/>
              </a:lnSpc>
              <a:buNone/>
            </a:pPr>
            <a:r>
              <a:rPr lang="en-US" sz="1425" dirty="0">
                <a:solidFill>
                  <a:srgbClr val="6E6C64"/>
                </a:solidFill>
                <a:latin typeface="Arial" pitchFamily="34" charset="0"/>
                <a:ea typeface="Arial" pitchFamily="34" charset="-122"/>
                <a:cs typeface="Arial" pitchFamily="34" charset="-120"/>
              </a:rPr>
              <a:t>FastAPI · Pydantic validation · X-Tenant-Id</a:t>
            </a:r>
            <a:endParaRPr lang="en-US" sz="1425" dirty="0"/>
          </a:p>
        </p:txBody>
      </p:sp>
      <p:sp>
        <p:nvSpPr>
          <p:cNvPr id="20" name="Text 18"/>
          <p:cNvSpPr/>
          <p:nvPr/>
        </p:nvSpPr>
        <p:spPr>
          <a:xfrm>
            <a:off x="9843374" y="2545080"/>
            <a:ext cx="289917" cy="3188970"/>
          </a:xfrm>
          <a:prstGeom prst="rect">
            <a:avLst/>
          </a:prstGeom>
          <a:noFill/>
          <a:ln/>
        </p:spPr>
        <p:txBody>
          <a:bodyPr wrap="square" lIns="25400" tIns="25400" rIns="25400" bIns="25400" rtlCol="0" anchor="ctr">
            <a:normAutofit/>
          </a:bodyPr>
          <a:lstStyle/>
          <a:p>
            <a:pPr marL="0" indent="0" algn="l">
              <a:buNone/>
            </a:pPr>
            <a:r>
              <a:rPr lang="en-US" sz="1950" dirty="0">
                <a:solidFill>
                  <a:srgbClr val="1F5061"/>
                </a:solidFill>
                <a:latin typeface="Arial" pitchFamily="34" charset="0"/>
                <a:ea typeface="Arial" pitchFamily="34" charset="-122"/>
                <a:cs typeface="Arial" pitchFamily="34" charset="-120"/>
              </a:rPr>
              <a:t>→</a:t>
            </a:r>
            <a:endParaRPr lang="en-US" sz="1950" dirty="0"/>
          </a:p>
        </p:txBody>
      </p:sp>
      <p:sp>
        <p:nvSpPr>
          <p:cNvPr id="21" name="Shape 19"/>
          <p:cNvSpPr/>
          <p:nvPr/>
        </p:nvSpPr>
        <p:spPr>
          <a:xfrm>
            <a:off x="10171391" y="2545080"/>
            <a:ext cx="3294221" cy="3150870"/>
          </a:xfrm>
          <a:prstGeom prst="roundRect">
            <a:avLst>
              <a:gd name="adj" fmla="val 1814"/>
            </a:avLst>
          </a:prstGeom>
          <a:solidFill>
            <a:srgbClr val="F0F2EE"/>
          </a:solidFill>
          <a:ln w="15240">
            <a:solidFill>
              <a:srgbClr val="1F5061"/>
            </a:solidFill>
            <a:prstDash val="solid"/>
          </a:ln>
        </p:spPr>
      </p:sp>
      <p:sp>
        <p:nvSpPr>
          <p:cNvPr id="22" name="Text 20"/>
          <p:cNvSpPr/>
          <p:nvPr/>
        </p:nvSpPr>
        <p:spPr>
          <a:xfrm>
            <a:off x="10358081" y="2750820"/>
            <a:ext cx="32129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F5061"/>
                </a:solidFill>
                <a:latin typeface="Georgia" pitchFamily="34" charset="0"/>
                <a:ea typeface="Georgia" pitchFamily="34" charset="-122"/>
                <a:cs typeface="Georgia" pitchFamily="34" charset="-120"/>
              </a:rPr>
              <a:t>Anomaly engine</a:t>
            </a:r>
            <a:endParaRPr lang="en-US" sz="1800" dirty="0"/>
          </a:p>
        </p:txBody>
      </p:sp>
      <p:sp>
        <p:nvSpPr>
          <p:cNvPr id="23" name="Text 21"/>
          <p:cNvSpPr/>
          <p:nvPr/>
        </p:nvSpPr>
        <p:spPr>
          <a:xfrm>
            <a:off x="10358081" y="3093720"/>
            <a:ext cx="3008466" cy="2434590"/>
          </a:xfrm>
          <a:prstGeom prst="rect">
            <a:avLst/>
          </a:prstGeom>
          <a:noFill/>
          <a:ln/>
        </p:spPr>
        <p:txBody>
          <a:bodyPr wrap="square" lIns="25400" tIns="25400" rIns="25400" bIns="25400" rtlCol="0" anchor="t">
            <a:normAutofit/>
          </a:bodyPr>
          <a:lstStyle/>
          <a:p>
            <a:pPr marL="0" indent="0" algn="l">
              <a:lnSpc>
                <a:spcPct val="132000"/>
              </a:lnSpc>
              <a:buNone/>
            </a:pPr>
            <a:r>
              <a:rPr lang="en-US" sz="1425" dirty="0">
                <a:solidFill>
                  <a:srgbClr val="6E6C64"/>
                </a:solidFill>
                <a:latin typeface="Arial" pitchFamily="34" charset="0"/>
                <a:ea typeface="Arial" pitchFamily="34" charset="-122"/>
                <a:cs typeface="Arial" pitchFamily="34" charset="-120"/>
              </a:rPr>
              <a:t>STL baseline + EWMA control chart</a:t>
            </a:r>
            <a:endParaRPr lang="en-US" sz="1425" dirty="0"/>
          </a:p>
        </p:txBody>
      </p:sp>
      <p:sp>
        <p:nvSpPr>
          <p:cNvPr id="24" name="Text 22"/>
          <p:cNvSpPr/>
          <p:nvPr/>
        </p:nvSpPr>
        <p:spPr>
          <a:xfrm>
            <a:off x="13579912" y="2545080"/>
            <a:ext cx="289917" cy="3188970"/>
          </a:xfrm>
          <a:prstGeom prst="rect">
            <a:avLst/>
          </a:prstGeom>
          <a:noFill/>
          <a:ln/>
        </p:spPr>
        <p:txBody>
          <a:bodyPr wrap="square" lIns="25400" tIns="25400" rIns="25400" bIns="25400" rtlCol="0" anchor="ctr">
            <a:normAutofit/>
          </a:bodyPr>
          <a:lstStyle/>
          <a:p>
            <a:pPr marL="0" indent="0" algn="l">
              <a:buNone/>
            </a:pPr>
            <a:r>
              <a:rPr lang="en-US" sz="1950" dirty="0">
                <a:solidFill>
                  <a:srgbClr val="1F5061"/>
                </a:solidFill>
                <a:latin typeface="Arial" pitchFamily="34" charset="0"/>
                <a:ea typeface="Arial" pitchFamily="34" charset="-122"/>
                <a:cs typeface="Arial" pitchFamily="34" charset="-120"/>
              </a:rPr>
              <a:t>→</a:t>
            </a:r>
            <a:endParaRPr lang="en-US" sz="1950" dirty="0"/>
          </a:p>
        </p:txBody>
      </p:sp>
      <p:sp>
        <p:nvSpPr>
          <p:cNvPr id="25" name="Shape 23"/>
          <p:cNvSpPr/>
          <p:nvPr/>
        </p:nvSpPr>
        <p:spPr>
          <a:xfrm>
            <a:off x="13907929" y="2545080"/>
            <a:ext cx="3278981" cy="3150870"/>
          </a:xfrm>
          <a:prstGeom prst="roundRect">
            <a:avLst>
              <a:gd name="adj" fmla="val 1814"/>
            </a:avLst>
          </a:prstGeom>
          <a:solidFill>
            <a:srgbClr val="FCFBF6"/>
          </a:solidFill>
          <a:ln w="7620">
            <a:solidFill>
              <a:srgbClr val="D8D2C4"/>
            </a:solidFill>
            <a:prstDash val="solid"/>
          </a:ln>
        </p:spPr>
      </p:sp>
      <p:sp>
        <p:nvSpPr>
          <p:cNvPr id="26" name="Text 24"/>
          <p:cNvSpPr/>
          <p:nvPr/>
        </p:nvSpPr>
        <p:spPr>
          <a:xfrm>
            <a:off x="14086999" y="2743200"/>
            <a:ext cx="32129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B1B19"/>
                </a:solidFill>
                <a:latin typeface="Georgia" pitchFamily="34" charset="0"/>
                <a:ea typeface="Georgia" pitchFamily="34" charset="-122"/>
                <a:cs typeface="Georgia" pitchFamily="34" charset="-120"/>
              </a:rPr>
              <a:t>Decision router</a:t>
            </a:r>
            <a:endParaRPr lang="en-US" sz="1800" dirty="0"/>
          </a:p>
        </p:txBody>
      </p:sp>
      <p:sp>
        <p:nvSpPr>
          <p:cNvPr id="27" name="Text 25"/>
          <p:cNvSpPr/>
          <p:nvPr/>
        </p:nvSpPr>
        <p:spPr>
          <a:xfrm>
            <a:off x="14086999" y="3086100"/>
            <a:ext cx="3008466" cy="2449830"/>
          </a:xfrm>
          <a:prstGeom prst="rect">
            <a:avLst/>
          </a:prstGeom>
          <a:noFill/>
          <a:ln/>
        </p:spPr>
        <p:txBody>
          <a:bodyPr wrap="square" lIns="25400" tIns="25400" rIns="25400" bIns="25400" rtlCol="0" anchor="t">
            <a:normAutofit/>
          </a:bodyPr>
          <a:lstStyle/>
          <a:p>
            <a:pPr marL="0" indent="0" algn="l">
              <a:lnSpc>
                <a:spcPct val="132000"/>
              </a:lnSpc>
              <a:buNone/>
            </a:pPr>
            <a:r>
              <a:rPr lang="en-US" sz="1425" dirty="0">
                <a:solidFill>
                  <a:srgbClr val="6E6C64"/>
                </a:solidFill>
                <a:latin typeface="Arial" pitchFamily="34" charset="0"/>
                <a:ea typeface="Arial" pitchFamily="34" charset="-122"/>
                <a:cs typeface="Arial" pitchFamily="34" charset="-120"/>
              </a:rPr>
              <a:t>confidence gate ≥ 0.7 → verb</a:t>
            </a:r>
            <a:endParaRPr lang="en-US" sz="1425" dirty="0"/>
          </a:p>
        </p:txBody>
      </p:sp>
      <p:sp>
        <p:nvSpPr>
          <p:cNvPr id="28" name="Shape 26"/>
          <p:cNvSpPr/>
          <p:nvPr/>
        </p:nvSpPr>
        <p:spPr>
          <a:xfrm>
            <a:off x="4574977" y="5882640"/>
            <a:ext cx="6214943" cy="1957507"/>
          </a:xfrm>
          <a:prstGeom prst="roundRect">
            <a:avLst>
              <a:gd name="adj" fmla="val 2714"/>
            </a:avLst>
          </a:prstGeom>
          <a:solidFill>
            <a:srgbClr val="FCFBF6"/>
          </a:solidFill>
          <a:ln w="7620">
            <a:solidFill>
              <a:srgbClr val="D8D2C4"/>
            </a:solidFill>
            <a:prstDash val="solid"/>
          </a:ln>
        </p:spPr>
      </p:sp>
      <p:sp>
        <p:nvSpPr>
          <p:cNvPr id="29" name="Shape 27"/>
          <p:cNvSpPr/>
          <p:nvPr/>
        </p:nvSpPr>
        <p:spPr>
          <a:xfrm>
            <a:off x="4792147" y="6764179"/>
            <a:ext cx="438150" cy="342900"/>
          </a:xfrm>
          <a:prstGeom prst="roundRect">
            <a:avLst>
              <a:gd name="adj" fmla="val 13889"/>
            </a:avLst>
          </a:prstGeom>
          <a:ln w="7620">
            <a:solidFill>
              <a:srgbClr val="E2C99A"/>
            </a:solidFill>
            <a:prstDash val="solid"/>
          </a:ln>
        </p:spPr>
      </p:sp>
      <p:sp>
        <p:nvSpPr>
          <p:cNvPr id="30" name="Text 28"/>
          <p:cNvSpPr/>
          <p:nvPr/>
        </p:nvSpPr>
        <p:spPr>
          <a:xfrm>
            <a:off x="4914067" y="6828949"/>
            <a:ext cx="270510" cy="251460"/>
          </a:xfrm>
          <a:prstGeom prst="rect">
            <a:avLst/>
          </a:prstGeom>
          <a:noFill/>
          <a:ln/>
        </p:spPr>
        <p:txBody>
          <a:bodyPr wrap="square" lIns="25400" tIns="25400" rIns="25400" bIns="25400" rtlCol="0" anchor="t">
            <a:normAutofit/>
          </a:bodyPr>
          <a:lstStyle/>
          <a:p>
            <a:pPr marL="0" indent="0" algn="l">
              <a:buNone/>
            </a:pPr>
            <a:r>
              <a:rPr lang="en-US" sz="1275" dirty="0">
                <a:solidFill>
                  <a:srgbClr val="B07D33"/>
                </a:solidFill>
                <a:latin typeface="Courier New" pitchFamily="34" charset="0"/>
                <a:ea typeface="Courier New" pitchFamily="34" charset="-122"/>
                <a:cs typeface="Courier New" pitchFamily="34" charset="-120"/>
              </a:rPr>
              <a:t>S3</a:t>
            </a:r>
            <a:endParaRPr lang="en-US" sz="1275" dirty="0"/>
          </a:p>
        </p:txBody>
      </p:sp>
      <p:sp>
        <p:nvSpPr>
          <p:cNvPr id="31" name="Text 29"/>
          <p:cNvSpPr/>
          <p:nvPr/>
        </p:nvSpPr>
        <p:spPr>
          <a:xfrm>
            <a:off x="5382696" y="6816566"/>
            <a:ext cx="4194274" cy="27622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500" dirty="0">
                <a:solidFill>
                  <a:srgbClr val="54514A"/>
                </a:solidFill>
                <a:latin typeface="Arial" pitchFamily="34" charset="0"/>
                <a:ea typeface="Arial" pitchFamily="34" charset="-122"/>
                <a:cs typeface="Arial" pitchFamily="34" charset="-120"/>
              </a:rPr>
              <a:t>per-service baselines (KMS) — read each request</a:t>
            </a:r>
            <a:endParaRPr lang="en-US" sz="1500" dirty="0"/>
          </a:p>
        </p:txBody>
      </p:sp>
      <p:sp>
        <p:nvSpPr>
          <p:cNvPr id="32" name="Shape 30"/>
          <p:cNvSpPr/>
          <p:nvPr/>
        </p:nvSpPr>
        <p:spPr>
          <a:xfrm>
            <a:off x="11069479" y="5882640"/>
            <a:ext cx="6214943" cy="1957507"/>
          </a:xfrm>
          <a:prstGeom prst="roundRect">
            <a:avLst>
              <a:gd name="adj" fmla="val 2714"/>
            </a:avLst>
          </a:prstGeom>
          <a:solidFill>
            <a:srgbClr val="FCFBF6"/>
          </a:solidFill>
          <a:ln w="7620">
            <a:solidFill>
              <a:srgbClr val="D8D2C4"/>
            </a:solidFill>
            <a:prstDash val="solid"/>
          </a:ln>
        </p:spPr>
      </p:sp>
      <p:sp>
        <p:nvSpPr>
          <p:cNvPr id="33" name="Shape 31"/>
          <p:cNvSpPr/>
          <p:nvPr/>
        </p:nvSpPr>
        <p:spPr>
          <a:xfrm>
            <a:off x="11286649" y="6764179"/>
            <a:ext cx="729615" cy="342900"/>
          </a:xfrm>
          <a:prstGeom prst="roundRect">
            <a:avLst>
              <a:gd name="adj" fmla="val 13889"/>
            </a:avLst>
          </a:prstGeom>
          <a:ln w="7620">
            <a:solidFill>
              <a:srgbClr val="E2C99A"/>
            </a:solidFill>
            <a:prstDash val="solid"/>
          </a:ln>
        </p:spPr>
      </p:sp>
      <p:sp>
        <p:nvSpPr>
          <p:cNvPr id="34" name="Text 32"/>
          <p:cNvSpPr/>
          <p:nvPr/>
        </p:nvSpPr>
        <p:spPr>
          <a:xfrm>
            <a:off x="11408569" y="6828949"/>
            <a:ext cx="561975" cy="251460"/>
          </a:xfrm>
          <a:prstGeom prst="rect">
            <a:avLst/>
          </a:prstGeom>
          <a:noFill/>
          <a:ln/>
        </p:spPr>
        <p:txBody>
          <a:bodyPr wrap="square" lIns="25400" tIns="25400" rIns="25400" bIns="25400" rtlCol="0" anchor="t">
            <a:normAutofit/>
          </a:bodyPr>
          <a:lstStyle/>
          <a:p>
            <a:pPr marL="0" indent="0" algn="l">
              <a:buNone/>
            </a:pPr>
            <a:r>
              <a:rPr lang="en-US" sz="1275" dirty="0">
                <a:solidFill>
                  <a:srgbClr val="B07D33"/>
                </a:solidFill>
                <a:latin typeface="Courier New" pitchFamily="34" charset="0"/>
                <a:ea typeface="Courier New" pitchFamily="34" charset="-122"/>
                <a:cs typeface="Courier New" pitchFamily="34" charset="-120"/>
              </a:rPr>
              <a:t>AUDIT</a:t>
            </a:r>
            <a:endParaRPr lang="en-US" sz="1275" dirty="0"/>
          </a:p>
        </p:txBody>
      </p:sp>
      <p:sp>
        <p:nvSpPr>
          <p:cNvPr id="35" name="Text 33"/>
          <p:cNvSpPr/>
          <p:nvPr/>
        </p:nvSpPr>
        <p:spPr>
          <a:xfrm>
            <a:off x="12168664" y="6816566"/>
            <a:ext cx="3408986" cy="27622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500" dirty="0">
                <a:solidFill>
                  <a:srgbClr val="54514A"/>
                </a:solidFill>
                <a:latin typeface="Arial" pitchFamily="34" charset="0"/>
                <a:ea typeface="Arial" pitchFamily="34" charset="-122"/>
                <a:cs typeface="Arial" pitchFamily="34" charset="-120"/>
              </a:rPr>
              <a:t>SHA-256 input hash → CloudWatch / S3</a:t>
            </a:r>
            <a:endParaRPr lang="en-US" sz="1500" dirty="0"/>
          </a:p>
        </p:txBody>
      </p:sp>
      <p:sp>
        <p:nvSpPr>
          <p:cNvPr id="36" name="Shape 34"/>
          <p:cNvSpPr/>
          <p:nvPr/>
        </p:nvSpPr>
        <p:spPr>
          <a:xfrm>
            <a:off x="876300" y="7988737"/>
            <a:ext cx="16535400" cy="1764863"/>
          </a:xfrm>
          <a:prstGeom prst="roundRect">
            <a:avLst>
              <a:gd name="adj" fmla="val 3238"/>
            </a:avLst>
          </a:prstGeom>
          <a:solidFill>
            <a:srgbClr val="F1EEE4"/>
          </a:solidFill>
          <a:ln w="15240">
            <a:solidFill>
              <a:srgbClr val="1B1B19"/>
            </a:solidFill>
            <a:prstDash val="solid"/>
          </a:ln>
        </p:spPr>
      </p:sp>
      <p:sp>
        <p:nvSpPr>
          <p:cNvPr id="37" name="Text 35"/>
          <p:cNvSpPr/>
          <p:nvPr/>
        </p:nvSpPr>
        <p:spPr>
          <a:xfrm>
            <a:off x="1158240" y="8760619"/>
            <a:ext cx="1982212" cy="259080"/>
          </a:xfrm>
          <a:prstGeom prst="rect">
            <a:avLst/>
          </a:prstGeom>
          <a:noFill/>
          <a:ln/>
        </p:spPr>
        <p:txBody>
          <a:bodyPr wrap="square" lIns="25400" tIns="25400" rIns="25400" bIns="25400" rtlCol="0" anchor="t">
            <a:normAutofit/>
          </a:bodyPr>
          <a:lstStyle/>
          <a:p>
            <a:pPr marL="0" indent="0" algn="l">
              <a:buNone/>
            </a:pPr>
            <a:r>
              <a:rPr lang="en-US" sz="1350" kern="0" spc="81" dirty="0">
                <a:solidFill>
                  <a:srgbClr val="1F5061"/>
                </a:solidFill>
                <a:latin typeface="Courier New" pitchFamily="34" charset="0"/>
                <a:ea typeface="Courier New" pitchFamily="34" charset="-122"/>
                <a:cs typeface="Courier New" pitchFamily="34" charset="-120"/>
              </a:rPr>
              <a:t>← RECOMMENDATION</a:t>
            </a:r>
            <a:endParaRPr lang="en-US" sz="1350" dirty="0"/>
          </a:p>
        </p:txBody>
      </p:sp>
      <p:sp>
        <p:nvSpPr>
          <p:cNvPr id="38" name="Text 36"/>
          <p:cNvSpPr/>
          <p:nvPr/>
        </p:nvSpPr>
        <p:spPr>
          <a:xfrm>
            <a:off x="3150751" y="8707279"/>
            <a:ext cx="6848356" cy="365760"/>
          </a:xfrm>
          <a:prstGeom prst="rect">
            <a:avLst/>
          </a:prstGeom>
          <a:noFill/>
          <a:ln/>
        </p:spPr>
        <p:txBody>
          <a:bodyPr wrap="square" lIns="25400" tIns="25400" rIns="25400" bIns="25400" rtlCol="0" anchor="t">
            <a:normAutofit/>
          </a:bodyPr>
          <a:lstStyle/>
          <a:p>
            <a:pPr marL="0" indent="0" algn="l">
              <a:buNone/>
            </a:pPr>
            <a:r>
              <a:rPr lang="en-US" sz="1725" dirty="0">
                <a:solidFill>
                  <a:srgbClr val="33322D"/>
                </a:solidFill>
                <a:latin typeface="Georgia" pitchFamily="34" charset="0"/>
                <a:ea typeface="Georgia" pitchFamily="34" charset="-122"/>
                <a:cs typeface="Georgia" pitchFamily="34" charset="-120"/>
              </a:rPr>
              <a:t>JSON: action_verb · target · confidence · evidence_link · audit_id</a:t>
            </a:r>
            <a:endParaRPr lang="en-US" sz="1725" dirty="0"/>
          </a:p>
        </p:txBody>
      </p:sp>
      <p:sp>
        <p:nvSpPr>
          <p:cNvPr id="39" name="Text 37"/>
          <p:cNvSpPr/>
          <p:nvPr/>
        </p:nvSpPr>
        <p:spPr>
          <a:xfrm>
            <a:off x="14455140" y="8760619"/>
            <a:ext cx="2942082"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F5061"/>
                </a:solidFill>
                <a:latin typeface="Courier New" pitchFamily="34" charset="0"/>
                <a:ea typeface="Courier New" pitchFamily="34" charset="-122"/>
                <a:cs typeface="Courier New" pitchFamily="34" charset="-120"/>
              </a:rPr>
              <a:t>SRE = manual approval gate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08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08</a:t>
            </a:r>
            <a:endParaRPr lang="en-US" sz="1725" dirty="0"/>
          </a:p>
        </p:txBody>
      </p:sp>
      <p:sp>
        <p:nvSpPr>
          <p:cNvPr id="6" name="Text 4"/>
          <p:cNvSpPr/>
          <p:nvPr/>
        </p:nvSpPr>
        <p:spPr>
          <a:xfrm>
            <a:off x="1329690" y="1184910"/>
            <a:ext cx="6304181"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Three signed contracts</a:t>
            </a:r>
            <a:endParaRPr lang="en-US" sz="4500" dirty="0"/>
          </a:p>
        </p:txBody>
      </p:sp>
      <p:sp>
        <p:nvSpPr>
          <p:cNvPr id="7" name="Shape 5"/>
          <p:cNvSpPr/>
          <p:nvPr/>
        </p:nvSpPr>
        <p:spPr>
          <a:xfrm>
            <a:off x="876300" y="9246870"/>
            <a:ext cx="16535400" cy="15240"/>
          </a:xfrm>
          <a:prstGeom prst="rect">
            <a:avLst/>
          </a:prstGeom>
          <a:solidFill>
            <a:srgbClr val="1B1B19"/>
          </a:solidFill>
          <a:ln/>
        </p:spPr>
      </p:sp>
      <p:sp>
        <p:nvSpPr>
          <p:cNvPr id="8" name="Shape 6"/>
          <p:cNvSpPr/>
          <p:nvPr/>
        </p:nvSpPr>
        <p:spPr>
          <a:xfrm>
            <a:off x="876300" y="2061210"/>
            <a:ext cx="16535400" cy="15240"/>
          </a:xfrm>
          <a:prstGeom prst="rect">
            <a:avLst/>
          </a:prstGeom>
          <a:solidFill>
            <a:srgbClr val="1B1B19"/>
          </a:solidFill>
          <a:ln/>
        </p:spPr>
      </p:sp>
      <p:sp>
        <p:nvSpPr>
          <p:cNvPr id="9" name="Shape 7"/>
          <p:cNvSpPr/>
          <p:nvPr/>
        </p:nvSpPr>
        <p:spPr>
          <a:xfrm>
            <a:off x="6382941" y="2076450"/>
            <a:ext cx="9525" cy="7170420"/>
          </a:xfrm>
          <a:prstGeom prst="rect">
            <a:avLst/>
          </a:prstGeom>
          <a:solidFill>
            <a:srgbClr val="E0DBCF"/>
          </a:solidFill>
          <a:ln/>
        </p:spPr>
      </p:sp>
      <p:sp>
        <p:nvSpPr>
          <p:cNvPr id="10" name="Text 8"/>
          <p:cNvSpPr/>
          <p:nvPr/>
        </p:nvSpPr>
        <p:spPr>
          <a:xfrm>
            <a:off x="1200150" y="2381250"/>
            <a:ext cx="2574418" cy="381000"/>
          </a:xfrm>
          <a:prstGeom prst="rect">
            <a:avLst/>
          </a:prstGeom>
          <a:noFill/>
          <a:ln/>
        </p:spPr>
        <p:txBody>
          <a:bodyPr wrap="square" lIns="25400" tIns="25400" rIns="25400" bIns="25400" rtlCol="0" anchor="t">
            <a:normAutofit fontScale="92500" lnSpcReduction="20000"/>
          </a:bodyPr>
          <a:lstStyle/>
          <a:p>
            <a:pPr marL="0" indent="0" algn="l">
              <a:buNone/>
            </a:pPr>
            <a:r>
              <a:rPr lang="en-US" sz="2700" b="1" dirty="0">
                <a:solidFill>
                  <a:srgbClr val="1B1B19"/>
                </a:solidFill>
                <a:latin typeface="Georgia" pitchFamily="34" charset="0"/>
                <a:ea typeface="Georgia" pitchFamily="34" charset="-122"/>
                <a:cs typeface="Georgia" pitchFamily="34" charset="-120"/>
              </a:rPr>
              <a:t>Telemetry</a:t>
            </a:r>
            <a:endParaRPr lang="en-US" sz="2700" dirty="0"/>
          </a:p>
        </p:txBody>
      </p:sp>
      <p:sp>
        <p:nvSpPr>
          <p:cNvPr id="11" name="Text 9"/>
          <p:cNvSpPr/>
          <p:nvPr/>
        </p:nvSpPr>
        <p:spPr>
          <a:xfrm>
            <a:off x="5853351" y="2518410"/>
            <a:ext cx="28194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F5061"/>
                </a:solidFill>
                <a:latin typeface="Courier New" pitchFamily="34" charset="0"/>
                <a:ea typeface="Courier New" pitchFamily="34" charset="-122"/>
                <a:cs typeface="Courier New" pitchFamily="34" charset="-120"/>
              </a:rPr>
              <a:t>01</a:t>
            </a:r>
            <a:endParaRPr lang="en-US" sz="1350" dirty="0"/>
          </a:p>
        </p:txBody>
      </p:sp>
      <p:sp>
        <p:nvSpPr>
          <p:cNvPr id="12" name="Text 10"/>
          <p:cNvSpPr/>
          <p:nvPr/>
        </p:nvSpPr>
        <p:spPr>
          <a:xfrm>
            <a:off x="1200150" y="2846070"/>
            <a:ext cx="5344835" cy="32099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7A766C"/>
                </a:solidFill>
                <a:latin typeface="Georgia" pitchFamily="34" charset="0"/>
                <a:ea typeface="Georgia" pitchFamily="34" charset="-122"/>
                <a:cs typeface="Georgia" pitchFamily="34" charset="-120"/>
              </a:rPr>
              <a:t>Signals CDO emits → AI consumes.</a:t>
            </a:r>
            <a:endParaRPr lang="en-US" sz="1650" dirty="0"/>
          </a:p>
        </p:txBody>
      </p:sp>
      <p:sp>
        <p:nvSpPr>
          <p:cNvPr id="13" name="Text 11"/>
          <p:cNvSpPr/>
          <p:nvPr/>
        </p:nvSpPr>
        <p:spPr>
          <a:xfrm>
            <a:off x="1200150" y="770763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14" name="Text 12"/>
          <p:cNvSpPr/>
          <p:nvPr/>
        </p:nvSpPr>
        <p:spPr>
          <a:xfrm>
            <a:off x="1516379" y="7692390"/>
            <a:ext cx="4336971" cy="258127"/>
          </a:xfrm>
          <a:prstGeom prst="rect">
            <a:avLst/>
          </a:prstGeom>
          <a:noFill/>
          <a:ln/>
        </p:spPr>
        <p:txBody>
          <a:bodyPr wrap="square" lIns="0" tIns="0" rIns="0" bIns="0" rtlCol="0" anchor="t">
            <a:normAutofit fontScale="85000" lnSpcReduction="10000"/>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7 gauges · CPU, memory, latency, pool…</a:t>
            </a:r>
            <a:endParaRPr lang="en-US" sz="1800" dirty="0"/>
          </a:p>
        </p:txBody>
      </p:sp>
      <p:sp>
        <p:nvSpPr>
          <p:cNvPr id="15" name="Text 13"/>
          <p:cNvSpPr/>
          <p:nvPr/>
        </p:nvSpPr>
        <p:spPr>
          <a:xfrm>
            <a:off x="1200150" y="817626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16" name="Text 14"/>
          <p:cNvSpPr/>
          <p:nvPr/>
        </p:nvSpPr>
        <p:spPr>
          <a:xfrm>
            <a:off x="1516380" y="8161020"/>
            <a:ext cx="3633136" cy="335280"/>
          </a:xfrm>
          <a:prstGeom prst="rect">
            <a:avLst/>
          </a:prstGeom>
          <a:noFill/>
          <a:ln/>
        </p:spPr>
        <p:txBody>
          <a:bodyPr wrap="square" lIns="0" tIns="0" rIns="0" bIns="0" rtlCol="0" anchor="t">
            <a:normAutofit/>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1-min granularity, RFC3339 UTC</a:t>
            </a:r>
            <a:endParaRPr lang="en-US" sz="1800" dirty="0"/>
          </a:p>
        </p:txBody>
      </p:sp>
      <p:sp>
        <p:nvSpPr>
          <p:cNvPr id="17" name="Text 15"/>
          <p:cNvSpPr/>
          <p:nvPr/>
        </p:nvSpPr>
        <p:spPr>
          <a:xfrm>
            <a:off x="1200150" y="864489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1516379" y="8629650"/>
            <a:ext cx="3406121" cy="258127"/>
          </a:xfrm>
          <a:prstGeom prst="rect">
            <a:avLst/>
          </a:prstGeom>
          <a:noFill/>
          <a:ln/>
        </p:spPr>
        <p:txBody>
          <a:bodyPr wrap="square" lIns="0" tIns="0" rIns="0" bIns="0" rtlCol="0" anchor="t">
            <a:normAutofit fontScale="85000" lnSpcReduction="10000"/>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mandatory tenant_id · no PII</a:t>
            </a:r>
            <a:endParaRPr lang="en-US" sz="1800" dirty="0"/>
          </a:p>
        </p:txBody>
      </p:sp>
      <p:sp>
        <p:nvSpPr>
          <p:cNvPr id="19" name="Shape 17"/>
          <p:cNvSpPr/>
          <p:nvPr/>
        </p:nvSpPr>
        <p:spPr>
          <a:xfrm>
            <a:off x="11897320" y="2076450"/>
            <a:ext cx="9525" cy="7170420"/>
          </a:xfrm>
          <a:prstGeom prst="rect">
            <a:avLst/>
          </a:prstGeom>
          <a:solidFill>
            <a:srgbClr val="E0DBCF"/>
          </a:solidFill>
          <a:ln/>
        </p:spPr>
      </p:sp>
      <p:sp>
        <p:nvSpPr>
          <p:cNvPr id="20" name="Text 18"/>
          <p:cNvSpPr/>
          <p:nvPr/>
        </p:nvSpPr>
        <p:spPr>
          <a:xfrm>
            <a:off x="6714411" y="2381250"/>
            <a:ext cx="1603433" cy="483870"/>
          </a:xfrm>
          <a:prstGeom prst="rect">
            <a:avLst/>
          </a:prstGeom>
          <a:noFill/>
          <a:ln/>
        </p:spPr>
        <p:txBody>
          <a:bodyPr wrap="square" lIns="25400" tIns="25400" rIns="25400" bIns="25400" rtlCol="0" anchor="t">
            <a:normAutofit/>
          </a:bodyPr>
          <a:lstStyle/>
          <a:p>
            <a:pPr marL="0" indent="0" algn="l">
              <a:buNone/>
            </a:pPr>
            <a:r>
              <a:rPr lang="en-US" sz="2700" b="1" dirty="0">
                <a:solidFill>
                  <a:srgbClr val="1B1B19"/>
                </a:solidFill>
                <a:latin typeface="Georgia" pitchFamily="34" charset="0"/>
                <a:ea typeface="Georgia" pitchFamily="34" charset="-122"/>
                <a:cs typeface="Georgia" pitchFamily="34" charset="-120"/>
              </a:rPr>
              <a:t>AI API</a:t>
            </a:r>
            <a:endParaRPr lang="en-US" sz="2700" dirty="0"/>
          </a:p>
        </p:txBody>
      </p:sp>
      <p:sp>
        <p:nvSpPr>
          <p:cNvPr id="21" name="Text 19"/>
          <p:cNvSpPr/>
          <p:nvPr/>
        </p:nvSpPr>
        <p:spPr>
          <a:xfrm>
            <a:off x="11367731" y="2518410"/>
            <a:ext cx="28194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F5061"/>
                </a:solidFill>
                <a:latin typeface="Courier New" pitchFamily="34" charset="0"/>
                <a:ea typeface="Courier New" pitchFamily="34" charset="-122"/>
                <a:cs typeface="Courier New" pitchFamily="34" charset="-120"/>
              </a:rPr>
              <a:t>02</a:t>
            </a:r>
            <a:endParaRPr lang="en-US" sz="1350" dirty="0"/>
          </a:p>
        </p:txBody>
      </p:sp>
      <p:sp>
        <p:nvSpPr>
          <p:cNvPr id="22" name="Text 20"/>
          <p:cNvSpPr/>
          <p:nvPr/>
        </p:nvSpPr>
        <p:spPr>
          <a:xfrm>
            <a:off x="6714411" y="2846070"/>
            <a:ext cx="5344966" cy="32099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7A766C"/>
                </a:solidFill>
                <a:latin typeface="Georgia" pitchFamily="34" charset="0"/>
                <a:ea typeface="Georgia" pitchFamily="34" charset="-122"/>
                <a:cs typeface="Georgia" pitchFamily="34" charset="-120"/>
              </a:rPr>
              <a:t>The endpoint AI exposes, CDO calls.</a:t>
            </a:r>
            <a:endParaRPr lang="en-US" sz="1650" dirty="0"/>
          </a:p>
        </p:txBody>
      </p:sp>
      <p:sp>
        <p:nvSpPr>
          <p:cNvPr id="23" name="Text 21"/>
          <p:cNvSpPr/>
          <p:nvPr/>
        </p:nvSpPr>
        <p:spPr>
          <a:xfrm>
            <a:off x="6714411" y="770763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7030641" y="7692390"/>
            <a:ext cx="4337090" cy="483870"/>
          </a:xfrm>
          <a:prstGeom prst="rect">
            <a:avLst/>
          </a:prstGeom>
          <a:noFill/>
          <a:ln/>
        </p:spPr>
        <p:txBody>
          <a:bodyPr wrap="square" lIns="0" tIns="0" rIns="0" bIns="0" rtlCol="0" anchor="t">
            <a:normAutofit/>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POST /v1/predict · request + response</a:t>
            </a:r>
            <a:endParaRPr lang="en-US" sz="1800" dirty="0"/>
          </a:p>
        </p:txBody>
      </p:sp>
      <p:sp>
        <p:nvSpPr>
          <p:cNvPr id="25" name="Text 23"/>
          <p:cNvSpPr/>
          <p:nvPr/>
        </p:nvSpPr>
        <p:spPr>
          <a:xfrm>
            <a:off x="6714411" y="817626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7030641" y="8161020"/>
            <a:ext cx="4030384" cy="350520"/>
          </a:xfrm>
          <a:prstGeom prst="rect">
            <a:avLst/>
          </a:prstGeom>
          <a:noFill/>
          <a:ln/>
        </p:spPr>
        <p:txBody>
          <a:bodyPr wrap="square" lIns="0" tIns="0" rIns="0" bIns="0" rtlCol="0" anchor="t">
            <a:normAutofit/>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SLA: p99 &lt; 500 ms · 100 RPS · 99.5%</a:t>
            </a:r>
            <a:endParaRPr lang="en-US" sz="1800" dirty="0"/>
          </a:p>
        </p:txBody>
      </p:sp>
      <p:sp>
        <p:nvSpPr>
          <p:cNvPr id="27" name="Text 25"/>
          <p:cNvSpPr/>
          <p:nvPr/>
        </p:nvSpPr>
        <p:spPr>
          <a:xfrm>
            <a:off x="6714411" y="864489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7030641" y="8629650"/>
            <a:ext cx="3093820" cy="365760"/>
          </a:xfrm>
          <a:prstGeom prst="rect">
            <a:avLst/>
          </a:prstGeom>
          <a:noFill/>
          <a:ln/>
        </p:spPr>
        <p:txBody>
          <a:bodyPr wrap="square" lIns="0" tIns="0" rIns="0" bIns="0" rtlCol="0" anchor="t">
            <a:normAutofit fontScale="85000" lnSpcReduction="10000"/>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errors 400 / 401 / 422 / 429 / 503</a:t>
            </a:r>
            <a:endParaRPr lang="en-US" sz="1800" dirty="0"/>
          </a:p>
        </p:txBody>
      </p:sp>
      <p:sp>
        <p:nvSpPr>
          <p:cNvPr id="29" name="Text 27"/>
          <p:cNvSpPr/>
          <p:nvPr/>
        </p:nvSpPr>
        <p:spPr>
          <a:xfrm>
            <a:off x="12228790" y="2381250"/>
            <a:ext cx="2470767" cy="381000"/>
          </a:xfrm>
          <a:prstGeom prst="rect">
            <a:avLst/>
          </a:prstGeom>
          <a:noFill/>
          <a:ln/>
        </p:spPr>
        <p:txBody>
          <a:bodyPr wrap="square" lIns="25400" tIns="25400" rIns="25400" bIns="25400" rtlCol="0" anchor="t">
            <a:normAutofit fontScale="92500" lnSpcReduction="20000"/>
          </a:bodyPr>
          <a:lstStyle/>
          <a:p>
            <a:pPr marL="0" indent="0" algn="l">
              <a:buNone/>
            </a:pPr>
            <a:r>
              <a:rPr lang="en-US" sz="2700" b="1" dirty="0">
                <a:solidFill>
                  <a:srgbClr val="1B1B19"/>
                </a:solidFill>
                <a:latin typeface="Georgia" pitchFamily="34" charset="0"/>
                <a:ea typeface="Georgia" pitchFamily="34" charset="-122"/>
                <a:cs typeface="Georgia" pitchFamily="34" charset="-120"/>
              </a:rPr>
              <a:t>Deployment</a:t>
            </a:r>
            <a:endParaRPr lang="en-US" sz="2700" dirty="0"/>
          </a:p>
        </p:txBody>
      </p:sp>
      <p:sp>
        <p:nvSpPr>
          <p:cNvPr id="30" name="Text 28"/>
          <p:cNvSpPr/>
          <p:nvPr/>
        </p:nvSpPr>
        <p:spPr>
          <a:xfrm>
            <a:off x="16882110" y="2518410"/>
            <a:ext cx="28194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1F5061"/>
                </a:solidFill>
                <a:latin typeface="Courier New" pitchFamily="34" charset="0"/>
                <a:ea typeface="Courier New" pitchFamily="34" charset="-122"/>
                <a:cs typeface="Courier New" pitchFamily="34" charset="-120"/>
              </a:rPr>
              <a:t>03</a:t>
            </a:r>
            <a:endParaRPr lang="en-US" sz="1350" dirty="0"/>
          </a:p>
        </p:txBody>
      </p:sp>
      <p:sp>
        <p:nvSpPr>
          <p:cNvPr id="31" name="Text 29"/>
          <p:cNvSpPr/>
          <p:nvPr/>
        </p:nvSpPr>
        <p:spPr>
          <a:xfrm>
            <a:off x="12228791" y="2846070"/>
            <a:ext cx="5344966" cy="32099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650" i="1" dirty="0">
                <a:solidFill>
                  <a:srgbClr val="7A766C"/>
                </a:solidFill>
                <a:latin typeface="Georgia" pitchFamily="34" charset="0"/>
                <a:ea typeface="Georgia" pitchFamily="34" charset="-122"/>
                <a:cs typeface="Georgia" pitchFamily="34" charset="-120"/>
              </a:rPr>
              <a:t>How CDO hosts the engine.</a:t>
            </a:r>
            <a:endParaRPr lang="en-US" sz="1650" dirty="0"/>
          </a:p>
        </p:txBody>
      </p:sp>
      <p:sp>
        <p:nvSpPr>
          <p:cNvPr id="32" name="Text 30"/>
          <p:cNvSpPr/>
          <p:nvPr/>
        </p:nvSpPr>
        <p:spPr>
          <a:xfrm>
            <a:off x="12228791" y="770763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33" name="Text 31"/>
          <p:cNvSpPr/>
          <p:nvPr/>
        </p:nvSpPr>
        <p:spPr>
          <a:xfrm>
            <a:off x="12545020" y="7692390"/>
            <a:ext cx="4619030" cy="300990"/>
          </a:xfrm>
          <a:prstGeom prst="rect">
            <a:avLst/>
          </a:prstGeom>
          <a:noFill/>
          <a:ln/>
        </p:spPr>
        <p:txBody>
          <a:bodyPr wrap="square" lIns="0" tIns="0" rIns="0" bIns="0" rtlCol="0" anchor="t">
            <a:normAutofit fontScale="92500" lnSpcReduction="10000"/>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ECS Fargate · 0.5 vCPU / 1 GB · min2/max4</a:t>
            </a:r>
            <a:endParaRPr lang="en-US" sz="1800" dirty="0"/>
          </a:p>
        </p:txBody>
      </p:sp>
      <p:sp>
        <p:nvSpPr>
          <p:cNvPr id="34" name="Text 32"/>
          <p:cNvSpPr/>
          <p:nvPr/>
        </p:nvSpPr>
        <p:spPr>
          <a:xfrm>
            <a:off x="12228791" y="817626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35" name="Text 33"/>
          <p:cNvSpPr/>
          <p:nvPr/>
        </p:nvSpPr>
        <p:spPr>
          <a:xfrm>
            <a:off x="12545020" y="8161020"/>
            <a:ext cx="3959900" cy="365760"/>
          </a:xfrm>
          <a:prstGeom prst="rect">
            <a:avLst/>
          </a:prstGeom>
          <a:noFill/>
          <a:ln/>
        </p:spPr>
        <p:txBody>
          <a:bodyPr wrap="square" lIns="0" tIns="0" rIns="0" bIns="0" rtlCol="0" anchor="t">
            <a:normAutofit/>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canary 10→50→100 · auto-rollback</a:t>
            </a:r>
            <a:endParaRPr lang="en-US" sz="1800" dirty="0"/>
          </a:p>
        </p:txBody>
      </p:sp>
      <p:sp>
        <p:nvSpPr>
          <p:cNvPr id="36" name="Text 34"/>
          <p:cNvSpPr/>
          <p:nvPr/>
        </p:nvSpPr>
        <p:spPr>
          <a:xfrm>
            <a:off x="12228791" y="8644890"/>
            <a:ext cx="259080" cy="33528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F5061"/>
                </a:solidFill>
                <a:latin typeface="Arial" pitchFamily="34" charset="0"/>
                <a:ea typeface="Arial" pitchFamily="34" charset="-122"/>
                <a:cs typeface="Arial" pitchFamily="34" charset="-120"/>
              </a:rPr>
              <a:t>—</a:t>
            </a:r>
            <a:endParaRPr lang="en-US" sz="1800" dirty="0"/>
          </a:p>
        </p:txBody>
      </p:sp>
      <p:sp>
        <p:nvSpPr>
          <p:cNvPr id="37" name="Text 35"/>
          <p:cNvSpPr/>
          <p:nvPr/>
        </p:nvSpPr>
        <p:spPr>
          <a:xfrm>
            <a:off x="12545020" y="8629650"/>
            <a:ext cx="2931776" cy="350520"/>
          </a:xfrm>
          <a:prstGeom prst="rect">
            <a:avLst/>
          </a:prstGeom>
          <a:noFill/>
          <a:ln/>
        </p:spPr>
        <p:txBody>
          <a:bodyPr wrap="square" lIns="0" tIns="0" rIns="0" bIns="0" rtlCol="0" anchor="t">
            <a:normAutofit/>
          </a:bodyPr>
          <a:lstStyle/>
          <a:p>
            <a:pPr marL="0" indent="0" algn="l">
              <a:lnSpc>
                <a:spcPct val="130000"/>
              </a:lnSpc>
              <a:buNone/>
            </a:pPr>
            <a:r>
              <a:rPr lang="en-US" sz="1800" dirty="0">
                <a:solidFill>
                  <a:srgbClr val="33322D"/>
                </a:solidFill>
                <a:latin typeface="Arial" pitchFamily="34" charset="0"/>
                <a:ea typeface="Arial" pitchFamily="34" charset="-122"/>
                <a:cs typeface="Arial" pitchFamily="34" charset="-120"/>
              </a:rPr>
              <a:t>$200 cost circuit breaker</a:t>
            </a:r>
            <a:endParaRPr lang="en-US" sz="1800" dirty="0"/>
          </a:p>
        </p:txBody>
      </p:sp>
      <p:sp>
        <p:nvSpPr>
          <p:cNvPr id="38" name="Text 36"/>
          <p:cNvSpPr/>
          <p:nvPr/>
        </p:nvSpPr>
        <p:spPr>
          <a:xfrm>
            <a:off x="49530" y="9471660"/>
            <a:ext cx="18188940" cy="320040"/>
          </a:xfrm>
          <a:prstGeom prst="rect">
            <a:avLst/>
          </a:prstGeom>
          <a:noFill/>
          <a:ln/>
        </p:spPr>
        <p:txBody>
          <a:bodyPr wrap="square" lIns="25400" tIns="25400" rIns="25400" bIns="25400" rtlCol="0" anchor="t">
            <a:normAutofit lnSpcReduction="10000"/>
          </a:bodyPr>
          <a:lstStyle/>
          <a:p>
            <a:pPr marL="0" indent="0" algn="ctr">
              <a:buNone/>
            </a:pPr>
            <a:r>
              <a:rPr lang="en-US" sz="1875" i="1" dirty="0">
                <a:solidFill>
                  <a:srgbClr val="54514A"/>
                </a:solidFill>
                <a:latin typeface="Georgia" pitchFamily="34" charset="0"/>
                <a:ea typeface="Georgia" pitchFamily="34" charset="-122"/>
                <a:cs typeface="Georgia" pitchFamily="34" charset="-120"/>
              </a:rPr>
              <a:t>Frozen W11 T5 — schema unchanged W11 → W12, so CDO never rewrites code.</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09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09</a:t>
            </a:r>
            <a:endParaRPr lang="en-US" sz="1725" dirty="0"/>
          </a:p>
        </p:txBody>
      </p:sp>
      <p:sp>
        <p:nvSpPr>
          <p:cNvPr id="6" name="Text 4"/>
          <p:cNvSpPr/>
          <p:nvPr/>
        </p:nvSpPr>
        <p:spPr>
          <a:xfrm>
            <a:off x="1329690" y="1184910"/>
            <a:ext cx="4943154"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Evaluation results</a:t>
            </a:r>
            <a:endParaRPr lang="en-US" sz="4500" dirty="0"/>
          </a:p>
        </p:txBody>
      </p:sp>
      <p:sp>
        <p:nvSpPr>
          <p:cNvPr id="7" name="Text 5"/>
          <p:cNvSpPr/>
          <p:nvPr/>
        </p:nvSpPr>
        <p:spPr>
          <a:xfrm>
            <a:off x="14751010" y="1337310"/>
            <a:ext cx="2926759" cy="304800"/>
          </a:xfrm>
          <a:prstGeom prst="rect">
            <a:avLst/>
          </a:prstGeom>
          <a:noFill/>
          <a:ln/>
        </p:spPr>
        <p:txBody>
          <a:bodyPr wrap="square" lIns="25400" tIns="25400" rIns="25400" bIns="25400" rtlCol="0" anchor="t">
            <a:normAutofit lnSpcReduction="10000"/>
          </a:bodyPr>
          <a:lstStyle/>
          <a:p>
            <a:pPr marL="0" indent="0" algn="l">
              <a:buNone/>
            </a:pPr>
            <a:r>
              <a:rPr lang="en-US" sz="1800" i="1" dirty="0">
                <a:solidFill>
                  <a:srgbClr val="7A766C"/>
                </a:solidFill>
                <a:latin typeface="Georgia" pitchFamily="34" charset="0"/>
                <a:ea typeface="Georgia" pitchFamily="34" charset="-122"/>
                <a:cs typeface="Georgia" pitchFamily="34" charset="-120"/>
              </a:rPr>
              <a:t>measured, not hard-coded</a:t>
            </a:r>
            <a:endParaRPr lang="en-US" sz="1800" dirty="0"/>
          </a:p>
        </p:txBody>
      </p:sp>
      <p:sp>
        <p:nvSpPr>
          <p:cNvPr id="8" name="Shape 6"/>
          <p:cNvSpPr/>
          <p:nvPr/>
        </p:nvSpPr>
        <p:spPr>
          <a:xfrm>
            <a:off x="876300" y="5703570"/>
            <a:ext cx="9646920" cy="9525"/>
          </a:xfrm>
          <a:prstGeom prst="rect">
            <a:avLst/>
          </a:prstGeom>
          <a:solidFill>
            <a:srgbClr val="E0DBCF"/>
          </a:solidFill>
          <a:ln/>
        </p:spPr>
      </p:sp>
      <p:sp>
        <p:nvSpPr>
          <p:cNvPr id="9" name="Shape 7"/>
          <p:cNvSpPr/>
          <p:nvPr/>
        </p:nvSpPr>
        <p:spPr>
          <a:xfrm>
            <a:off x="876300" y="2042160"/>
            <a:ext cx="9646920" cy="15240"/>
          </a:xfrm>
          <a:prstGeom prst="rect">
            <a:avLst/>
          </a:prstGeom>
          <a:solidFill>
            <a:srgbClr val="1B1B19"/>
          </a:solidFill>
          <a:ln/>
        </p:spPr>
      </p:sp>
      <p:sp>
        <p:nvSpPr>
          <p:cNvPr id="10" name="Shape 8"/>
          <p:cNvSpPr/>
          <p:nvPr/>
        </p:nvSpPr>
        <p:spPr>
          <a:xfrm>
            <a:off x="4084320" y="2057400"/>
            <a:ext cx="9525" cy="3646170"/>
          </a:xfrm>
          <a:prstGeom prst="rect">
            <a:avLst/>
          </a:prstGeom>
          <a:solidFill>
            <a:srgbClr val="E0DBCF"/>
          </a:solidFill>
          <a:ln/>
        </p:spPr>
      </p:sp>
      <p:sp>
        <p:nvSpPr>
          <p:cNvPr id="11" name="Text 9"/>
          <p:cNvSpPr/>
          <p:nvPr/>
        </p:nvSpPr>
        <p:spPr>
          <a:xfrm>
            <a:off x="952500" y="3248025"/>
            <a:ext cx="3361182"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Recall</a:t>
            </a:r>
            <a:endParaRPr lang="en-US" sz="1575" dirty="0"/>
          </a:p>
        </p:txBody>
      </p:sp>
      <p:sp>
        <p:nvSpPr>
          <p:cNvPr id="12" name="Text 10"/>
          <p:cNvSpPr/>
          <p:nvPr/>
        </p:nvSpPr>
        <p:spPr>
          <a:xfrm>
            <a:off x="952500" y="3594735"/>
            <a:ext cx="3361182"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F5061"/>
                </a:solidFill>
                <a:latin typeface="Georgia" pitchFamily="34" charset="0"/>
                <a:ea typeface="Georgia" pitchFamily="34" charset="-122"/>
                <a:cs typeface="Georgia" pitchFamily="34" charset="-120"/>
              </a:rPr>
              <a:t>0.971</a:t>
            </a:r>
            <a:endParaRPr lang="en-US" sz="4800" dirty="0"/>
          </a:p>
        </p:txBody>
      </p:sp>
      <p:sp>
        <p:nvSpPr>
          <p:cNvPr id="13" name="Text 11"/>
          <p:cNvSpPr/>
          <p:nvPr/>
        </p:nvSpPr>
        <p:spPr>
          <a:xfrm>
            <a:off x="952500" y="4299585"/>
            <a:ext cx="3361182" cy="251460"/>
          </a:xfrm>
          <a:prstGeom prst="rect">
            <a:avLst/>
          </a:prstGeom>
          <a:noFill/>
          <a:ln/>
        </p:spPr>
        <p:txBody>
          <a:bodyPr wrap="square" lIns="25400" tIns="25400" rIns="25400" bIns="25400" rtlCol="0" anchor="t">
            <a:normAutofit/>
          </a:bodyPr>
          <a:lstStyle/>
          <a:p>
            <a:pPr marL="0" indent="0" algn="l">
              <a:buNone/>
            </a:pPr>
            <a:r>
              <a:rPr lang="en-US" sz="1200" dirty="0">
                <a:solidFill>
                  <a:srgbClr val="3F7A5E"/>
                </a:solidFill>
                <a:latin typeface="Courier New" pitchFamily="34" charset="0"/>
                <a:ea typeface="Courier New" pitchFamily="34" charset="-122"/>
                <a:cs typeface="Courier New" pitchFamily="34" charset="-120"/>
              </a:rPr>
              <a:t>gate ≥ 0.80 ✓</a:t>
            </a:r>
            <a:endParaRPr lang="en-US" sz="1200" dirty="0"/>
          </a:p>
        </p:txBody>
      </p:sp>
      <p:sp>
        <p:nvSpPr>
          <p:cNvPr id="14" name="Shape 12"/>
          <p:cNvSpPr/>
          <p:nvPr/>
        </p:nvSpPr>
        <p:spPr>
          <a:xfrm>
            <a:off x="7299960" y="2057400"/>
            <a:ext cx="9525" cy="3646170"/>
          </a:xfrm>
          <a:prstGeom prst="rect">
            <a:avLst/>
          </a:prstGeom>
          <a:solidFill>
            <a:srgbClr val="E0DBCF"/>
          </a:solidFill>
          <a:ln/>
        </p:spPr>
      </p:sp>
      <p:sp>
        <p:nvSpPr>
          <p:cNvPr id="15" name="Text 13"/>
          <p:cNvSpPr/>
          <p:nvPr/>
        </p:nvSpPr>
        <p:spPr>
          <a:xfrm>
            <a:off x="4168140" y="3248025"/>
            <a:ext cx="3361182"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FP rate</a:t>
            </a:r>
            <a:endParaRPr lang="en-US" sz="1575" dirty="0"/>
          </a:p>
        </p:txBody>
      </p:sp>
      <p:sp>
        <p:nvSpPr>
          <p:cNvPr id="16" name="Text 14"/>
          <p:cNvSpPr/>
          <p:nvPr/>
        </p:nvSpPr>
        <p:spPr>
          <a:xfrm>
            <a:off x="4168140" y="3594735"/>
            <a:ext cx="3361182"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F5061"/>
                </a:solidFill>
                <a:latin typeface="Georgia" pitchFamily="34" charset="0"/>
                <a:ea typeface="Georgia" pitchFamily="34" charset="-122"/>
                <a:cs typeface="Georgia" pitchFamily="34" charset="-120"/>
              </a:rPr>
              <a:t>7.1%</a:t>
            </a:r>
            <a:endParaRPr lang="en-US" sz="4800" dirty="0"/>
          </a:p>
        </p:txBody>
      </p:sp>
      <p:sp>
        <p:nvSpPr>
          <p:cNvPr id="17" name="Text 15"/>
          <p:cNvSpPr/>
          <p:nvPr/>
        </p:nvSpPr>
        <p:spPr>
          <a:xfrm>
            <a:off x="4168140" y="4299585"/>
            <a:ext cx="3361182" cy="251460"/>
          </a:xfrm>
          <a:prstGeom prst="rect">
            <a:avLst/>
          </a:prstGeom>
          <a:noFill/>
          <a:ln/>
        </p:spPr>
        <p:txBody>
          <a:bodyPr wrap="square" lIns="25400" tIns="25400" rIns="25400" bIns="25400" rtlCol="0" anchor="t">
            <a:normAutofit/>
          </a:bodyPr>
          <a:lstStyle/>
          <a:p>
            <a:pPr marL="0" indent="0" algn="l">
              <a:buNone/>
            </a:pPr>
            <a:r>
              <a:rPr lang="en-US" sz="1200" dirty="0">
                <a:solidFill>
                  <a:srgbClr val="3F7A5E"/>
                </a:solidFill>
                <a:latin typeface="Courier New" pitchFamily="34" charset="0"/>
                <a:ea typeface="Courier New" pitchFamily="34" charset="-122"/>
                <a:cs typeface="Courier New" pitchFamily="34" charset="-120"/>
              </a:rPr>
              <a:t>gate ≤ 12% ✓</a:t>
            </a:r>
            <a:endParaRPr lang="en-US" sz="1200" dirty="0"/>
          </a:p>
        </p:txBody>
      </p:sp>
      <p:sp>
        <p:nvSpPr>
          <p:cNvPr id="18" name="Text 16"/>
          <p:cNvSpPr/>
          <p:nvPr/>
        </p:nvSpPr>
        <p:spPr>
          <a:xfrm>
            <a:off x="7383780" y="3248025"/>
            <a:ext cx="3369564"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Lead time</a:t>
            </a:r>
            <a:endParaRPr lang="en-US" sz="1575" dirty="0"/>
          </a:p>
        </p:txBody>
      </p:sp>
      <p:sp>
        <p:nvSpPr>
          <p:cNvPr id="19" name="Text 17"/>
          <p:cNvSpPr/>
          <p:nvPr/>
        </p:nvSpPr>
        <p:spPr>
          <a:xfrm>
            <a:off x="7383780" y="3594735"/>
            <a:ext cx="3369564"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F5061"/>
                </a:solidFill>
                <a:latin typeface="Georgia" pitchFamily="34" charset="0"/>
                <a:ea typeface="Georgia" pitchFamily="34" charset="-122"/>
                <a:cs typeface="Georgia" pitchFamily="34" charset="-120"/>
              </a:rPr>
              <a:t>110</a:t>
            </a:r>
            <a:r>
              <a:rPr lang="en-US" sz="1950" b="1" dirty="0">
                <a:solidFill>
                  <a:srgbClr val="8C887C"/>
                </a:solidFill>
                <a:latin typeface="Georgia" pitchFamily="34" charset="0"/>
                <a:ea typeface="Georgia" pitchFamily="34" charset="-122"/>
                <a:cs typeface="Georgia" pitchFamily="34" charset="-120"/>
              </a:rPr>
              <a:t>m</a:t>
            </a:r>
            <a:endParaRPr lang="en-US" sz="4800" dirty="0"/>
          </a:p>
        </p:txBody>
      </p:sp>
      <p:sp>
        <p:nvSpPr>
          <p:cNvPr id="20" name="Text 18"/>
          <p:cNvSpPr/>
          <p:nvPr/>
        </p:nvSpPr>
        <p:spPr>
          <a:xfrm>
            <a:off x="7383780" y="4299585"/>
            <a:ext cx="3369564" cy="251460"/>
          </a:xfrm>
          <a:prstGeom prst="rect">
            <a:avLst/>
          </a:prstGeom>
          <a:noFill/>
          <a:ln/>
        </p:spPr>
        <p:txBody>
          <a:bodyPr wrap="square" lIns="25400" tIns="25400" rIns="25400" bIns="25400" rtlCol="0" anchor="t">
            <a:normAutofit/>
          </a:bodyPr>
          <a:lstStyle/>
          <a:p>
            <a:pPr marL="0" indent="0" algn="l">
              <a:buNone/>
            </a:pPr>
            <a:r>
              <a:rPr lang="en-US" sz="1200" dirty="0">
                <a:solidFill>
                  <a:srgbClr val="3F7A5E"/>
                </a:solidFill>
                <a:latin typeface="Courier New" pitchFamily="34" charset="0"/>
                <a:ea typeface="Courier New" pitchFamily="34" charset="-122"/>
                <a:cs typeface="Courier New" pitchFamily="34" charset="-120"/>
              </a:rPr>
              <a:t>gate ≥ 15m ✓</a:t>
            </a:r>
            <a:endParaRPr lang="en-US" sz="1200" dirty="0"/>
          </a:p>
        </p:txBody>
      </p:sp>
      <p:sp>
        <p:nvSpPr>
          <p:cNvPr id="21" name="Shape 19"/>
          <p:cNvSpPr/>
          <p:nvPr/>
        </p:nvSpPr>
        <p:spPr>
          <a:xfrm>
            <a:off x="876300" y="9357360"/>
            <a:ext cx="9646920" cy="15240"/>
          </a:xfrm>
          <a:prstGeom prst="rect">
            <a:avLst/>
          </a:prstGeom>
          <a:solidFill>
            <a:srgbClr val="1B1B19"/>
          </a:solidFill>
          <a:ln/>
        </p:spPr>
      </p:sp>
      <p:sp>
        <p:nvSpPr>
          <p:cNvPr id="22" name="Shape 20"/>
          <p:cNvSpPr/>
          <p:nvPr/>
        </p:nvSpPr>
        <p:spPr>
          <a:xfrm>
            <a:off x="4084320" y="5711190"/>
            <a:ext cx="9525" cy="3646170"/>
          </a:xfrm>
          <a:prstGeom prst="rect">
            <a:avLst/>
          </a:prstGeom>
          <a:solidFill>
            <a:srgbClr val="E0DBCF"/>
          </a:solidFill>
          <a:ln/>
        </p:spPr>
      </p:sp>
      <p:sp>
        <p:nvSpPr>
          <p:cNvPr id="23" name="Text 21"/>
          <p:cNvSpPr/>
          <p:nvPr/>
        </p:nvSpPr>
        <p:spPr>
          <a:xfrm>
            <a:off x="952500" y="6901815"/>
            <a:ext cx="3361182"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Brier</a:t>
            </a:r>
            <a:endParaRPr lang="en-US" sz="1575" dirty="0"/>
          </a:p>
        </p:txBody>
      </p:sp>
      <p:sp>
        <p:nvSpPr>
          <p:cNvPr id="24" name="Text 22"/>
          <p:cNvSpPr/>
          <p:nvPr/>
        </p:nvSpPr>
        <p:spPr>
          <a:xfrm>
            <a:off x="952500" y="7248525"/>
            <a:ext cx="3361182"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B1B19"/>
                </a:solidFill>
                <a:latin typeface="Georgia" pitchFamily="34" charset="0"/>
                <a:ea typeface="Georgia" pitchFamily="34" charset="-122"/>
                <a:cs typeface="Georgia" pitchFamily="34" charset="-120"/>
              </a:rPr>
              <a:t>0.049</a:t>
            </a:r>
            <a:endParaRPr lang="en-US" sz="4800" dirty="0"/>
          </a:p>
        </p:txBody>
      </p:sp>
      <p:sp>
        <p:nvSpPr>
          <p:cNvPr id="25" name="Text 23"/>
          <p:cNvSpPr/>
          <p:nvPr/>
        </p:nvSpPr>
        <p:spPr>
          <a:xfrm>
            <a:off x="952500" y="7953375"/>
            <a:ext cx="3361182" cy="25146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&lt; 0.10 ✓ calibrated</a:t>
            </a:r>
            <a:endParaRPr lang="en-US" sz="1200" dirty="0"/>
          </a:p>
        </p:txBody>
      </p:sp>
      <p:sp>
        <p:nvSpPr>
          <p:cNvPr id="26" name="Shape 24"/>
          <p:cNvSpPr/>
          <p:nvPr/>
        </p:nvSpPr>
        <p:spPr>
          <a:xfrm>
            <a:off x="7299960" y="5711190"/>
            <a:ext cx="9525" cy="3646170"/>
          </a:xfrm>
          <a:prstGeom prst="rect">
            <a:avLst/>
          </a:prstGeom>
          <a:solidFill>
            <a:srgbClr val="E0DBCF"/>
          </a:solidFill>
          <a:ln/>
        </p:spPr>
      </p:sp>
      <p:sp>
        <p:nvSpPr>
          <p:cNvPr id="27" name="Text 25"/>
          <p:cNvSpPr/>
          <p:nvPr/>
        </p:nvSpPr>
        <p:spPr>
          <a:xfrm>
            <a:off x="4168140" y="6901815"/>
            <a:ext cx="3361182"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Precision</a:t>
            </a:r>
            <a:endParaRPr lang="en-US" sz="1575" dirty="0"/>
          </a:p>
        </p:txBody>
      </p:sp>
      <p:sp>
        <p:nvSpPr>
          <p:cNvPr id="28" name="Text 26"/>
          <p:cNvSpPr/>
          <p:nvPr/>
        </p:nvSpPr>
        <p:spPr>
          <a:xfrm>
            <a:off x="4168140" y="7248525"/>
            <a:ext cx="3361182"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B1B19"/>
                </a:solidFill>
                <a:latin typeface="Georgia" pitchFamily="34" charset="0"/>
                <a:ea typeface="Georgia" pitchFamily="34" charset="-122"/>
                <a:cs typeface="Georgia" pitchFamily="34" charset="-120"/>
              </a:rPr>
              <a:t>0.793</a:t>
            </a:r>
            <a:endParaRPr lang="en-US" sz="4800" dirty="0"/>
          </a:p>
        </p:txBody>
      </p:sp>
      <p:sp>
        <p:nvSpPr>
          <p:cNvPr id="29" name="Text 27"/>
          <p:cNvSpPr/>
          <p:nvPr/>
        </p:nvSpPr>
        <p:spPr>
          <a:xfrm>
            <a:off x="4168140" y="7953375"/>
            <a:ext cx="3361182" cy="25146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stretch ≥ 0.75 ✓</a:t>
            </a:r>
            <a:endParaRPr lang="en-US" sz="1200" dirty="0"/>
          </a:p>
        </p:txBody>
      </p:sp>
      <p:sp>
        <p:nvSpPr>
          <p:cNvPr id="30" name="Text 28"/>
          <p:cNvSpPr/>
          <p:nvPr/>
        </p:nvSpPr>
        <p:spPr>
          <a:xfrm>
            <a:off x="7383780" y="6905625"/>
            <a:ext cx="3369564" cy="327660"/>
          </a:xfrm>
          <a:prstGeom prst="rect">
            <a:avLst/>
          </a:prstGeom>
          <a:noFill/>
          <a:ln/>
        </p:spPr>
        <p:txBody>
          <a:bodyPr wrap="square" lIns="25400" tIns="25400" rIns="25400" bIns="25400" rtlCol="0" anchor="t">
            <a:normAutofit/>
          </a:bodyPr>
          <a:lstStyle/>
          <a:p>
            <a:pPr marL="0" indent="0" algn="l">
              <a:buNone/>
            </a:pPr>
            <a:r>
              <a:rPr lang="en-US" sz="1575" dirty="0">
                <a:solidFill>
                  <a:srgbClr val="6E6C64"/>
                </a:solidFill>
                <a:latin typeface="Arial" pitchFamily="34" charset="0"/>
                <a:ea typeface="Arial" pitchFamily="34" charset="-122"/>
                <a:cs typeface="Arial" pitchFamily="34" charset="-120"/>
              </a:rPr>
              <a:t>Pytest</a:t>
            </a:r>
            <a:endParaRPr lang="en-US" sz="1575" dirty="0"/>
          </a:p>
        </p:txBody>
      </p:sp>
      <p:sp>
        <p:nvSpPr>
          <p:cNvPr id="31" name="Text 29"/>
          <p:cNvSpPr/>
          <p:nvPr/>
        </p:nvSpPr>
        <p:spPr>
          <a:xfrm>
            <a:off x="7383780" y="7252335"/>
            <a:ext cx="3369564"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b="1" dirty="0">
                <a:solidFill>
                  <a:srgbClr val="1B1B19"/>
                </a:solidFill>
                <a:latin typeface="Georgia" pitchFamily="34" charset="0"/>
                <a:ea typeface="Georgia" pitchFamily="34" charset="-122"/>
                <a:cs typeface="Georgia" pitchFamily="34" charset="-120"/>
              </a:rPr>
              <a:t>9/9</a:t>
            </a:r>
            <a:endParaRPr lang="en-US" sz="4800" dirty="0"/>
          </a:p>
        </p:txBody>
      </p:sp>
      <p:sp>
        <p:nvSpPr>
          <p:cNvPr id="32" name="Text 30"/>
          <p:cNvSpPr/>
          <p:nvPr/>
        </p:nvSpPr>
        <p:spPr>
          <a:xfrm>
            <a:off x="7383780" y="7957185"/>
            <a:ext cx="3369564" cy="24384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scenarios pass</a:t>
            </a:r>
            <a:endParaRPr lang="en-US" sz="1200" dirty="0"/>
          </a:p>
        </p:txBody>
      </p:sp>
      <p:sp>
        <p:nvSpPr>
          <p:cNvPr id="33" name="Text 31"/>
          <p:cNvSpPr/>
          <p:nvPr/>
        </p:nvSpPr>
        <p:spPr>
          <a:xfrm>
            <a:off x="876300" y="9525000"/>
            <a:ext cx="10611612"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i="1" dirty="0">
                <a:solidFill>
                  <a:srgbClr val="7A766C"/>
                </a:solidFill>
                <a:latin typeface="Georgia" pitchFamily="34" charset="0"/>
                <a:ea typeface="Georgia" pitchFamily="34" charset="-122"/>
                <a:cs typeface="Georgia" pitchFamily="34" charset="-120"/>
              </a:rPr>
              <a:t>Table 2 — Measured on ~790 sliding windows, 3 tier-1 services. Re-run: </a:t>
            </a:r>
            <a:r>
              <a:rPr lang="en-US" sz="1350" dirty="0">
                <a:solidFill>
                  <a:srgbClr val="7A766C"/>
                </a:solidFill>
                <a:latin typeface="Courier New" pitchFamily="34" charset="0"/>
                <a:ea typeface="Courier New" pitchFamily="34" charset="-122"/>
                <a:cs typeface="Courier New" pitchFamily="34" charset="-120"/>
              </a:rPr>
              <a:t>tf4_evidence.py</a:t>
            </a:r>
            <a:endParaRPr lang="en-US" sz="1575" dirty="0"/>
          </a:p>
        </p:txBody>
      </p:sp>
      <p:sp>
        <p:nvSpPr>
          <p:cNvPr id="34" name="Text 32"/>
          <p:cNvSpPr/>
          <p:nvPr/>
        </p:nvSpPr>
        <p:spPr>
          <a:xfrm>
            <a:off x="10980420" y="2042160"/>
            <a:ext cx="707440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A/B · SAME HOLDOUT</a:t>
            </a:r>
            <a:endParaRPr lang="en-US" sz="1200" dirty="0"/>
          </a:p>
        </p:txBody>
      </p:sp>
      <p:sp>
        <p:nvSpPr>
          <p:cNvPr id="35" name="Shape 33"/>
          <p:cNvSpPr/>
          <p:nvPr/>
        </p:nvSpPr>
        <p:spPr>
          <a:xfrm>
            <a:off x="10980420" y="2362200"/>
            <a:ext cx="6431280" cy="15240"/>
          </a:xfrm>
          <a:prstGeom prst="rect">
            <a:avLst/>
          </a:prstGeom>
          <a:solidFill>
            <a:srgbClr val="1B1B19"/>
          </a:solidFill>
          <a:ln/>
        </p:spPr>
      </p:sp>
      <p:sp>
        <p:nvSpPr>
          <p:cNvPr id="36" name="Shape 34"/>
          <p:cNvSpPr/>
          <p:nvPr/>
        </p:nvSpPr>
        <p:spPr>
          <a:xfrm>
            <a:off x="10980420" y="2956560"/>
            <a:ext cx="6431280" cy="9525"/>
          </a:xfrm>
          <a:prstGeom prst="rect">
            <a:avLst/>
          </a:prstGeom>
          <a:solidFill>
            <a:srgbClr val="E0DBCF"/>
          </a:solidFill>
          <a:ln/>
        </p:spPr>
      </p:sp>
      <p:sp>
        <p:nvSpPr>
          <p:cNvPr id="37" name="Text 35"/>
          <p:cNvSpPr/>
          <p:nvPr/>
        </p:nvSpPr>
        <p:spPr>
          <a:xfrm>
            <a:off x="10999470" y="2529840"/>
            <a:ext cx="1607249" cy="312420"/>
          </a:xfrm>
          <a:prstGeom prst="rect">
            <a:avLst/>
          </a:prstGeom>
          <a:noFill/>
          <a:ln/>
        </p:spPr>
        <p:txBody>
          <a:bodyPr wrap="square" lIns="25400" tIns="25400" rIns="25400" bIns="25400" rtlCol="0" anchor="t">
            <a:normAutofit fontScale="92500"/>
          </a:bodyPr>
          <a:lstStyle/>
          <a:p>
            <a:pPr marL="0" indent="0" algn="l">
              <a:buNone/>
            </a:pPr>
            <a:r>
              <a:rPr lang="en-US" sz="1875" b="1" dirty="0">
                <a:solidFill>
                  <a:srgbClr val="1F5061"/>
                </a:solidFill>
                <a:latin typeface="Georgia" pitchFamily="34" charset="0"/>
                <a:ea typeface="Georgia" pitchFamily="34" charset="-122"/>
                <a:cs typeface="Georgia" pitchFamily="34" charset="-120"/>
              </a:rPr>
              <a:t>STL + EWMA</a:t>
            </a:r>
            <a:endParaRPr lang="en-US" sz="1875" dirty="0"/>
          </a:p>
        </p:txBody>
      </p:sp>
      <p:sp>
        <p:nvSpPr>
          <p:cNvPr id="38" name="Text 36"/>
          <p:cNvSpPr/>
          <p:nvPr/>
        </p:nvSpPr>
        <p:spPr>
          <a:xfrm>
            <a:off x="15792450" y="2552700"/>
            <a:ext cx="176022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33322D"/>
                </a:solidFill>
                <a:latin typeface="Courier New" pitchFamily="34" charset="0"/>
                <a:ea typeface="Courier New" pitchFamily="34" charset="-122"/>
                <a:cs typeface="Courier New" pitchFamily="34" charset="-120"/>
              </a:rPr>
              <a:t>.971 · FP 7.1%</a:t>
            </a:r>
            <a:endParaRPr lang="en-US" sz="1500" dirty="0"/>
          </a:p>
        </p:txBody>
      </p:sp>
      <p:sp>
        <p:nvSpPr>
          <p:cNvPr id="39" name="Text 37"/>
          <p:cNvSpPr/>
          <p:nvPr/>
        </p:nvSpPr>
        <p:spPr>
          <a:xfrm>
            <a:off x="10999470" y="3116580"/>
            <a:ext cx="1824395" cy="396240"/>
          </a:xfrm>
          <a:prstGeom prst="rect">
            <a:avLst/>
          </a:prstGeom>
          <a:noFill/>
          <a:ln/>
        </p:spPr>
        <p:txBody>
          <a:bodyPr wrap="square" lIns="25400" tIns="25400" rIns="25400" bIns="25400" rtlCol="0" anchor="t">
            <a:normAutofit/>
          </a:bodyPr>
          <a:lstStyle/>
          <a:p>
            <a:pPr marL="0" indent="0" algn="l">
              <a:buNone/>
            </a:pPr>
            <a:r>
              <a:rPr lang="en-US" sz="1875" dirty="0">
                <a:solidFill>
                  <a:srgbClr val="54514A"/>
                </a:solidFill>
                <a:latin typeface="Georgia" pitchFamily="34" charset="0"/>
                <a:ea typeface="Georgia" pitchFamily="34" charset="-122"/>
                <a:cs typeface="Georgia" pitchFamily="34" charset="-120"/>
              </a:rPr>
              <a:t>Isolation Forest</a:t>
            </a:r>
            <a:endParaRPr lang="en-US" sz="1875" dirty="0"/>
          </a:p>
        </p:txBody>
      </p:sp>
      <p:sp>
        <p:nvSpPr>
          <p:cNvPr id="40" name="Text 38"/>
          <p:cNvSpPr/>
          <p:nvPr/>
        </p:nvSpPr>
        <p:spPr>
          <a:xfrm>
            <a:off x="15678150" y="3169920"/>
            <a:ext cx="188595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A8432E"/>
                </a:solidFill>
                <a:latin typeface="Courier New" pitchFamily="34" charset="0"/>
                <a:ea typeface="Courier New" pitchFamily="34" charset="-122"/>
                <a:cs typeface="Courier New" pitchFamily="34" charset="-120"/>
              </a:rPr>
              <a:t>.638 · FP 21.4%</a:t>
            </a:r>
            <a:endParaRPr lang="en-US" sz="1500" dirty="0"/>
          </a:p>
        </p:txBody>
      </p:sp>
      <p:sp>
        <p:nvSpPr>
          <p:cNvPr id="41" name="Text 39"/>
          <p:cNvSpPr/>
          <p:nvPr/>
        </p:nvSpPr>
        <p:spPr>
          <a:xfrm>
            <a:off x="10980420" y="3855720"/>
            <a:ext cx="7074408"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CONFUSION MATRIX · 3 SVC</a:t>
            </a:r>
            <a:endParaRPr lang="en-US" sz="1200" dirty="0"/>
          </a:p>
        </p:txBody>
      </p:sp>
      <p:sp>
        <p:nvSpPr>
          <p:cNvPr id="42" name="Shape 40"/>
          <p:cNvSpPr/>
          <p:nvPr/>
        </p:nvSpPr>
        <p:spPr>
          <a:xfrm>
            <a:off x="10980420" y="4175760"/>
            <a:ext cx="6431280" cy="5577840"/>
          </a:xfrm>
          <a:prstGeom prst="rect">
            <a:avLst/>
          </a:prstGeom>
          <a:solidFill>
            <a:srgbClr val="1B1B19"/>
          </a:solidFill>
          <a:ln w="15240">
            <a:solidFill>
              <a:srgbClr val="1B1B19"/>
            </a:solidFill>
            <a:prstDash val="solid"/>
          </a:ln>
        </p:spPr>
      </p:sp>
      <p:sp>
        <p:nvSpPr>
          <p:cNvPr id="43" name="Shape 41"/>
          <p:cNvSpPr/>
          <p:nvPr/>
        </p:nvSpPr>
        <p:spPr>
          <a:xfrm>
            <a:off x="10995660" y="4191000"/>
            <a:ext cx="3190875" cy="2764155"/>
          </a:xfrm>
          <a:prstGeom prst="rect">
            <a:avLst/>
          </a:prstGeom>
          <a:solidFill>
            <a:srgbClr val="F0F2EE"/>
          </a:solidFill>
          <a:ln/>
        </p:spPr>
      </p:sp>
      <p:sp>
        <p:nvSpPr>
          <p:cNvPr id="44" name="Text 42"/>
          <p:cNvSpPr/>
          <p:nvPr/>
        </p:nvSpPr>
        <p:spPr>
          <a:xfrm>
            <a:off x="12204382" y="5178743"/>
            <a:ext cx="1305115"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1F5061"/>
                </a:solidFill>
                <a:latin typeface="Georgia" pitchFamily="34" charset="0"/>
                <a:ea typeface="Georgia" pitchFamily="34" charset="-122"/>
                <a:cs typeface="Georgia" pitchFamily="34" charset="-120"/>
              </a:rPr>
              <a:t>169</a:t>
            </a:r>
            <a:endParaRPr lang="en-US" sz="3900" dirty="0"/>
          </a:p>
        </p:txBody>
      </p:sp>
      <p:sp>
        <p:nvSpPr>
          <p:cNvPr id="45" name="Text 43"/>
          <p:cNvSpPr/>
          <p:nvPr/>
        </p:nvSpPr>
        <p:spPr>
          <a:xfrm>
            <a:off x="12499658" y="5761673"/>
            <a:ext cx="25908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TP</a:t>
            </a:r>
            <a:endParaRPr lang="en-US" sz="1200" dirty="0"/>
          </a:p>
        </p:txBody>
      </p:sp>
      <p:sp>
        <p:nvSpPr>
          <p:cNvPr id="46" name="Shape 44"/>
          <p:cNvSpPr/>
          <p:nvPr/>
        </p:nvSpPr>
        <p:spPr>
          <a:xfrm>
            <a:off x="14205585" y="4191000"/>
            <a:ext cx="3190875" cy="2764155"/>
          </a:xfrm>
          <a:prstGeom prst="rect">
            <a:avLst/>
          </a:prstGeom>
          <a:solidFill>
            <a:srgbClr val="FCFBF6"/>
          </a:solidFill>
          <a:ln/>
        </p:spPr>
      </p:sp>
      <p:sp>
        <p:nvSpPr>
          <p:cNvPr id="47" name="Text 45"/>
          <p:cNvSpPr/>
          <p:nvPr/>
        </p:nvSpPr>
        <p:spPr>
          <a:xfrm>
            <a:off x="15670173" y="5178743"/>
            <a:ext cx="337899" cy="601980"/>
          </a:xfrm>
          <a:prstGeom prst="rect">
            <a:avLst/>
          </a:prstGeom>
          <a:noFill/>
          <a:ln/>
        </p:spPr>
        <p:txBody>
          <a:bodyPr wrap="square" lIns="25400" tIns="25400" rIns="25400" bIns="25400" rtlCol="0" anchor="t">
            <a:normAutofit lnSpcReduction="10000"/>
          </a:bodyPr>
          <a:lstStyle/>
          <a:p>
            <a:pPr marL="0" indent="0" algn="l">
              <a:buNone/>
            </a:pPr>
            <a:r>
              <a:rPr lang="en-US" sz="3900" b="1" dirty="0">
                <a:solidFill>
                  <a:srgbClr val="B07D33"/>
                </a:solidFill>
                <a:latin typeface="Georgia" pitchFamily="34" charset="0"/>
                <a:ea typeface="Georgia" pitchFamily="34" charset="-122"/>
                <a:cs typeface="Georgia" pitchFamily="34" charset="-120"/>
              </a:rPr>
              <a:t>5</a:t>
            </a:r>
            <a:endParaRPr lang="en-US" sz="3900" dirty="0"/>
          </a:p>
        </p:txBody>
      </p:sp>
      <p:sp>
        <p:nvSpPr>
          <p:cNvPr id="48" name="Text 46"/>
          <p:cNvSpPr/>
          <p:nvPr/>
        </p:nvSpPr>
        <p:spPr>
          <a:xfrm>
            <a:off x="15709583" y="5761673"/>
            <a:ext cx="25908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FN</a:t>
            </a:r>
            <a:endParaRPr lang="en-US" sz="1200" dirty="0"/>
          </a:p>
        </p:txBody>
      </p:sp>
      <p:sp>
        <p:nvSpPr>
          <p:cNvPr id="49" name="Shape 47"/>
          <p:cNvSpPr/>
          <p:nvPr/>
        </p:nvSpPr>
        <p:spPr>
          <a:xfrm>
            <a:off x="10995660" y="6974205"/>
            <a:ext cx="3190875" cy="2764155"/>
          </a:xfrm>
          <a:prstGeom prst="rect">
            <a:avLst/>
          </a:prstGeom>
          <a:solidFill>
            <a:srgbClr val="FCFBF6"/>
          </a:solidFill>
          <a:ln/>
        </p:spPr>
      </p:sp>
      <p:sp>
        <p:nvSpPr>
          <p:cNvPr id="50" name="Text 48"/>
          <p:cNvSpPr/>
          <p:nvPr/>
        </p:nvSpPr>
        <p:spPr>
          <a:xfrm>
            <a:off x="12311182" y="7961948"/>
            <a:ext cx="635913" cy="601980"/>
          </a:xfrm>
          <a:prstGeom prst="rect">
            <a:avLst/>
          </a:prstGeom>
          <a:noFill/>
          <a:ln/>
        </p:spPr>
        <p:txBody>
          <a:bodyPr wrap="square" lIns="25400" tIns="25400" rIns="25400" bIns="25400" rtlCol="0" anchor="t">
            <a:normAutofit fontScale="85000" lnSpcReduction="10000"/>
          </a:bodyPr>
          <a:lstStyle/>
          <a:p>
            <a:pPr marL="0" indent="0" algn="l">
              <a:buNone/>
            </a:pPr>
            <a:r>
              <a:rPr lang="en-US" sz="3900" b="1" dirty="0">
                <a:solidFill>
                  <a:srgbClr val="B07D33"/>
                </a:solidFill>
                <a:latin typeface="Georgia" pitchFamily="34" charset="0"/>
                <a:ea typeface="Georgia" pitchFamily="34" charset="-122"/>
                <a:cs typeface="Georgia" pitchFamily="34" charset="-120"/>
              </a:rPr>
              <a:t>44</a:t>
            </a:r>
            <a:endParaRPr lang="en-US" sz="3900" dirty="0"/>
          </a:p>
        </p:txBody>
      </p:sp>
      <p:sp>
        <p:nvSpPr>
          <p:cNvPr id="51" name="Text 49"/>
          <p:cNvSpPr/>
          <p:nvPr/>
        </p:nvSpPr>
        <p:spPr>
          <a:xfrm>
            <a:off x="12499658" y="8544878"/>
            <a:ext cx="25908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FP</a:t>
            </a:r>
            <a:endParaRPr lang="en-US" sz="1200" dirty="0"/>
          </a:p>
        </p:txBody>
      </p:sp>
      <p:sp>
        <p:nvSpPr>
          <p:cNvPr id="52" name="Shape 50"/>
          <p:cNvSpPr/>
          <p:nvPr/>
        </p:nvSpPr>
        <p:spPr>
          <a:xfrm>
            <a:off x="14205585" y="6974205"/>
            <a:ext cx="3190875" cy="2764155"/>
          </a:xfrm>
          <a:prstGeom prst="rect">
            <a:avLst/>
          </a:prstGeom>
          <a:solidFill>
            <a:srgbClr val="F0F2EE"/>
          </a:solidFill>
          <a:ln/>
        </p:spPr>
      </p:sp>
      <p:sp>
        <p:nvSpPr>
          <p:cNvPr id="53" name="Text 51"/>
          <p:cNvSpPr/>
          <p:nvPr/>
        </p:nvSpPr>
        <p:spPr>
          <a:xfrm>
            <a:off x="15405735" y="7961948"/>
            <a:ext cx="866656" cy="601980"/>
          </a:xfrm>
          <a:prstGeom prst="rect">
            <a:avLst/>
          </a:prstGeom>
          <a:noFill/>
          <a:ln/>
        </p:spPr>
        <p:txBody>
          <a:bodyPr wrap="square" lIns="25400" tIns="25400" rIns="25400" bIns="25400" rtlCol="0" anchor="t">
            <a:normAutofit fontScale="85000" lnSpcReduction="10000"/>
          </a:bodyPr>
          <a:lstStyle/>
          <a:p>
            <a:pPr marL="0" indent="0" algn="l">
              <a:buNone/>
            </a:pPr>
            <a:r>
              <a:rPr lang="en-US" sz="3900" b="1" dirty="0">
                <a:solidFill>
                  <a:srgbClr val="1F5061"/>
                </a:solidFill>
                <a:latin typeface="Georgia" pitchFamily="34" charset="0"/>
                <a:ea typeface="Georgia" pitchFamily="34" charset="-122"/>
                <a:cs typeface="Georgia" pitchFamily="34" charset="-120"/>
              </a:rPr>
              <a:t>574</a:t>
            </a:r>
            <a:endParaRPr lang="en-US" sz="3900" dirty="0"/>
          </a:p>
        </p:txBody>
      </p:sp>
      <p:sp>
        <p:nvSpPr>
          <p:cNvPr id="54" name="Text 52"/>
          <p:cNvSpPr/>
          <p:nvPr/>
        </p:nvSpPr>
        <p:spPr>
          <a:xfrm>
            <a:off x="15709583" y="8544878"/>
            <a:ext cx="25908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6E6C64"/>
                </a:solidFill>
                <a:latin typeface="Courier New" pitchFamily="34" charset="0"/>
                <a:ea typeface="Courier New" pitchFamily="34" charset="-122"/>
                <a:cs typeface="Courier New" pitchFamily="34" charset="-120"/>
              </a:rPr>
              <a:t>TN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10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10</a:t>
            </a:r>
            <a:endParaRPr lang="en-US" sz="1725" dirty="0"/>
          </a:p>
        </p:txBody>
      </p:sp>
      <p:sp>
        <p:nvSpPr>
          <p:cNvPr id="6" name="Text 4"/>
          <p:cNvSpPr/>
          <p:nvPr/>
        </p:nvSpPr>
        <p:spPr>
          <a:xfrm>
            <a:off x="1329690" y="1184910"/>
            <a:ext cx="3125700"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Cost model</a:t>
            </a:r>
            <a:endParaRPr lang="en-US" sz="4500" dirty="0"/>
          </a:p>
        </p:txBody>
      </p:sp>
      <p:sp>
        <p:nvSpPr>
          <p:cNvPr id="7" name="Text 5"/>
          <p:cNvSpPr/>
          <p:nvPr/>
        </p:nvSpPr>
        <p:spPr>
          <a:xfrm>
            <a:off x="876300" y="4251484"/>
            <a:ext cx="3725799" cy="1209675"/>
          </a:xfrm>
          <a:prstGeom prst="rect">
            <a:avLst/>
          </a:prstGeom>
          <a:noFill/>
          <a:ln/>
        </p:spPr>
        <p:txBody>
          <a:bodyPr wrap="square" lIns="25400" tIns="25400" rIns="25400" bIns="25400" rtlCol="0" anchor="t">
            <a:normAutofit fontScale="92500" lnSpcReduction="20000"/>
          </a:bodyPr>
          <a:lstStyle/>
          <a:p>
            <a:pPr marL="0" indent="0" algn="l">
              <a:lnSpc>
                <a:spcPct val="82000"/>
              </a:lnSpc>
              <a:buNone/>
            </a:pPr>
            <a:r>
              <a:rPr lang="en-US" sz="11250" b="1" dirty="0">
                <a:solidFill>
                  <a:srgbClr val="1F5061"/>
                </a:solidFill>
                <a:latin typeface="Georgia" pitchFamily="34" charset="0"/>
                <a:ea typeface="Georgia" pitchFamily="34" charset="-122"/>
                <a:cs typeface="Georgia" pitchFamily="34" charset="-120"/>
              </a:rPr>
              <a:t>~$36</a:t>
            </a:r>
            <a:endParaRPr lang="en-US" sz="11250" dirty="0"/>
          </a:p>
        </p:txBody>
      </p:sp>
      <p:sp>
        <p:nvSpPr>
          <p:cNvPr id="8" name="Text 6"/>
          <p:cNvSpPr/>
          <p:nvPr/>
        </p:nvSpPr>
        <p:spPr>
          <a:xfrm>
            <a:off x="4415790" y="5051584"/>
            <a:ext cx="1188125" cy="388620"/>
          </a:xfrm>
          <a:prstGeom prst="rect">
            <a:avLst/>
          </a:prstGeom>
          <a:noFill/>
          <a:ln/>
        </p:spPr>
        <p:txBody>
          <a:bodyPr wrap="square" lIns="25400" tIns="25400" rIns="25400" bIns="25400" rtlCol="0" anchor="t">
            <a:normAutofit lnSpcReduction="10000"/>
          </a:bodyPr>
          <a:lstStyle/>
          <a:p>
            <a:pPr marL="0" indent="0" algn="l">
              <a:buNone/>
            </a:pPr>
            <a:r>
              <a:rPr lang="en-US" sz="2400" i="1" dirty="0">
                <a:solidFill>
                  <a:srgbClr val="7A766C"/>
                </a:solidFill>
                <a:latin typeface="Georgia" pitchFamily="34" charset="0"/>
                <a:ea typeface="Georgia" pitchFamily="34" charset="-122"/>
                <a:cs typeface="Georgia" pitchFamily="34" charset="-120"/>
              </a:rPr>
              <a:t>/ month</a:t>
            </a:r>
            <a:endParaRPr lang="en-US" sz="2400" dirty="0"/>
          </a:p>
        </p:txBody>
      </p:sp>
      <p:sp>
        <p:nvSpPr>
          <p:cNvPr id="9" name="Text 7"/>
          <p:cNvSpPr/>
          <p:nvPr/>
        </p:nvSpPr>
        <p:spPr>
          <a:xfrm>
            <a:off x="876300" y="5594509"/>
            <a:ext cx="9015758" cy="37242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dirty="0">
                <a:solidFill>
                  <a:srgbClr val="54514A"/>
                </a:solidFill>
                <a:latin typeface="Georgia" pitchFamily="34" charset="0"/>
                <a:ea typeface="Georgia" pitchFamily="34" charset="-122"/>
                <a:cs typeface="Georgia" pitchFamily="34" charset="-120"/>
              </a:rPr>
              <a:t>Fargate 2-task HA, flat. Measured — not a forecast.</a:t>
            </a:r>
            <a:endParaRPr lang="en-US" sz="1950" dirty="0"/>
          </a:p>
        </p:txBody>
      </p:sp>
      <p:sp>
        <p:nvSpPr>
          <p:cNvPr id="10" name="Text 8"/>
          <p:cNvSpPr/>
          <p:nvPr/>
        </p:nvSpPr>
        <p:spPr>
          <a:xfrm>
            <a:off x="876300" y="6424136"/>
            <a:ext cx="2422398" cy="251460"/>
          </a:xfrm>
          <a:prstGeom prst="rect">
            <a:avLst/>
          </a:prstGeom>
          <a:noFill/>
          <a:ln/>
        </p:spPr>
        <p:txBody>
          <a:bodyPr wrap="square" lIns="25400" tIns="25400" rIns="25400" bIns="25400" rtlCol="0" anchor="t">
            <a:normAutofit/>
          </a:bodyPr>
          <a:lstStyle/>
          <a:p>
            <a:pPr marL="0" indent="0" algn="l">
              <a:buNone/>
            </a:pPr>
            <a:r>
              <a:rPr lang="en-US" sz="1275" kern="0" spc="102" dirty="0">
                <a:solidFill>
                  <a:srgbClr val="8C887C"/>
                </a:solidFill>
                <a:latin typeface="Courier New" pitchFamily="34" charset="0"/>
                <a:ea typeface="Courier New" pitchFamily="34" charset="-122"/>
                <a:cs typeface="Courier New" pitchFamily="34" charset="-120"/>
              </a:rPr>
              <a:t>SPEND VS $200 BUDGET</a:t>
            </a:r>
            <a:endParaRPr lang="en-US" sz="1275" dirty="0"/>
          </a:p>
        </p:txBody>
      </p:sp>
      <p:sp>
        <p:nvSpPr>
          <p:cNvPr id="11" name="Text 9"/>
          <p:cNvSpPr/>
          <p:nvPr/>
        </p:nvSpPr>
        <p:spPr>
          <a:xfrm>
            <a:off x="8191500" y="6424136"/>
            <a:ext cx="957143" cy="251460"/>
          </a:xfrm>
          <a:prstGeom prst="rect">
            <a:avLst/>
          </a:prstGeom>
          <a:noFill/>
          <a:ln/>
        </p:spPr>
        <p:txBody>
          <a:bodyPr wrap="square" lIns="25400" tIns="25400" rIns="25400" bIns="25400" rtlCol="0" anchor="t">
            <a:normAutofit/>
          </a:bodyPr>
          <a:lstStyle/>
          <a:p>
            <a:pPr marL="0" indent="0" algn="l">
              <a:buNone/>
            </a:pPr>
            <a:r>
              <a:rPr lang="en-US" sz="1275" kern="0" spc="102" dirty="0">
                <a:solidFill>
                  <a:srgbClr val="1F5061"/>
                </a:solidFill>
                <a:latin typeface="Courier New" pitchFamily="34" charset="0"/>
                <a:ea typeface="Courier New" pitchFamily="34" charset="-122"/>
                <a:cs typeface="Courier New" pitchFamily="34" charset="-120"/>
              </a:rPr>
              <a:t>18% USED</a:t>
            </a:r>
            <a:endParaRPr lang="en-US" sz="1275" dirty="0"/>
          </a:p>
        </p:txBody>
      </p:sp>
      <p:sp>
        <p:nvSpPr>
          <p:cNvPr id="12" name="Shape 10"/>
          <p:cNvSpPr/>
          <p:nvPr/>
        </p:nvSpPr>
        <p:spPr>
          <a:xfrm>
            <a:off x="876300" y="6751797"/>
            <a:ext cx="8196143" cy="510540"/>
          </a:xfrm>
          <a:prstGeom prst="roundRect">
            <a:avLst>
              <a:gd name="adj" fmla="val 7463"/>
            </a:avLst>
          </a:prstGeom>
          <a:solidFill>
            <a:srgbClr val="ECE8DE"/>
          </a:solidFill>
          <a:ln w="7620">
            <a:solidFill>
              <a:srgbClr val="D8D2C4"/>
            </a:solidFill>
            <a:prstDash val="solid"/>
          </a:ln>
        </p:spPr>
      </p:sp>
      <p:sp>
        <p:nvSpPr>
          <p:cNvPr id="13" name="Shape 11"/>
          <p:cNvSpPr/>
          <p:nvPr/>
        </p:nvSpPr>
        <p:spPr>
          <a:xfrm>
            <a:off x="883920" y="6759416"/>
            <a:ext cx="1472446" cy="495300"/>
          </a:xfrm>
          <a:prstGeom prst="rect">
            <a:avLst/>
          </a:prstGeom>
          <a:solidFill>
            <a:srgbClr val="1F5061"/>
          </a:solidFill>
          <a:ln/>
        </p:spPr>
      </p:sp>
      <p:sp>
        <p:nvSpPr>
          <p:cNvPr id="14" name="Shape 12"/>
          <p:cNvSpPr/>
          <p:nvPr/>
        </p:nvSpPr>
        <p:spPr>
          <a:xfrm>
            <a:off x="7428548" y="6759416"/>
            <a:ext cx="19050" cy="495300"/>
          </a:xfrm>
          <a:prstGeom prst="rect">
            <a:avLst/>
          </a:prstGeom>
          <a:solidFill>
            <a:srgbClr val="B07D33"/>
          </a:solidFill>
          <a:ln/>
        </p:spPr>
      </p:sp>
      <p:sp>
        <p:nvSpPr>
          <p:cNvPr id="15" name="Text 13"/>
          <p:cNvSpPr/>
          <p:nvPr/>
        </p:nvSpPr>
        <p:spPr>
          <a:xfrm>
            <a:off x="7523798" y="6904197"/>
            <a:ext cx="99060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B07D33"/>
                </a:solidFill>
                <a:latin typeface="Courier New" pitchFamily="34" charset="0"/>
                <a:ea typeface="Courier New" pitchFamily="34" charset="-122"/>
                <a:cs typeface="Courier New" pitchFamily="34" charset="-120"/>
              </a:rPr>
              <a:t>alert $160</a:t>
            </a:r>
            <a:endParaRPr lang="en-US" sz="1200" dirty="0"/>
          </a:p>
        </p:txBody>
      </p:sp>
      <p:sp>
        <p:nvSpPr>
          <p:cNvPr id="16" name="Text 14"/>
          <p:cNvSpPr/>
          <p:nvPr/>
        </p:nvSpPr>
        <p:spPr>
          <a:xfrm>
            <a:off x="876300" y="7357586"/>
            <a:ext cx="25908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A29E92"/>
                </a:solidFill>
                <a:latin typeface="Courier New" pitchFamily="34" charset="0"/>
                <a:ea typeface="Courier New" pitchFamily="34" charset="-122"/>
                <a:cs typeface="Courier New" pitchFamily="34" charset="-120"/>
              </a:rPr>
              <a:t>$0</a:t>
            </a:r>
            <a:endParaRPr lang="en-US" sz="1200" dirty="0"/>
          </a:p>
        </p:txBody>
      </p:sp>
      <p:sp>
        <p:nvSpPr>
          <p:cNvPr id="17" name="Text 15"/>
          <p:cNvSpPr/>
          <p:nvPr/>
        </p:nvSpPr>
        <p:spPr>
          <a:xfrm>
            <a:off x="5605343" y="7357586"/>
            <a:ext cx="381381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A29E92"/>
                </a:solidFill>
                <a:latin typeface="Courier New" pitchFamily="34" charset="0"/>
                <a:ea typeface="Courier New" pitchFamily="34" charset="-122"/>
                <a:cs typeface="Courier New" pitchFamily="34" charset="-120"/>
              </a:rPr>
              <a:t>$200 — circuit breaker → scale to zero</a:t>
            </a:r>
            <a:endParaRPr lang="en-US" sz="1200" dirty="0"/>
          </a:p>
        </p:txBody>
      </p:sp>
      <p:sp>
        <p:nvSpPr>
          <p:cNvPr id="18" name="Shape 16"/>
          <p:cNvSpPr/>
          <p:nvPr/>
        </p:nvSpPr>
        <p:spPr>
          <a:xfrm>
            <a:off x="9605843" y="2061210"/>
            <a:ext cx="7805857" cy="15240"/>
          </a:xfrm>
          <a:prstGeom prst="rect">
            <a:avLst/>
          </a:prstGeom>
          <a:solidFill>
            <a:srgbClr val="1B1B19"/>
          </a:solidFill>
          <a:ln/>
        </p:spPr>
      </p:sp>
      <p:sp>
        <p:nvSpPr>
          <p:cNvPr id="19" name="Shape 17"/>
          <p:cNvSpPr/>
          <p:nvPr/>
        </p:nvSpPr>
        <p:spPr>
          <a:xfrm>
            <a:off x="9605843" y="4335780"/>
            <a:ext cx="7805857" cy="9525"/>
          </a:xfrm>
          <a:prstGeom prst="rect">
            <a:avLst/>
          </a:prstGeom>
          <a:solidFill>
            <a:srgbClr val="E0DBCF"/>
          </a:solidFill>
          <a:ln/>
        </p:spPr>
      </p:sp>
      <p:sp>
        <p:nvSpPr>
          <p:cNvPr id="20" name="Text 18"/>
          <p:cNvSpPr/>
          <p:nvPr/>
        </p:nvSpPr>
        <p:spPr>
          <a:xfrm>
            <a:off x="9643943" y="2902268"/>
            <a:ext cx="2627888"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Inference token cost</a:t>
            </a:r>
            <a:endParaRPr lang="en-US" sz="2100" dirty="0"/>
          </a:p>
        </p:txBody>
      </p:sp>
      <p:sp>
        <p:nvSpPr>
          <p:cNvPr id="21" name="Text 19"/>
          <p:cNvSpPr/>
          <p:nvPr/>
        </p:nvSpPr>
        <p:spPr>
          <a:xfrm>
            <a:off x="9643943" y="3235643"/>
            <a:ext cx="2627888"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E6C64"/>
                </a:solidFill>
                <a:latin typeface="Arial" pitchFamily="34" charset="0"/>
                <a:ea typeface="Arial" pitchFamily="34" charset="-122"/>
                <a:cs typeface="Arial" pitchFamily="34" charset="-120"/>
              </a:rPr>
              <a:t>no LLM in the loop</a:t>
            </a:r>
            <a:endParaRPr lang="en-US" sz="1500" dirty="0"/>
          </a:p>
        </p:txBody>
      </p:sp>
      <p:sp>
        <p:nvSpPr>
          <p:cNvPr id="22" name="Text 20"/>
          <p:cNvSpPr/>
          <p:nvPr/>
        </p:nvSpPr>
        <p:spPr>
          <a:xfrm>
            <a:off x="16720899" y="2939415"/>
            <a:ext cx="72890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1F5061"/>
                </a:solidFill>
                <a:latin typeface="Georgia" pitchFamily="34" charset="0"/>
                <a:ea typeface="Georgia" pitchFamily="34" charset="-122"/>
                <a:cs typeface="Georgia" pitchFamily="34" charset="-120"/>
              </a:rPr>
              <a:t>$0</a:t>
            </a:r>
            <a:endParaRPr lang="en-US" sz="4200" dirty="0"/>
          </a:p>
        </p:txBody>
      </p:sp>
      <p:sp>
        <p:nvSpPr>
          <p:cNvPr id="23" name="Shape 21"/>
          <p:cNvSpPr/>
          <p:nvPr/>
        </p:nvSpPr>
        <p:spPr>
          <a:xfrm>
            <a:off x="9605843" y="6602730"/>
            <a:ext cx="7805857" cy="9525"/>
          </a:xfrm>
          <a:prstGeom prst="rect">
            <a:avLst/>
          </a:prstGeom>
          <a:solidFill>
            <a:srgbClr val="E0DBCF"/>
          </a:solidFill>
          <a:ln/>
        </p:spPr>
      </p:sp>
      <p:sp>
        <p:nvSpPr>
          <p:cNvPr id="24" name="Text 22"/>
          <p:cNvSpPr/>
          <p:nvPr/>
        </p:nvSpPr>
        <p:spPr>
          <a:xfrm>
            <a:off x="9643943" y="5169218"/>
            <a:ext cx="2298502"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Marginal / tenant</a:t>
            </a:r>
            <a:endParaRPr lang="en-US" sz="2100" dirty="0"/>
          </a:p>
        </p:txBody>
      </p:sp>
      <p:sp>
        <p:nvSpPr>
          <p:cNvPr id="25" name="Text 23"/>
          <p:cNvSpPr/>
          <p:nvPr/>
        </p:nvSpPr>
        <p:spPr>
          <a:xfrm>
            <a:off x="9643943" y="5502593"/>
            <a:ext cx="2298502"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E6C64"/>
                </a:solidFill>
                <a:latin typeface="Arial" pitchFamily="34" charset="0"/>
                <a:ea typeface="Arial" pitchFamily="34" charset="-122"/>
                <a:cs typeface="Arial" pitchFamily="34" charset="-120"/>
              </a:rPr>
              <a:t>scales to thousands</a:t>
            </a:r>
            <a:endParaRPr lang="en-US" sz="1500" dirty="0"/>
          </a:p>
        </p:txBody>
      </p:sp>
      <p:sp>
        <p:nvSpPr>
          <p:cNvPr id="26" name="Text 24"/>
          <p:cNvSpPr/>
          <p:nvPr/>
        </p:nvSpPr>
        <p:spPr>
          <a:xfrm>
            <a:off x="16475989" y="5206365"/>
            <a:ext cx="973812"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1B1B19"/>
                </a:solidFill>
                <a:latin typeface="Georgia" pitchFamily="34" charset="0"/>
                <a:ea typeface="Georgia" pitchFamily="34" charset="-122"/>
                <a:cs typeface="Georgia" pitchFamily="34" charset="-120"/>
              </a:rPr>
              <a:t>&lt;$1</a:t>
            </a:r>
            <a:endParaRPr lang="en-US" sz="4200" dirty="0"/>
          </a:p>
        </p:txBody>
      </p:sp>
      <p:sp>
        <p:nvSpPr>
          <p:cNvPr id="27" name="Shape 25"/>
          <p:cNvSpPr/>
          <p:nvPr/>
        </p:nvSpPr>
        <p:spPr>
          <a:xfrm>
            <a:off x="9605843" y="8869680"/>
            <a:ext cx="7805857" cy="15240"/>
          </a:xfrm>
          <a:prstGeom prst="rect">
            <a:avLst/>
          </a:prstGeom>
          <a:solidFill>
            <a:srgbClr val="1B1B19"/>
          </a:solidFill>
          <a:ln/>
        </p:spPr>
      </p:sp>
      <p:sp>
        <p:nvSpPr>
          <p:cNvPr id="28" name="Text 26"/>
          <p:cNvSpPr/>
          <p:nvPr/>
        </p:nvSpPr>
        <p:spPr>
          <a:xfrm>
            <a:off x="9643943" y="7436168"/>
            <a:ext cx="1747647"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Training</a:t>
            </a:r>
            <a:endParaRPr lang="en-US" sz="2100" dirty="0"/>
          </a:p>
        </p:txBody>
      </p:sp>
      <p:sp>
        <p:nvSpPr>
          <p:cNvPr id="29" name="Text 27"/>
          <p:cNvSpPr/>
          <p:nvPr/>
        </p:nvSpPr>
        <p:spPr>
          <a:xfrm>
            <a:off x="9643943" y="7769543"/>
            <a:ext cx="1747647" cy="312420"/>
          </a:xfrm>
          <a:prstGeom prst="rect">
            <a:avLst/>
          </a:prstGeom>
          <a:noFill/>
          <a:ln/>
        </p:spPr>
        <p:txBody>
          <a:bodyPr wrap="square" lIns="25400" tIns="25400" rIns="25400" bIns="25400" rtlCol="0" anchor="t">
            <a:normAutofit/>
          </a:bodyPr>
          <a:lstStyle/>
          <a:p>
            <a:pPr marL="0" indent="0" algn="l">
              <a:buNone/>
            </a:pPr>
            <a:r>
              <a:rPr lang="en-US" sz="1500" dirty="0">
                <a:solidFill>
                  <a:srgbClr val="6E6C64"/>
                </a:solidFill>
                <a:latin typeface="Arial" pitchFamily="34" charset="0"/>
                <a:ea typeface="Arial" pitchFamily="34" charset="-122"/>
                <a:cs typeface="Arial" pitchFamily="34" charset="-120"/>
              </a:rPr>
              <a:t>offline weekly batch</a:t>
            </a:r>
            <a:endParaRPr lang="en-US" sz="1500" dirty="0"/>
          </a:p>
        </p:txBody>
      </p:sp>
      <p:sp>
        <p:nvSpPr>
          <p:cNvPr id="30" name="Text 28"/>
          <p:cNvSpPr/>
          <p:nvPr/>
        </p:nvSpPr>
        <p:spPr>
          <a:xfrm>
            <a:off x="16377881" y="7473315"/>
            <a:ext cx="107192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1B1B19"/>
                </a:solidFill>
                <a:latin typeface="Georgia" pitchFamily="34" charset="0"/>
                <a:ea typeface="Georgia" pitchFamily="34" charset="-122"/>
                <a:cs typeface="Georgia" pitchFamily="34" charset="-120"/>
              </a:rPr>
              <a:t>~$0</a:t>
            </a:r>
            <a:endParaRPr lang="en-US" sz="4200" dirty="0"/>
          </a:p>
        </p:txBody>
      </p:sp>
      <p:sp>
        <p:nvSpPr>
          <p:cNvPr id="31" name="Text 29"/>
          <p:cNvSpPr/>
          <p:nvPr/>
        </p:nvSpPr>
        <p:spPr>
          <a:xfrm>
            <a:off x="9605843" y="9113520"/>
            <a:ext cx="8040032"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4514A"/>
                </a:solidFill>
                <a:latin typeface="Georgia" pitchFamily="34" charset="0"/>
                <a:ea typeface="Georgia" pitchFamily="34" charset="-122"/>
                <a:cs typeface="Georgia" pitchFamily="34" charset="-120"/>
              </a:rPr>
              <a:t>Budget priority is explicit: the $200 cap outranks the 99.5% SLA — fail-open, then CDO falls back to rules.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11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11</a:t>
            </a:r>
            <a:endParaRPr lang="en-US" sz="1725" dirty="0"/>
          </a:p>
        </p:txBody>
      </p:sp>
      <p:sp>
        <p:nvSpPr>
          <p:cNvPr id="6" name="Text 4"/>
          <p:cNvSpPr/>
          <p:nvPr/>
        </p:nvSpPr>
        <p:spPr>
          <a:xfrm>
            <a:off x="1329690" y="1184910"/>
            <a:ext cx="4612458"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Safety guardrails</a:t>
            </a:r>
            <a:endParaRPr lang="en-US" sz="4500" dirty="0"/>
          </a:p>
        </p:txBody>
      </p:sp>
      <p:sp>
        <p:nvSpPr>
          <p:cNvPr id="7" name="Shape 5"/>
          <p:cNvSpPr/>
          <p:nvPr/>
        </p:nvSpPr>
        <p:spPr>
          <a:xfrm>
            <a:off x="876300" y="2061210"/>
            <a:ext cx="16535400" cy="15240"/>
          </a:xfrm>
          <a:prstGeom prst="rect">
            <a:avLst/>
          </a:prstGeom>
          <a:solidFill>
            <a:srgbClr val="1B1B19"/>
          </a:solidFill>
          <a:ln/>
        </p:spPr>
      </p:sp>
      <p:sp>
        <p:nvSpPr>
          <p:cNvPr id="8" name="Shape 6"/>
          <p:cNvSpPr/>
          <p:nvPr/>
        </p:nvSpPr>
        <p:spPr>
          <a:xfrm>
            <a:off x="876300" y="2061210"/>
            <a:ext cx="9525" cy="7692390"/>
          </a:xfrm>
          <a:prstGeom prst="rect">
            <a:avLst/>
          </a:prstGeom>
          <a:solidFill>
            <a:srgbClr val="E0DBCF"/>
          </a:solidFill>
          <a:ln/>
        </p:spPr>
      </p:sp>
      <p:sp>
        <p:nvSpPr>
          <p:cNvPr id="9" name="Shape 7"/>
          <p:cNvSpPr/>
          <p:nvPr/>
        </p:nvSpPr>
        <p:spPr>
          <a:xfrm>
            <a:off x="883920" y="5907405"/>
            <a:ext cx="5509260" cy="9525"/>
          </a:xfrm>
          <a:prstGeom prst="rect">
            <a:avLst/>
          </a:prstGeom>
          <a:solidFill>
            <a:srgbClr val="E0DBCF"/>
          </a:solidFill>
          <a:ln/>
        </p:spPr>
      </p:sp>
      <p:sp>
        <p:nvSpPr>
          <p:cNvPr id="10" name="Shape 8"/>
          <p:cNvSpPr/>
          <p:nvPr/>
        </p:nvSpPr>
        <p:spPr>
          <a:xfrm>
            <a:off x="6385560" y="2076450"/>
            <a:ext cx="9525" cy="3838575"/>
          </a:xfrm>
          <a:prstGeom prst="rect">
            <a:avLst/>
          </a:prstGeom>
          <a:solidFill>
            <a:srgbClr val="E0DBCF"/>
          </a:solidFill>
          <a:ln/>
        </p:spPr>
      </p:sp>
      <p:sp>
        <p:nvSpPr>
          <p:cNvPr id="11" name="Text 9"/>
          <p:cNvSpPr/>
          <p:nvPr/>
        </p:nvSpPr>
        <p:spPr>
          <a:xfrm>
            <a:off x="1207770" y="3459242"/>
            <a:ext cx="5339334"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1F5061"/>
                </a:solidFill>
                <a:latin typeface="Courier New" pitchFamily="34" charset="0"/>
                <a:ea typeface="Courier New" pitchFamily="34" charset="-122"/>
                <a:cs typeface="Courier New" pitchFamily="34" charset="-120"/>
              </a:rPr>
              <a:t>01 · GATE</a:t>
            </a:r>
            <a:endParaRPr lang="en-US" sz="1200" dirty="0"/>
          </a:p>
        </p:txBody>
      </p:sp>
      <p:sp>
        <p:nvSpPr>
          <p:cNvPr id="12" name="Text 10"/>
          <p:cNvSpPr/>
          <p:nvPr/>
        </p:nvSpPr>
        <p:spPr>
          <a:xfrm>
            <a:off x="1207770" y="3798332"/>
            <a:ext cx="5339334"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Confidence gating</a:t>
            </a:r>
            <a:endParaRPr lang="en-US" sz="2325" dirty="0"/>
          </a:p>
        </p:txBody>
      </p:sp>
      <p:sp>
        <p:nvSpPr>
          <p:cNvPr id="13" name="Text 11"/>
          <p:cNvSpPr/>
          <p:nvPr/>
        </p:nvSpPr>
        <p:spPr>
          <a:xfrm>
            <a:off x="1207770" y="4228862"/>
            <a:ext cx="5339334"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Below 0.7 → downgrade SCALE_UP to INVESTIGATE.</a:t>
            </a:r>
            <a:endParaRPr lang="en-US" sz="1725" dirty="0"/>
          </a:p>
        </p:txBody>
      </p:sp>
      <p:sp>
        <p:nvSpPr>
          <p:cNvPr id="14" name="Shape 12"/>
          <p:cNvSpPr/>
          <p:nvPr/>
        </p:nvSpPr>
        <p:spPr>
          <a:xfrm>
            <a:off x="6393180" y="5907405"/>
            <a:ext cx="5509260" cy="9525"/>
          </a:xfrm>
          <a:prstGeom prst="rect">
            <a:avLst/>
          </a:prstGeom>
          <a:solidFill>
            <a:srgbClr val="E0DBCF"/>
          </a:solidFill>
          <a:ln/>
        </p:spPr>
      </p:sp>
      <p:sp>
        <p:nvSpPr>
          <p:cNvPr id="15" name="Shape 13"/>
          <p:cNvSpPr/>
          <p:nvPr/>
        </p:nvSpPr>
        <p:spPr>
          <a:xfrm>
            <a:off x="11894820" y="2076450"/>
            <a:ext cx="9525" cy="3838575"/>
          </a:xfrm>
          <a:prstGeom prst="rect">
            <a:avLst/>
          </a:prstGeom>
          <a:solidFill>
            <a:srgbClr val="E0DBCF"/>
          </a:solidFill>
          <a:ln/>
        </p:spPr>
      </p:sp>
      <p:sp>
        <p:nvSpPr>
          <p:cNvPr id="16" name="Text 14"/>
          <p:cNvSpPr/>
          <p:nvPr/>
        </p:nvSpPr>
        <p:spPr>
          <a:xfrm>
            <a:off x="6717030" y="3311366"/>
            <a:ext cx="5339334"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1F5061"/>
                </a:solidFill>
                <a:latin typeface="Courier New" pitchFamily="34" charset="0"/>
                <a:ea typeface="Courier New" pitchFamily="34" charset="-122"/>
                <a:cs typeface="Courier New" pitchFamily="34" charset="-120"/>
              </a:rPr>
              <a:t>02 · ASSIST-ONLY</a:t>
            </a:r>
            <a:endParaRPr lang="en-US" sz="1200" dirty="0"/>
          </a:p>
        </p:txBody>
      </p:sp>
      <p:sp>
        <p:nvSpPr>
          <p:cNvPr id="17" name="Text 15"/>
          <p:cNvSpPr/>
          <p:nvPr/>
        </p:nvSpPr>
        <p:spPr>
          <a:xfrm>
            <a:off x="6717030" y="3650456"/>
            <a:ext cx="5339334"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Never executes</a:t>
            </a:r>
            <a:endParaRPr lang="en-US" sz="2325" dirty="0"/>
          </a:p>
        </p:txBody>
      </p:sp>
      <p:sp>
        <p:nvSpPr>
          <p:cNvPr id="18" name="Text 16"/>
          <p:cNvSpPr/>
          <p:nvPr/>
        </p:nvSpPr>
        <p:spPr>
          <a:xfrm>
            <a:off x="6717030" y="4080986"/>
            <a:ext cx="4999558" cy="62960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Recommends only; no closed-loop auto-remediation.</a:t>
            </a:r>
            <a:endParaRPr lang="en-US" sz="1725" dirty="0"/>
          </a:p>
        </p:txBody>
      </p:sp>
      <p:sp>
        <p:nvSpPr>
          <p:cNvPr id="19" name="Shape 17"/>
          <p:cNvSpPr/>
          <p:nvPr/>
        </p:nvSpPr>
        <p:spPr>
          <a:xfrm>
            <a:off x="11902440" y="5907405"/>
            <a:ext cx="5509260" cy="9525"/>
          </a:xfrm>
          <a:prstGeom prst="rect">
            <a:avLst/>
          </a:prstGeom>
          <a:solidFill>
            <a:srgbClr val="E0DBCF"/>
          </a:solidFill>
          <a:ln/>
        </p:spPr>
      </p:sp>
      <p:sp>
        <p:nvSpPr>
          <p:cNvPr id="20" name="Shape 18"/>
          <p:cNvSpPr/>
          <p:nvPr/>
        </p:nvSpPr>
        <p:spPr>
          <a:xfrm>
            <a:off x="17404080" y="2076450"/>
            <a:ext cx="9525" cy="3838575"/>
          </a:xfrm>
          <a:prstGeom prst="rect">
            <a:avLst/>
          </a:prstGeom>
          <a:solidFill>
            <a:srgbClr val="E0DBCF"/>
          </a:solidFill>
          <a:ln/>
        </p:spPr>
      </p:sp>
      <p:sp>
        <p:nvSpPr>
          <p:cNvPr id="21" name="Text 19"/>
          <p:cNvSpPr/>
          <p:nvPr/>
        </p:nvSpPr>
        <p:spPr>
          <a:xfrm>
            <a:off x="12226290" y="3459242"/>
            <a:ext cx="5339334"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1F5061"/>
                </a:solidFill>
                <a:latin typeface="Courier New" pitchFamily="34" charset="0"/>
                <a:ea typeface="Courier New" pitchFamily="34" charset="-122"/>
                <a:cs typeface="Courier New" pitchFamily="34" charset="-120"/>
              </a:rPr>
              <a:t>03 · AUDIT</a:t>
            </a:r>
            <a:endParaRPr lang="en-US" sz="1200" dirty="0"/>
          </a:p>
        </p:txBody>
      </p:sp>
      <p:sp>
        <p:nvSpPr>
          <p:cNvPr id="22" name="Text 20"/>
          <p:cNvSpPr/>
          <p:nvPr/>
        </p:nvSpPr>
        <p:spPr>
          <a:xfrm>
            <a:off x="12226290" y="3798332"/>
            <a:ext cx="5339334"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6-field audit log</a:t>
            </a:r>
            <a:endParaRPr lang="en-US" sz="2325" dirty="0"/>
          </a:p>
        </p:txBody>
      </p:sp>
      <p:sp>
        <p:nvSpPr>
          <p:cNvPr id="23" name="Text 21"/>
          <p:cNvSpPr/>
          <p:nvPr/>
        </p:nvSpPr>
        <p:spPr>
          <a:xfrm>
            <a:off x="12226290" y="4228862"/>
            <a:ext cx="5339334"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SHA-256 input hash, KMS-encrypted, no raw PII.</a:t>
            </a:r>
            <a:endParaRPr lang="en-US" sz="1725" dirty="0"/>
          </a:p>
        </p:txBody>
      </p:sp>
      <p:sp>
        <p:nvSpPr>
          <p:cNvPr id="24" name="Shape 22"/>
          <p:cNvSpPr/>
          <p:nvPr/>
        </p:nvSpPr>
        <p:spPr>
          <a:xfrm>
            <a:off x="6385560" y="5915025"/>
            <a:ext cx="9525" cy="3838575"/>
          </a:xfrm>
          <a:prstGeom prst="rect">
            <a:avLst/>
          </a:prstGeom>
          <a:solidFill>
            <a:srgbClr val="E0DBCF"/>
          </a:solidFill>
          <a:ln/>
        </p:spPr>
      </p:sp>
      <p:sp>
        <p:nvSpPr>
          <p:cNvPr id="25" name="Text 23"/>
          <p:cNvSpPr/>
          <p:nvPr/>
        </p:nvSpPr>
        <p:spPr>
          <a:xfrm>
            <a:off x="1207770" y="7301627"/>
            <a:ext cx="5339334"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B07D33"/>
                </a:solidFill>
                <a:latin typeface="Courier New" pitchFamily="34" charset="0"/>
                <a:ea typeface="Courier New" pitchFamily="34" charset="-122"/>
                <a:cs typeface="Courier New" pitchFamily="34" charset="-120"/>
              </a:rPr>
              <a:t>04 · FAIL-OPEN</a:t>
            </a:r>
            <a:endParaRPr lang="en-US" sz="1200" dirty="0"/>
          </a:p>
        </p:txBody>
      </p:sp>
      <p:sp>
        <p:nvSpPr>
          <p:cNvPr id="26" name="Text 24"/>
          <p:cNvSpPr/>
          <p:nvPr/>
        </p:nvSpPr>
        <p:spPr>
          <a:xfrm>
            <a:off x="1207770" y="7640717"/>
            <a:ext cx="5339334"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Graceful degrade</a:t>
            </a:r>
            <a:endParaRPr lang="en-US" sz="2325" dirty="0"/>
          </a:p>
        </p:txBody>
      </p:sp>
      <p:sp>
        <p:nvSpPr>
          <p:cNvPr id="27" name="Text 25"/>
          <p:cNvSpPr/>
          <p:nvPr/>
        </p:nvSpPr>
        <p:spPr>
          <a:xfrm>
            <a:off x="1207770" y="8071247"/>
            <a:ext cx="5339334"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5xx → CDO falls back to rule-based alerts.</a:t>
            </a:r>
            <a:endParaRPr lang="en-US" sz="1725" dirty="0"/>
          </a:p>
        </p:txBody>
      </p:sp>
      <p:sp>
        <p:nvSpPr>
          <p:cNvPr id="28" name="Shape 26"/>
          <p:cNvSpPr/>
          <p:nvPr/>
        </p:nvSpPr>
        <p:spPr>
          <a:xfrm>
            <a:off x="11894820" y="5915025"/>
            <a:ext cx="9525" cy="3838575"/>
          </a:xfrm>
          <a:prstGeom prst="rect">
            <a:avLst/>
          </a:prstGeom>
          <a:solidFill>
            <a:srgbClr val="E0DBCF"/>
          </a:solidFill>
          <a:ln/>
        </p:spPr>
      </p:sp>
      <p:sp>
        <p:nvSpPr>
          <p:cNvPr id="29" name="Text 27"/>
          <p:cNvSpPr/>
          <p:nvPr/>
        </p:nvSpPr>
        <p:spPr>
          <a:xfrm>
            <a:off x="6717030" y="7301627"/>
            <a:ext cx="5339334"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1F5061"/>
                </a:solidFill>
                <a:latin typeface="Courier New" pitchFamily="34" charset="0"/>
                <a:ea typeface="Courier New" pitchFamily="34" charset="-122"/>
                <a:cs typeface="Courier New" pitchFamily="34" charset="-120"/>
              </a:rPr>
              <a:t>05 · ISOLATION</a:t>
            </a:r>
            <a:endParaRPr lang="en-US" sz="1200" dirty="0"/>
          </a:p>
        </p:txBody>
      </p:sp>
      <p:sp>
        <p:nvSpPr>
          <p:cNvPr id="30" name="Text 28"/>
          <p:cNvSpPr/>
          <p:nvPr/>
        </p:nvSpPr>
        <p:spPr>
          <a:xfrm>
            <a:off x="6717030" y="7640717"/>
            <a:ext cx="5339334"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Per-request scoping</a:t>
            </a:r>
            <a:endParaRPr lang="en-US" sz="2325" dirty="0"/>
          </a:p>
        </p:txBody>
      </p:sp>
      <p:sp>
        <p:nvSpPr>
          <p:cNvPr id="31" name="Text 29"/>
          <p:cNvSpPr/>
          <p:nvPr/>
        </p:nvSpPr>
        <p:spPr>
          <a:xfrm>
            <a:off x="6717030" y="8071247"/>
            <a:ext cx="5339334"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X-Tenant-Id enforced; stateless — zero data bleed.</a:t>
            </a:r>
            <a:endParaRPr lang="en-US" sz="1725" dirty="0"/>
          </a:p>
        </p:txBody>
      </p:sp>
      <p:sp>
        <p:nvSpPr>
          <p:cNvPr id="32" name="Text 30"/>
          <p:cNvSpPr/>
          <p:nvPr/>
        </p:nvSpPr>
        <p:spPr>
          <a:xfrm>
            <a:off x="12226290" y="7301627"/>
            <a:ext cx="5347716" cy="243840"/>
          </a:xfrm>
          <a:prstGeom prst="rect">
            <a:avLst/>
          </a:prstGeom>
          <a:noFill/>
          <a:ln/>
        </p:spPr>
        <p:txBody>
          <a:bodyPr wrap="square" lIns="25400" tIns="25400" rIns="25400" bIns="25400" rtlCol="0" anchor="t">
            <a:normAutofit/>
          </a:bodyPr>
          <a:lstStyle/>
          <a:p>
            <a:pPr marL="0" indent="0" algn="l">
              <a:buNone/>
            </a:pPr>
            <a:r>
              <a:rPr lang="en-US" sz="1200" kern="0" spc="72" dirty="0">
                <a:solidFill>
                  <a:srgbClr val="1F5061"/>
                </a:solidFill>
                <a:latin typeface="Courier New" pitchFamily="34" charset="0"/>
                <a:ea typeface="Courier New" pitchFamily="34" charset="-122"/>
                <a:cs typeface="Courier New" pitchFamily="34" charset="-120"/>
              </a:rPr>
              <a:t>06 · RATE LIMIT</a:t>
            </a:r>
            <a:endParaRPr lang="en-US" sz="1200" dirty="0"/>
          </a:p>
        </p:txBody>
      </p:sp>
      <p:sp>
        <p:nvSpPr>
          <p:cNvPr id="33" name="Text 31"/>
          <p:cNvSpPr/>
          <p:nvPr/>
        </p:nvSpPr>
        <p:spPr>
          <a:xfrm>
            <a:off x="12226290" y="7640717"/>
            <a:ext cx="5347716" cy="373380"/>
          </a:xfrm>
          <a:prstGeom prst="rect">
            <a:avLst/>
          </a:prstGeom>
          <a:noFill/>
          <a:ln/>
        </p:spPr>
        <p:txBody>
          <a:bodyPr wrap="square" lIns="25400" tIns="25400" rIns="25400" bIns="25400" rtlCol="0" anchor="t">
            <a:normAutofit lnSpcReduction="10000"/>
          </a:bodyPr>
          <a:lstStyle/>
          <a:p>
            <a:pPr marL="0" indent="0" algn="l">
              <a:buNone/>
            </a:pPr>
            <a:r>
              <a:rPr lang="en-US" sz="2325" b="1" dirty="0">
                <a:solidFill>
                  <a:srgbClr val="1B1B19"/>
                </a:solidFill>
                <a:latin typeface="Georgia" pitchFamily="34" charset="0"/>
                <a:ea typeface="Georgia" pitchFamily="34" charset="-122"/>
                <a:cs typeface="Georgia" pitchFamily="34" charset="-120"/>
              </a:rPr>
              <a:t>Noisy-neighbour guard</a:t>
            </a:r>
            <a:endParaRPr lang="en-US" sz="2325" dirty="0"/>
          </a:p>
        </p:txBody>
      </p:sp>
      <p:sp>
        <p:nvSpPr>
          <p:cNvPr id="34" name="Text 32"/>
          <p:cNvSpPr/>
          <p:nvPr/>
        </p:nvSpPr>
        <p:spPr>
          <a:xfrm>
            <a:off x="12226290" y="8071247"/>
            <a:ext cx="5347716" cy="33385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725" dirty="0">
                <a:solidFill>
                  <a:srgbClr val="6E6C64"/>
                </a:solidFill>
                <a:latin typeface="Arial" pitchFamily="34" charset="0"/>
                <a:ea typeface="Arial" pitchFamily="34" charset="-122"/>
                <a:cs typeface="Arial" pitchFamily="34" charset="-120"/>
              </a:rPr>
              <a:t>600 req/min/tenant → 429 with backoff.</a:t>
            </a:r>
            <a:endParaRPr lang="en-US" sz="17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12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12</a:t>
            </a:r>
            <a:endParaRPr lang="en-US" sz="1725" dirty="0"/>
          </a:p>
        </p:txBody>
      </p:sp>
      <p:sp>
        <p:nvSpPr>
          <p:cNvPr id="6" name="Text 4"/>
          <p:cNvSpPr/>
          <p:nvPr/>
        </p:nvSpPr>
        <p:spPr>
          <a:xfrm>
            <a:off x="1329690" y="1184910"/>
            <a:ext cx="6099870"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Multi-tenant isolation</a:t>
            </a:r>
            <a:endParaRPr lang="en-US" sz="4500" dirty="0"/>
          </a:p>
        </p:txBody>
      </p:sp>
      <p:sp>
        <p:nvSpPr>
          <p:cNvPr id="7" name="Shape 5"/>
          <p:cNvSpPr/>
          <p:nvPr/>
        </p:nvSpPr>
        <p:spPr>
          <a:xfrm>
            <a:off x="876300" y="2042160"/>
            <a:ext cx="1476375" cy="403860"/>
          </a:xfrm>
          <a:prstGeom prst="roundRect">
            <a:avLst>
              <a:gd name="adj" fmla="val 11792"/>
            </a:avLst>
          </a:prstGeom>
          <a:solidFill>
            <a:srgbClr val="F0F2EE"/>
          </a:solidFill>
          <a:ln w="7620">
            <a:solidFill>
              <a:srgbClr val="B9C6CB"/>
            </a:solidFill>
            <a:prstDash val="solid"/>
          </a:ln>
        </p:spPr>
      </p:sp>
      <p:sp>
        <p:nvSpPr>
          <p:cNvPr id="8" name="Text 6"/>
          <p:cNvSpPr/>
          <p:nvPr/>
        </p:nvSpPr>
        <p:spPr>
          <a:xfrm>
            <a:off x="1017270" y="2125980"/>
            <a:ext cx="1270635" cy="274320"/>
          </a:xfrm>
          <a:prstGeom prst="rect">
            <a:avLst/>
          </a:prstGeom>
          <a:noFill/>
          <a:ln/>
        </p:spPr>
        <p:txBody>
          <a:bodyPr wrap="square" lIns="25400" tIns="25400" rIns="25400" bIns="25400" rtlCol="0" anchor="t">
            <a:normAutofit/>
          </a:bodyPr>
          <a:lstStyle/>
          <a:p>
            <a:pPr marL="0" indent="0" algn="l">
              <a:buNone/>
            </a:pPr>
            <a:r>
              <a:rPr lang="en-US" sz="1425" dirty="0">
                <a:solidFill>
                  <a:srgbClr val="1F5061"/>
                </a:solidFill>
                <a:latin typeface="Courier New" pitchFamily="34" charset="0"/>
                <a:ea typeface="Courier New" pitchFamily="34" charset="-122"/>
                <a:cs typeface="Courier New" pitchFamily="34" charset="-120"/>
              </a:rPr>
              <a:t>X-Tenant-Id</a:t>
            </a:r>
            <a:endParaRPr lang="en-US" sz="1425" dirty="0"/>
          </a:p>
        </p:txBody>
      </p:sp>
      <p:sp>
        <p:nvSpPr>
          <p:cNvPr id="9" name="Text 7"/>
          <p:cNvSpPr/>
          <p:nvPr/>
        </p:nvSpPr>
        <p:spPr>
          <a:xfrm>
            <a:off x="2505075" y="2125980"/>
            <a:ext cx="2723757" cy="274320"/>
          </a:xfrm>
          <a:prstGeom prst="rect">
            <a:avLst/>
          </a:prstGeom>
          <a:noFill/>
          <a:ln/>
        </p:spPr>
        <p:txBody>
          <a:bodyPr wrap="square" lIns="25400" tIns="25400" rIns="25400" bIns="25400" rtlCol="0" anchor="t">
            <a:normAutofit fontScale="92500" lnSpcReduction="10000"/>
          </a:bodyPr>
          <a:lstStyle/>
          <a:p>
            <a:pPr marL="0" indent="0" algn="l">
              <a:buNone/>
            </a:pPr>
            <a:r>
              <a:rPr lang="en-US" sz="1650" i="1" dirty="0">
                <a:solidFill>
                  <a:srgbClr val="54514A"/>
                </a:solidFill>
                <a:latin typeface="Georgia" pitchFamily="34" charset="0"/>
                <a:ea typeface="Georgia" pitchFamily="34" charset="-122"/>
                <a:cs typeface="Georgia" pitchFamily="34" charset="-120"/>
              </a:rPr>
              <a:t>routes to the right baseline</a:t>
            </a:r>
            <a:endParaRPr lang="en-US" sz="1650" dirty="0"/>
          </a:p>
        </p:txBody>
      </p:sp>
      <p:sp>
        <p:nvSpPr>
          <p:cNvPr id="10" name="Shape 8"/>
          <p:cNvSpPr/>
          <p:nvPr/>
        </p:nvSpPr>
        <p:spPr>
          <a:xfrm>
            <a:off x="876300" y="2579370"/>
            <a:ext cx="7282101" cy="15240"/>
          </a:xfrm>
          <a:prstGeom prst="rect">
            <a:avLst/>
          </a:prstGeom>
          <a:solidFill>
            <a:srgbClr val="1B1B19"/>
          </a:solidFill>
          <a:ln/>
        </p:spPr>
      </p:sp>
      <p:sp>
        <p:nvSpPr>
          <p:cNvPr id="11" name="Shape 9"/>
          <p:cNvSpPr/>
          <p:nvPr/>
        </p:nvSpPr>
        <p:spPr>
          <a:xfrm>
            <a:off x="876300" y="3960495"/>
            <a:ext cx="7282101" cy="9525"/>
          </a:xfrm>
          <a:prstGeom prst="rect">
            <a:avLst/>
          </a:prstGeom>
          <a:solidFill>
            <a:srgbClr val="E0DBCF"/>
          </a:solidFill>
          <a:ln/>
        </p:spPr>
      </p:sp>
      <p:sp>
        <p:nvSpPr>
          <p:cNvPr id="12" name="Shape 10"/>
          <p:cNvSpPr/>
          <p:nvPr/>
        </p:nvSpPr>
        <p:spPr>
          <a:xfrm>
            <a:off x="876300" y="3328035"/>
            <a:ext cx="38100" cy="640080"/>
          </a:xfrm>
          <a:prstGeom prst="rect">
            <a:avLst/>
          </a:prstGeom>
          <a:solidFill>
            <a:srgbClr val="1F5061"/>
          </a:solidFill>
          <a:ln/>
        </p:spPr>
      </p:sp>
      <p:sp>
        <p:nvSpPr>
          <p:cNvPr id="13" name="Text 11"/>
          <p:cNvSpPr/>
          <p:nvPr/>
        </p:nvSpPr>
        <p:spPr>
          <a:xfrm>
            <a:off x="1104900" y="3499485"/>
            <a:ext cx="1552635" cy="327660"/>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1B1B19"/>
                </a:solidFill>
                <a:latin typeface="Georgia" pitchFamily="34" charset="0"/>
                <a:ea typeface="Georgia" pitchFamily="34" charset="-122"/>
                <a:cs typeface="Georgia" pitchFamily="34" charset="-120"/>
              </a:rPr>
              <a:t>payment-gw</a:t>
            </a:r>
            <a:endParaRPr lang="en-US" sz="2025" dirty="0"/>
          </a:p>
        </p:txBody>
      </p:sp>
      <p:sp>
        <p:nvSpPr>
          <p:cNvPr id="14" name="Text 12"/>
          <p:cNvSpPr/>
          <p:nvPr/>
        </p:nvSpPr>
        <p:spPr>
          <a:xfrm>
            <a:off x="6071473" y="3533775"/>
            <a:ext cx="225371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baseline · σ profile</a:t>
            </a:r>
            <a:endParaRPr lang="en-US" sz="1350" dirty="0"/>
          </a:p>
        </p:txBody>
      </p:sp>
      <p:sp>
        <p:nvSpPr>
          <p:cNvPr id="15" name="Shape 13"/>
          <p:cNvSpPr/>
          <p:nvPr/>
        </p:nvSpPr>
        <p:spPr>
          <a:xfrm>
            <a:off x="876300" y="6067425"/>
            <a:ext cx="7282101" cy="9525"/>
          </a:xfrm>
          <a:prstGeom prst="rect">
            <a:avLst/>
          </a:prstGeom>
          <a:solidFill>
            <a:srgbClr val="E0DBCF"/>
          </a:solidFill>
          <a:ln/>
        </p:spPr>
      </p:sp>
      <p:sp>
        <p:nvSpPr>
          <p:cNvPr id="16" name="Shape 14"/>
          <p:cNvSpPr/>
          <p:nvPr/>
        </p:nvSpPr>
        <p:spPr>
          <a:xfrm>
            <a:off x="876300" y="5434965"/>
            <a:ext cx="38100" cy="640080"/>
          </a:xfrm>
          <a:prstGeom prst="rect">
            <a:avLst/>
          </a:prstGeom>
          <a:solidFill>
            <a:srgbClr val="5E7F8C"/>
          </a:solidFill>
          <a:ln/>
        </p:spPr>
      </p:sp>
      <p:sp>
        <p:nvSpPr>
          <p:cNvPr id="17" name="Text 15"/>
          <p:cNvSpPr/>
          <p:nvPr/>
        </p:nvSpPr>
        <p:spPr>
          <a:xfrm>
            <a:off x="1104900" y="5606415"/>
            <a:ext cx="1809595" cy="327660"/>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1B1B19"/>
                </a:solidFill>
                <a:latin typeface="Georgia" pitchFamily="34" charset="0"/>
                <a:ea typeface="Georgia" pitchFamily="34" charset="-122"/>
                <a:cs typeface="Georgia" pitchFamily="34" charset="-120"/>
              </a:rPr>
              <a:t>fraud-detector</a:t>
            </a:r>
            <a:endParaRPr lang="en-US" sz="2025" dirty="0"/>
          </a:p>
        </p:txBody>
      </p:sp>
      <p:sp>
        <p:nvSpPr>
          <p:cNvPr id="18" name="Text 16"/>
          <p:cNvSpPr/>
          <p:nvPr/>
        </p:nvSpPr>
        <p:spPr>
          <a:xfrm>
            <a:off x="6071473" y="5640705"/>
            <a:ext cx="225371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baseline · σ profile</a:t>
            </a:r>
            <a:endParaRPr lang="en-US" sz="1350" dirty="0"/>
          </a:p>
        </p:txBody>
      </p:sp>
      <p:sp>
        <p:nvSpPr>
          <p:cNvPr id="19" name="Shape 17"/>
          <p:cNvSpPr/>
          <p:nvPr/>
        </p:nvSpPr>
        <p:spPr>
          <a:xfrm>
            <a:off x="876300" y="7541895"/>
            <a:ext cx="38100" cy="632460"/>
          </a:xfrm>
          <a:prstGeom prst="rect">
            <a:avLst/>
          </a:prstGeom>
          <a:solidFill>
            <a:srgbClr val="B07D33"/>
          </a:solidFill>
          <a:ln/>
        </p:spPr>
      </p:sp>
      <p:sp>
        <p:nvSpPr>
          <p:cNvPr id="20" name="Text 18"/>
          <p:cNvSpPr/>
          <p:nvPr/>
        </p:nvSpPr>
        <p:spPr>
          <a:xfrm>
            <a:off x="1104900" y="7713345"/>
            <a:ext cx="782479" cy="327660"/>
          </a:xfrm>
          <a:prstGeom prst="rect">
            <a:avLst/>
          </a:prstGeom>
          <a:noFill/>
          <a:ln/>
        </p:spPr>
        <p:txBody>
          <a:bodyPr wrap="square" lIns="25400" tIns="25400" rIns="25400" bIns="25400" rtlCol="0" anchor="t">
            <a:normAutofit fontScale="85000" lnSpcReduction="10000"/>
          </a:bodyPr>
          <a:lstStyle/>
          <a:p>
            <a:pPr marL="0" indent="0" algn="l">
              <a:buNone/>
            </a:pPr>
            <a:r>
              <a:rPr lang="en-US" sz="2025" b="1" dirty="0">
                <a:solidFill>
                  <a:srgbClr val="1B1B19"/>
                </a:solidFill>
                <a:latin typeface="Georgia" pitchFamily="34" charset="0"/>
                <a:ea typeface="Georgia" pitchFamily="34" charset="-122"/>
                <a:cs typeface="Georgia" pitchFamily="34" charset="-120"/>
              </a:rPr>
              <a:t>ledger</a:t>
            </a:r>
            <a:endParaRPr lang="en-US" sz="2025" dirty="0"/>
          </a:p>
        </p:txBody>
      </p:sp>
      <p:sp>
        <p:nvSpPr>
          <p:cNvPr id="21" name="Text 19"/>
          <p:cNvSpPr/>
          <p:nvPr/>
        </p:nvSpPr>
        <p:spPr>
          <a:xfrm>
            <a:off x="6071473" y="7747635"/>
            <a:ext cx="2253710"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baseline · σ profile</a:t>
            </a:r>
            <a:endParaRPr lang="en-US" sz="1350" dirty="0"/>
          </a:p>
        </p:txBody>
      </p:sp>
      <p:sp>
        <p:nvSpPr>
          <p:cNvPr id="22" name="Shape 20"/>
          <p:cNvSpPr/>
          <p:nvPr/>
        </p:nvSpPr>
        <p:spPr>
          <a:xfrm>
            <a:off x="876300" y="8907780"/>
            <a:ext cx="7282101" cy="15240"/>
          </a:xfrm>
          <a:prstGeom prst="rect">
            <a:avLst/>
          </a:prstGeom>
          <a:solidFill>
            <a:srgbClr val="1B1B19"/>
          </a:solidFill>
          <a:ln/>
        </p:spPr>
      </p:sp>
      <p:sp>
        <p:nvSpPr>
          <p:cNvPr id="23" name="Text 21"/>
          <p:cNvSpPr/>
          <p:nvPr/>
        </p:nvSpPr>
        <p:spPr>
          <a:xfrm>
            <a:off x="876300" y="9113520"/>
            <a:ext cx="7500564"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4514A"/>
                </a:solidFill>
                <a:latin typeface="Georgia" pitchFamily="34" charset="0"/>
                <a:ea typeface="Georgia" pitchFamily="34" charset="-122"/>
                <a:cs typeface="Georgia" pitchFamily="34" charset="-120"/>
              </a:rPr>
              <a:t>Stateless per-request scoping → </a:t>
            </a:r>
            <a:r>
              <a:rPr lang="en-US" sz="1800" b="1" dirty="0">
                <a:solidFill>
                  <a:srgbClr val="1F5061"/>
                </a:solidFill>
                <a:latin typeface="Georgia" pitchFamily="34" charset="0"/>
                <a:ea typeface="Georgia" pitchFamily="34" charset="-122"/>
                <a:cs typeface="Georgia" pitchFamily="34" charset="-120"/>
              </a:rPr>
              <a:t>zero cross-tenant bleed </a:t>
            </a:r>
            <a:r>
              <a:rPr lang="en-US" sz="1800" i="1" dirty="0">
                <a:solidFill>
                  <a:srgbClr val="54514A"/>
                </a:solidFill>
                <a:latin typeface="Georgia" pitchFamily="34" charset="0"/>
                <a:ea typeface="Georgia" pitchFamily="34" charset="-122"/>
                <a:cs typeface="Georgia" pitchFamily="34" charset="-120"/>
              </a:rPr>
              <a:t>. Missing header → 401 · mismatch → 400.</a:t>
            </a:r>
            <a:endParaRPr lang="en-US" sz="1800" dirty="0"/>
          </a:p>
        </p:txBody>
      </p:sp>
      <p:sp>
        <p:nvSpPr>
          <p:cNvPr id="24" name="Shape 22"/>
          <p:cNvSpPr/>
          <p:nvPr/>
        </p:nvSpPr>
        <p:spPr>
          <a:xfrm>
            <a:off x="8615601" y="2042160"/>
            <a:ext cx="8796100" cy="7711440"/>
          </a:xfrm>
          <a:prstGeom prst="roundRect">
            <a:avLst>
              <a:gd name="adj" fmla="val 741"/>
            </a:avLst>
          </a:prstGeom>
          <a:solidFill>
            <a:srgbClr val="FCFBF6"/>
          </a:solidFill>
          <a:ln w="15240">
            <a:solidFill>
              <a:srgbClr val="1B1B19"/>
            </a:solidFill>
            <a:prstDash val="solid"/>
          </a:ln>
        </p:spPr>
      </p:sp>
      <p:sp>
        <p:nvSpPr>
          <p:cNvPr id="25" name="Shape 23"/>
          <p:cNvSpPr/>
          <p:nvPr/>
        </p:nvSpPr>
        <p:spPr>
          <a:xfrm>
            <a:off x="8935641" y="2670810"/>
            <a:ext cx="8156020" cy="9525"/>
          </a:xfrm>
          <a:prstGeom prst="rect">
            <a:avLst/>
          </a:prstGeom>
          <a:solidFill>
            <a:srgbClr val="E0DBCF"/>
          </a:solidFill>
          <a:ln/>
        </p:spPr>
      </p:sp>
      <p:sp>
        <p:nvSpPr>
          <p:cNvPr id="26" name="Text 24"/>
          <p:cNvSpPr/>
          <p:nvPr/>
        </p:nvSpPr>
        <p:spPr>
          <a:xfrm>
            <a:off x="8935641" y="2305050"/>
            <a:ext cx="1937945" cy="251460"/>
          </a:xfrm>
          <a:prstGeom prst="rect">
            <a:avLst/>
          </a:prstGeom>
          <a:noFill/>
          <a:ln/>
        </p:spPr>
        <p:txBody>
          <a:bodyPr wrap="square" lIns="25400" tIns="25400" rIns="25400" bIns="25400" rtlCol="0" anchor="t">
            <a:normAutofit/>
          </a:bodyPr>
          <a:lstStyle/>
          <a:p>
            <a:pPr marL="0" indent="0" algn="l">
              <a:buNone/>
            </a:pPr>
            <a:r>
              <a:rPr lang="en-US" sz="1275" kern="0" spc="102" dirty="0">
                <a:solidFill>
                  <a:srgbClr val="8C887C"/>
                </a:solidFill>
                <a:latin typeface="Courier New" pitchFamily="34" charset="0"/>
                <a:ea typeface="Courier New" pitchFamily="34" charset="-122"/>
                <a:cs typeface="Courier New" pitchFamily="34" charset="-120"/>
              </a:rPr>
              <a:t>POST /v1/predict</a:t>
            </a:r>
            <a:endParaRPr lang="en-US" sz="1275" dirty="0"/>
          </a:p>
        </p:txBody>
      </p:sp>
      <p:sp>
        <p:nvSpPr>
          <p:cNvPr id="27" name="Text 25"/>
          <p:cNvSpPr/>
          <p:nvPr/>
        </p:nvSpPr>
        <p:spPr>
          <a:xfrm>
            <a:off x="16543020" y="2308860"/>
            <a:ext cx="624840" cy="243840"/>
          </a:xfrm>
          <a:prstGeom prst="rect">
            <a:avLst/>
          </a:prstGeom>
          <a:noFill/>
          <a:ln/>
        </p:spPr>
        <p:txBody>
          <a:bodyPr wrap="square" lIns="25400" tIns="25400" rIns="25400" bIns="25400" rtlCol="0" anchor="t">
            <a:normAutofit/>
          </a:bodyPr>
          <a:lstStyle/>
          <a:p>
            <a:pPr marL="0" indent="0" algn="l">
              <a:buNone/>
            </a:pPr>
            <a:r>
              <a:rPr lang="en-US" sz="1200" dirty="0">
                <a:solidFill>
                  <a:srgbClr val="3F7A5E"/>
                </a:solidFill>
                <a:latin typeface="Courier New" pitchFamily="34" charset="0"/>
                <a:ea typeface="Courier New" pitchFamily="34" charset="-122"/>
                <a:cs typeface="Courier New" pitchFamily="34" charset="-120"/>
              </a:rPr>
              <a:t>200 OK</a:t>
            </a:r>
            <a:endParaRPr lang="en-US" sz="1200" dirty="0"/>
          </a:p>
        </p:txBody>
      </p:sp>
      <p:sp>
        <p:nvSpPr>
          <p:cNvPr id="28" name="Text 26"/>
          <p:cNvSpPr/>
          <p:nvPr/>
        </p:nvSpPr>
        <p:spPr>
          <a:xfrm>
            <a:off x="8935641" y="2849880"/>
            <a:ext cx="8400700" cy="378143"/>
          </a:xfrm>
          <a:prstGeom prst="rect">
            <a:avLst/>
          </a:prstGeom>
          <a:noFill/>
          <a:ln/>
        </p:spPr>
        <p:txBody>
          <a:bodyPr wrap="square" lIns="25400" tIns="25400" rIns="25400" bIns="25400" rtlCol="0" anchor="t">
            <a:normAutofit fontScale="92500" lnSpcReduction="20000"/>
          </a:bodyPr>
          <a:lstStyle/>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X-Tenant-Id: </a:t>
            </a:r>
            <a:r>
              <a:rPr lang="en-US" sz="1575" dirty="0">
                <a:solidFill>
                  <a:srgbClr val="B07D33"/>
                </a:solidFill>
                <a:latin typeface="Courier New" pitchFamily="34" charset="0"/>
                <a:ea typeface="Courier New" pitchFamily="34" charset="-122"/>
                <a:cs typeface="Courier New" pitchFamily="34" charset="-120"/>
              </a:rPr>
              <a:t>tnt-payment-core</a:t>
            </a:r>
            <a:endParaRPr lang="en-US" sz="1575" dirty="0"/>
          </a:p>
        </p:txBody>
      </p:sp>
      <p:sp>
        <p:nvSpPr>
          <p:cNvPr id="29" name="Text 27"/>
          <p:cNvSpPr/>
          <p:nvPr/>
        </p:nvSpPr>
        <p:spPr>
          <a:xfrm>
            <a:off x="8935641" y="3266122"/>
            <a:ext cx="8971622" cy="289560"/>
          </a:xfrm>
          <a:prstGeom prst="rect">
            <a:avLst/>
          </a:prstGeom>
          <a:noFill/>
          <a:ln/>
        </p:spPr>
        <p:txBody>
          <a:bodyPr wrap="square" lIns="25400" tIns="25400" rIns="25400" bIns="25400" rtlCol="0" anchor="t">
            <a:normAutofit/>
          </a:bodyPr>
          <a:lstStyle/>
          <a:p>
            <a:pPr marL="0" indent="0" algn="l">
              <a:buNone/>
            </a:pPr>
            <a:r>
              <a:rPr lang="en-US" sz="1500" dirty="0">
                <a:solidFill>
                  <a:srgbClr val="A29E92"/>
                </a:solidFill>
                <a:latin typeface="Courier New" pitchFamily="34" charset="0"/>
                <a:ea typeface="Courier New" pitchFamily="34" charset="-122"/>
                <a:cs typeface="Courier New" pitchFamily="34" charset="-120"/>
              </a:rPr>
              <a:t>{ "signal_window": [120 pts], … }</a:t>
            </a:r>
            <a:endParaRPr lang="en-US" sz="1500" dirty="0"/>
          </a:p>
        </p:txBody>
      </p:sp>
      <p:sp>
        <p:nvSpPr>
          <p:cNvPr id="30" name="Shape 28"/>
          <p:cNvSpPr/>
          <p:nvPr/>
        </p:nvSpPr>
        <p:spPr>
          <a:xfrm>
            <a:off x="8935641" y="3689033"/>
            <a:ext cx="8156020" cy="9525"/>
          </a:xfrm>
          <a:prstGeom prst="rect">
            <a:avLst/>
          </a:prstGeom>
          <a:solidFill>
            <a:srgbClr val="E0DBCF"/>
          </a:solidFill>
          <a:ln/>
        </p:spPr>
      </p:sp>
      <p:sp>
        <p:nvSpPr>
          <p:cNvPr id="31" name="Text 29"/>
          <p:cNvSpPr/>
          <p:nvPr/>
        </p:nvSpPr>
        <p:spPr>
          <a:xfrm>
            <a:off x="8935641" y="3870008"/>
            <a:ext cx="8400700" cy="5285423"/>
          </a:xfrm>
          <a:prstGeom prst="rect">
            <a:avLst/>
          </a:prstGeom>
          <a:noFill/>
          <a:ln/>
        </p:spPr>
        <p:txBody>
          <a:bodyPr wrap="square" lIns="25400" tIns="25400" rIns="25400" bIns="25400" rtlCol="0" anchor="t">
            <a:normAutofit fontScale="85000" lnSpcReduction="20000"/>
          </a:bodyPr>
          <a:lstStyle/>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"anomaly"</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3F7A5E"/>
                </a:solidFill>
                <a:latin typeface="Courier New" pitchFamily="34" charset="0"/>
                <a:ea typeface="Courier New" pitchFamily="34" charset="-122"/>
                <a:cs typeface="Courier New" pitchFamily="34" charset="-120"/>
              </a:rPr>
              <a:t>true </a:t>
            </a: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"severity"</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B07D33"/>
                </a:solidFill>
                <a:latin typeface="Courier New" pitchFamily="34" charset="0"/>
                <a:ea typeface="Courier New" pitchFamily="34" charset="-122"/>
                <a:cs typeface="Courier New" pitchFamily="34" charset="-120"/>
              </a:rPr>
              <a:t>0.78 </a:t>
            </a: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"recommendation" </a:t>
            </a: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"action_verb"</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3F7A5E"/>
                </a:solidFill>
                <a:latin typeface="Courier New" pitchFamily="34" charset="0"/>
                <a:ea typeface="Courier New" pitchFamily="34" charset="-122"/>
                <a:cs typeface="Courier New" pitchFamily="34" charset="-120"/>
              </a:rPr>
              <a:t>"SCALE_UP" </a:t>
            </a: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"target"</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54514A"/>
                </a:solidFill>
                <a:latin typeface="Courier New" pitchFamily="34" charset="0"/>
                <a:ea typeface="Courier New" pitchFamily="34" charset="-122"/>
                <a:cs typeface="Courier New" pitchFamily="34" charset="-120"/>
              </a:rPr>
              <a:t>"payment-gw ECS" </a:t>
            </a: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"confidence"</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B07D33"/>
                </a:solidFill>
                <a:latin typeface="Courier New" pitchFamily="34" charset="0"/>
                <a:ea typeface="Courier New" pitchFamily="34" charset="-122"/>
                <a:cs typeface="Courier New" pitchFamily="34" charset="-120"/>
              </a:rPr>
              <a:t>0.82 </a:t>
            </a:r>
            <a:r>
              <a:rPr lang="en-US" sz="1575" dirty="0">
                <a:solidFill>
                  <a:srgbClr val="33322D"/>
                </a:solidFill>
                <a:latin typeface="Courier New" pitchFamily="34" charset="0"/>
                <a:ea typeface="Courier New" pitchFamily="34" charset="-122"/>
                <a:cs typeface="Courier New" pitchFamily="34" charset="-120"/>
              </a:rPr>
              <a:t>,</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"evidence_link"</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54514A"/>
                </a:solidFill>
                <a:latin typeface="Courier New" pitchFamily="34" charset="0"/>
                <a:ea typeface="Courier New" pitchFamily="34" charset="-122"/>
                <a:cs typeface="Courier New" pitchFamily="34" charset="-120"/>
              </a:rPr>
              <a:t>"…/cpu" </a:t>
            </a: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33322D"/>
                </a:solidFill>
                <a:latin typeface="Courier New" pitchFamily="34" charset="0"/>
                <a:ea typeface="Courier New" pitchFamily="34" charset="-122"/>
                <a:cs typeface="Courier New" pitchFamily="34" charset="-120"/>
              </a:rPr>
              <a:t>   </a:t>
            </a:r>
            <a:endParaRPr lang="en-US" sz="1575" dirty="0"/>
          </a:p>
          <a:p>
            <a:pPr marL="0" indent="0" algn="l">
              <a:lnSpc>
                <a:spcPct val="170000"/>
              </a:lnSpc>
              <a:buNone/>
            </a:pPr>
            <a:r>
              <a:rPr lang="en-US" sz="1575" dirty="0">
                <a:solidFill>
                  <a:srgbClr val="1F5061"/>
                </a:solidFill>
                <a:latin typeface="Courier New" pitchFamily="34" charset="0"/>
                <a:ea typeface="Courier New" pitchFamily="34" charset="-122"/>
                <a:cs typeface="Courier New" pitchFamily="34" charset="-120"/>
              </a:rPr>
              <a:t>"audit_id"</a:t>
            </a:r>
            <a:r>
              <a:rPr lang="en-US" sz="1575" dirty="0">
                <a:solidFill>
                  <a:srgbClr val="33322D"/>
                </a:solidFill>
                <a:latin typeface="Courier New" pitchFamily="34" charset="0"/>
                <a:ea typeface="Courier New" pitchFamily="34" charset="-122"/>
                <a:cs typeface="Courier New" pitchFamily="34" charset="-120"/>
              </a:rPr>
              <a:t>: </a:t>
            </a:r>
            <a:r>
              <a:rPr lang="en-US" sz="1575" dirty="0">
                <a:solidFill>
                  <a:srgbClr val="54514A"/>
                </a:solidFill>
                <a:latin typeface="Courier New" pitchFamily="34" charset="0"/>
                <a:ea typeface="Courier New" pitchFamily="34" charset="-122"/>
                <a:cs typeface="Courier New" pitchFamily="34" charset="-120"/>
              </a:rPr>
              <a:t>"audit-xyz789" </a:t>
            </a:r>
            <a:r>
              <a:rPr lang="en-US" sz="1575" dirty="0">
                <a:solidFill>
                  <a:srgbClr val="33322D"/>
                </a:solidFill>
                <a:latin typeface="Courier New" pitchFamily="34" charset="0"/>
                <a:ea typeface="Courier New" pitchFamily="34" charset="-122"/>
                <a:cs typeface="Courier New" pitchFamily="34" charset="-120"/>
              </a:rPr>
              <a:t>}</a:t>
            </a:r>
            <a:endParaRPr lang="en-US" sz="1575" dirty="0"/>
          </a:p>
        </p:txBody>
      </p:sp>
      <p:sp>
        <p:nvSpPr>
          <p:cNvPr id="32" name="Shape 30"/>
          <p:cNvSpPr/>
          <p:nvPr/>
        </p:nvSpPr>
        <p:spPr>
          <a:xfrm>
            <a:off x="8935641" y="9117330"/>
            <a:ext cx="8156020" cy="9525"/>
          </a:xfrm>
          <a:prstGeom prst="rect">
            <a:avLst/>
          </a:prstGeom>
          <a:solidFill>
            <a:srgbClr val="E0DBCF"/>
          </a:solidFill>
          <a:ln/>
        </p:spPr>
      </p:sp>
      <p:sp>
        <p:nvSpPr>
          <p:cNvPr id="33" name="Text 31"/>
          <p:cNvSpPr/>
          <p:nvPr/>
        </p:nvSpPr>
        <p:spPr>
          <a:xfrm>
            <a:off x="8935641" y="9277350"/>
            <a:ext cx="8400700" cy="251460"/>
          </a:xfrm>
          <a:prstGeom prst="rect">
            <a:avLst/>
          </a:prstGeom>
          <a:noFill/>
          <a:ln/>
        </p:spPr>
        <p:txBody>
          <a:bodyPr wrap="square" lIns="25400" tIns="25400" rIns="25400" bIns="25400" rtlCol="0" anchor="t">
            <a:normAutofit/>
          </a:bodyPr>
          <a:lstStyle/>
          <a:p>
            <a:pPr marL="0" indent="0" algn="l">
              <a:buNone/>
            </a:pPr>
            <a:r>
              <a:rPr lang="en-US" sz="1275" dirty="0">
                <a:solidFill>
                  <a:srgbClr val="8C887C"/>
                </a:solidFill>
                <a:latin typeface="Courier New" pitchFamily="34" charset="0"/>
                <a:ea typeface="Courier New" pitchFamily="34" charset="-122"/>
                <a:cs typeface="Courier New" pitchFamily="34" charset="-120"/>
              </a:rPr>
              <a:t>audit written · 6 fields · SHA-256 input hash</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13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13</a:t>
            </a:r>
            <a:endParaRPr lang="en-US" sz="1725" dirty="0"/>
          </a:p>
        </p:txBody>
      </p:sp>
      <p:sp>
        <p:nvSpPr>
          <p:cNvPr id="6" name="Text 4"/>
          <p:cNvSpPr/>
          <p:nvPr/>
        </p:nvSpPr>
        <p:spPr>
          <a:xfrm>
            <a:off x="1329690" y="1184910"/>
            <a:ext cx="4626864"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Decision records</a:t>
            </a:r>
            <a:endParaRPr lang="en-US" sz="4500" dirty="0"/>
          </a:p>
        </p:txBody>
      </p:sp>
      <p:sp>
        <p:nvSpPr>
          <p:cNvPr id="7" name="Shape 5"/>
          <p:cNvSpPr/>
          <p:nvPr/>
        </p:nvSpPr>
        <p:spPr>
          <a:xfrm>
            <a:off x="876300" y="2042160"/>
            <a:ext cx="16535400" cy="15240"/>
          </a:xfrm>
          <a:prstGeom prst="rect">
            <a:avLst/>
          </a:prstGeom>
          <a:solidFill>
            <a:srgbClr val="1B1B19"/>
          </a:solidFill>
          <a:ln/>
        </p:spPr>
      </p:sp>
      <p:sp>
        <p:nvSpPr>
          <p:cNvPr id="8" name="Shape 6"/>
          <p:cNvSpPr/>
          <p:nvPr/>
        </p:nvSpPr>
        <p:spPr>
          <a:xfrm>
            <a:off x="876300" y="4615101"/>
            <a:ext cx="8001000" cy="9525"/>
          </a:xfrm>
          <a:prstGeom prst="rect">
            <a:avLst/>
          </a:prstGeom>
          <a:solidFill>
            <a:srgbClr val="E0DBCF"/>
          </a:solidFill>
          <a:ln/>
        </p:spPr>
      </p:sp>
      <p:sp>
        <p:nvSpPr>
          <p:cNvPr id="9" name="Text 7"/>
          <p:cNvSpPr/>
          <p:nvPr/>
        </p:nvSpPr>
        <p:spPr>
          <a:xfrm>
            <a:off x="914400" y="3206710"/>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ADR-001</a:t>
            </a:r>
            <a:endParaRPr lang="en-US" sz="1575" dirty="0"/>
          </a:p>
        </p:txBody>
      </p:sp>
      <p:sp>
        <p:nvSpPr>
          <p:cNvPr id="10" name="Text 8"/>
          <p:cNvSpPr/>
          <p:nvPr/>
        </p:nvSpPr>
        <p:spPr>
          <a:xfrm>
            <a:off x="2038350" y="3034784"/>
            <a:ext cx="4385882"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Statistical model over LLM</a:t>
            </a:r>
            <a:endParaRPr lang="en-US" sz="2100" dirty="0"/>
          </a:p>
        </p:txBody>
      </p:sp>
      <p:sp>
        <p:nvSpPr>
          <p:cNvPr id="11" name="Text 9"/>
          <p:cNvSpPr/>
          <p:nvPr/>
        </p:nvSpPr>
        <p:spPr>
          <a:xfrm>
            <a:off x="2038350" y="3377684"/>
            <a:ext cx="4385882"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Exactness &amp; $0 tokens vs. natural-language RCA.</a:t>
            </a:r>
            <a:endParaRPr lang="en-US" sz="1575" dirty="0"/>
          </a:p>
        </p:txBody>
      </p:sp>
      <p:sp>
        <p:nvSpPr>
          <p:cNvPr id="12" name="Shape 10"/>
          <p:cNvSpPr/>
          <p:nvPr/>
        </p:nvSpPr>
        <p:spPr>
          <a:xfrm>
            <a:off x="9410700" y="4615101"/>
            <a:ext cx="8001000" cy="9525"/>
          </a:xfrm>
          <a:prstGeom prst="rect">
            <a:avLst/>
          </a:prstGeom>
          <a:solidFill>
            <a:srgbClr val="E0DBCF"/>
          </a:solidFill>
          <a:ln/>
        </p:spPr>
      </p:sp>
      <p:sp>
        <p:nvSpPr>
          <p:cNvPr id="13" name="Text 11"/>
          <p:cNvSpPr/>
          <p:nvPr/>
        </p:nvSpPr>
        <p:spPr>
          <a:xfrm>
            <a:off x="9448800" y="3206710"/>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ADR-002</a:t>
            </a:r>
            <a:endParaRPr lang="en-US" sz="1575" dirty="0"/>
          </a:p>
        </p:txBody>
      </p:sp>
      <p:sp>
        <p:nvSpPr>
          <p:cNvPr id="14" name="Text 12"/>
          <p:cNvSpPr/>
          <p:nvPr/>
        </p:nvSpPr>
        <p:spPr>
          <a:xfrm>
            <a:off x="10572750" y="3034784"/>
            <a:ext cx="391714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Confidence threshold 0.7</a:t>
            </a:r>
            <a:endParaRPr lang="en-US" sz="2100" dirty="0"/>
          </a:p>
        </p:txBody>
      </p:sp>
      <p:sp>
        <p:nvSpPr>
          <p:cNvPr id="15" name="Text 13"/>
          <p:cNvSpPr/>
          <p:nvPr/>
        </p:nvSpPr>
        <p:spPr>
          <a:xfrm>
            <a:off x="10572750" y="3377684"/>
            <a:ext cx="3917145"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Between 0.5 (too loose) and 0.8 (too strict).</a:t>
            </a:r>
            <a:endParaRPr lang="en-US" sz="1575" dirty="0"/>
          </a:p>
        </p:txBody>
      </p:sp>
      <p:sp>
        <p:nvSpPr>
          <p:cNvPr id="16" name="Shape 14"/>
          <p:cNvSpPr/>
          <p:nvPr/>
        </p:nvSpPr>
        <p:spPr>
          <a:xfrm>
            <a:off x="876300" y="7180540"/>
            <a:ext cx="8001000" cy="9525"/>
          </a:xfrm>
          <a:prstGeom prst="rect">
            <a:avLst/>
          </a:prstGeom>
          <a:solidFill>
            <a:srgbClr val="E0DBCF"/>
          </a:solidFill>
          <a:ln/>
        </p:spPr>
      </p:sp>
      <p:sp>
        <p:nvSpPr>
          <p:cNvPr id="17" name="Text 15"/>
          <p:cNvSpPr/>
          <p:nvPr/>
        </p:nvSpPr>
        <p:spPr>
          <a:xfrm>
            <a:off x="914400" y="5772031"/>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ADR-003</a:t>
            </a:r>
            <a:endParaRPr lang="en-US" sz="1575" dirty="0"/>
          </a:p>
        </p:txBody>
      </p:sp>
      <p:sp>
        <p:nvSpPr>
          <p:cNvPr id="18" name="Text 16"/>
          <p:cNvSpPr/>
          <p:nvPr/>
        </p:nvSpPr>
        <p:spPr>
          <a:xfrm>
            <a:off x="2038350" y="5600105"/>
            <a:ext cx="4328779"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Manual silence for flash sales</a:t>
            </a:r>
            <a:endParaRPr lang="en-US" sz="2100" dirty="0"/>
          </a:p>
        </p:txBody>
      </p:sp>
      <p:sp>
        <p:nvSpPr>
          <p:cNvPr id="19" name="Text 17"/>
          <p:cNvSpPr/>
          <p:nvPr/>
        </p:nvSpPr>
        <p:spPr>
          <a:xfrm>
            <a:off x="2038350" y="5943005"/>
            <a:ext cx="4328779"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Reliable 99% of the year; no blunted sensitivity.</a:t>
            </a:r>
            <a:endParaRPr lang="en-US" sz="1575" dirty="0"/>
          </a:p>
        </p:txBody>
      </p:sp>
      <p:sp>
        <p:nvSpPr>
          <p:cNvPr id="20" name="Shape 18"/>
          <p:cNvSpPr/>
          <p:nvPr/>
        </p:nvSpPr>
        <p:spPr>
          <a:xfrm>
            <a:off x="9410700" y="7180540"/>
            <a:ext cx="8001000" cy="9525"/>
          </a:xfrm>
          <a:prstGeom prst="rect">
            <a:avLst/>
          </a:prstGeom>
          <a:solidFill>
            <a:srgbClr val="E0DBCF"/>
          </a:solidFill>
          <a:ln/>
        </p:spPr>
      </p:sp>
      <p:sp>
        <p:nvSpPr>
          <p:cNvPr id="21" name="Text 19"/>
          <p:cNvSpPr/>
          <p:nvPr/>
        </p:nvSpPr>
        <p:spPr>
          <a:xfrm>
            <a:off x="9448800" y="5772031"/>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ADR-004</a:t>
            </a:r>
            <a:endParaRPr lang="en-US" sz="1575" dirty="0"/>
          </a:p>
        </p:txBody>
      </p:sp>
      <p:sp>
        <p:nvSpPr>
          <p:cNvPr id="22" name="Text 20"/>
          <p:cNvSpPr/>
          <p:nvPr/>
        </p:nvSpPr>
        <p:spPr>
          <a:xfrm>
            <a:off x="10572750" y="5600105"/>
            <a:ext cx="4410373"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STL+EWMA over Isolation Forest</a:t>
            </a:r>
            <a:endParaRPr lang="en-US" sz="2100" dirty="0"/>
          </a:p>
        </p:txBody>
      </p:sp>
      <p:sp>
        <p:nvSpPr>
          <p:cNvPr id="23" name="Text 21"/>
          <p:cNvSpPr/>
          <p:nvPr/>
        </p:nvSpPr>
        <p:spPr>
          <a:xfrm>
            <a:off x="10572750" y="5943005"/>
            <a:ext cx="4410373"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Proven by measured A/B: better recall &amp; FP.</a:t>
            </a:r>
            <a:endParaRPr lang="en-US" sz="1575" dirty="0"/>
          </a:p>
        </p:txBody>
      </p:sp>
      <p:sp>
        <p:nvSpPr>
          <p:cNvPr id="24" name="Shape 22"/>
          <p:cNvSpPr/>
          <p:nvPr/>
        </p:nvSpPr>
        <p:spPr>
          <a:xfrm>
            <a:off x="876300" y="9745980"/>
            <a:ext cx="8001000" cy="9525"/>
          </a:xfrm>
          <a:prstGeom prst="rect">
            <a:avLst/>
          </a:prstGeom>
          <a:solidFill>
            <a:srgbClr val="E0DBCF"/>
          </a:solidFill>
          <a:ln/>
        </p:spPr>
      </p:sp>
      <p:sp>
        <p:nvSpPr>
          <p:cNvPr id="25" name="Text 23"/>
          <p:cNvSpPr/>
          <p:nvPr/>
        </p:nvSpPr>
        <p:spPr>
          <a:xfrm>
            <a:off x="914400" y="8337471"/>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ADR-005</a:t>
            </a:r>
            <a:endParaRPr lang="en-US" sz="1575" dirty="0"/>
          </a:p>
        </p:txBody>
      </p:sp>
      <p:sp>
        <p:nvSpPr>
          <p:cNvPr id="26" name="Text 24"/>
          <p:cNvSpPr/>
          <p:nvPr/>
        </p:nvSpPr>
        <p:spPr>
          <a:xfrm>
            <a:off x="2038350" y="8165545"/>
            <a:ext cx="4106394" cy="342900"/>
          </a:xfrm>
          <a:prstGeom prst="rect">
            <a:avLst/>
          </a:prstGeom>
          <a:noFill/>
          <a:ln/>
        </p:spPr>
        <p:txBody>
          <a:bodyPr wrap="square" lIns="25400" tIns="25400" rIns="25400" bIns="25400" rtlCol="0" anchor="t">
            <a:normAutofit fontScale="925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Weekly + drift-triggered retrain</a:t>
            </a:r>
            <a:endParaRPr lang="en-US" sz="2100" dirty="0"/>
          </a:p>
        </p:txBody>
      </p:sp>
      <p:sp>
        <p:nvSpPr>
          <p:cNvPr id="27" name="Text 25"/>
          <p:cNvSpPr/>
          <p:nvPr/>
        </p:nvSpPr>
        <p:spPr>
          <a:xfrm>
            <a:off x="2038350" y="8508445"/>
            <a:ext cx="4106394"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Manual cadence; no auto-pipeline in scope.</a:t>
            </a:r>
            <a:endParaRPr lang="en-US" sz="1575" dirty="0"/>
          </a:p>
        </p:txBody>
      </p:sp>
      <p:sp>
        <p:nvSpPr>
          <p:cNvPr id="28" name="Shape 26"/>
          <p:cNvSpPr/>
          <p:nvPr/>
        </p:nvSpPr>
        <p:spPr>
          <a:xfrm>
            <a:off x="9410700" y="9745980"/>
            <a:ext cx="8001000" cy="9525"/>
          </a:xfrm>
          <a:prstGeom prst="rect">
            <a:avLst/>
          </a:prstGeom>
          <a:solidFill>
            <a:srgbClr val="E0DBCF"/>
          </a:solidFill>
          <a:ln/>
        </p:spPr>
      </p:sp>
      <p:sp>
        <p:nvSpPr>
          <p:cNvPr id="29" name="Text 27"/>
          <p:cNvSpPr/>
          <p:nvPr/>
        </p:nvSpPr>
        <p:spPr>
          <a:xfrm>
            <a:off x="9448800" y="8337471"/>
            <a:ext cx="990600"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ADR-006</a:t>
            </a:r>
            <a:endParaRPr lang="en-US" sz="1575" dirty="0"/>
          </a:p>
        </p:txBody>
      </p:sp>
      <p:sp>
        <p:nvSpPr>
          <p:cNvPr id="30" name="Text 28"/>
          <p:cNvSpPr/>
          <p:nvPr/>
        </p:nvSpPr>
        <p:spPr>
          <a:xfrm>
            <a:off x="10572750" y="8165545"/>
            <a:ext cx="5093637"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B1B19"/>
                </a:solidFill>
                <a:latin typeface="Georgia" pitchFamily="34" charset="0"/>
                <a:ea typeface="Georgia" pitchFamily="34" charset="-122"/>
                <a:cs typeface="Georgia" pitchFamily="34" charset="-120"/>
              </a:rPr>
              <a:t>EWMA α = 0.3, K = 4.0</a:t>
            </a:r>
            <a:endParaRPr lang="en-US" sz="2100" dirty="0"/>
          </a:p>
        </p:txBody>
      </p:sp>
      <p:sp>
        <p:nvSpPr>
          <p:cNvPr id="31" name="Text 29"/>
          <p:cNvSpPr/>
          <p:nvPr/>
        </p:nvSpPr>
        <p:spPr>
          <a:xfrm>
            <a:off x="10572750" y="8508445"/>
            <a:ext cx="5093637" cy="298133"/>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75" dirty="0">
                <a:solidFill>
                  <a:srgbClr val="6E6C64"/>
                </a:solidFill>
                <a:latin typeface="Arial" pitchFamily="34" charset="0"/>
                <a:ea typeface="Arial" pitchFamily="34" charset="-122"/>
                <a:cs typeface="Arial" pitchFamily="34" charset="-120"/>
              </a:rPr>
              <a:t>From a 16-point sweep — K=3 fails FP, K=4.5 costs recall.</a:t>
            </a:r>
            <a:endParaRPr lang="en-US" sz="15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14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14</a:t>
            </a:r>
            <a:endParaRPr lang="en-US" sz="1725" dirty="0"/>
          </a:p>
        </p:txBody>
      </p:sp>
      <p:sp>
        <p:nvSpPr>
          <p:cNvPr id="6" name="Text 4"/>
          <p:cNvSpPr/>
          <p:nvPr/>
        </p:nvSpPr>
        <p:spPr>
          <a:xfrm>
            <a:off x="1329690" y="1184910"/>
            <a:ext cx="5246739"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Curveball response</a:t>
            </a:r>
            <a:endParaRPr lang="en-US" sz="4500" dirty="0"/>
          </a:p>
        </p:txBody>
      </p:sp>
      <p:sp>
        <p:nvSpPr>
          <p:cNvPr id="7" name="Shape 5"/>
          <p:cNvSpPr/>
          <p:nvPr/>
        </p:nvSpPr>
        <p:spPr>
          <a:xfrm>
            <a:off x="876300" y="9300210"/>
            <a:ext cx="16535400" cy="15240"/>
          </a:xfrm>
          <a:prstGeom prst="rect">
            <a:avLst/>
          </a:prstGeom>
          <a:solidFill>
            <a:srgbClr val="1B1B19"/>
          </a:solidFill>
          <a:ln/>
        </p:spPr>
      </p:sp>
      <p:sp>
        <p:nvSpPr>
          <p:cNvPr id="8" name="Shape 6"/>
          <p:cNvSpPr/>
          <p:nvPr/>
        </p:nvSpPr>
        <p:spPr>
          <a:xfrm>
            <a:off x="876300" y="2061210"/>
            <a:ext cx="16535400" cy="15240"/>
          </a:xfrm>
          <a:prstGeom prst="rect">
            <a:avLst/>
          </a:prstGeom>
          <a:solidFill>
            <a:srgbClr val="1B1B19"/>
          </a:solidFill>
          <a:ln/>
        </p:spPr>
      </p:sp>
      <p:sp>
        <p:nvSpPr>
          <p:cNvPr id="9" name="Shape 7"/>
          <p:cNvSpPr/>
          <p:nvPr/>
        </p:nvSpPr>
        <p:spPr>
          <a:xfrm>
            <a:off x="6382941" y="2076450"/>
            <a:ext cx="9525" cy="7223760"/>
          </a:xfrm>
          <a:prstGeom prst="rect">
            <a:avLst/>
          </a:prstGeom>
          <a:solidFill>
            <a:srgbClr val="E0DBCF"/>
          </a:solidFill>
          <a:ln/>
        </p:spPr>
      </p:sp>
      <p:sp>
        <p:nvSpPr>
          <p:cNvPr id="10" name="Text 8"/>
          <p:cNvSpPr/>
          <p:nvPr/>
        </p:nvSpPr>
        <p:spPr>
          <a:xfrm>
            <a:off x="1200150" y="2388870"/>
            <a:ext cx="676275" cy="25908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8C887C"/>
                </a:solidFill>
                <a:latin typeface="Courier New" pitchFamily="34" charset="0"/>
                <a:ea typeface="Courier New" pitchFamily="34" charset="-122"/>
                <a:cs typeface="Courier New" pitchFamily="34" charset="-120"/>
              </a:rPr>
              <a:t>SMALL</a:t>
            </a:r>
            <a:endParaRPr lang="en-US" sz="1350" dirty="0"/>
          </a:p>
        </p:txBody>
      </p:sp>
      <p:sp>
        <p:nvSpPr>
          <p:cNvPr id="11" name="Text 9"/>
          <p:cNvSpPr/>
          <p:nvPr/>
        </p:nvSpPr>
        <p:spPr>
          <a:xfrm>
            <a:off x="5416272" y="2381250"/>
            <a:ext cx="719018" cy="266700"/>
          </a:xfrm>
          <a:prstGeom prst="rect">
            <a:avLst/>
          </a:prstGeom>
          <a:noFill/>
          <a:ln/>
        </p:spPr>
        <p:txBody>
          <a:bodyPr wrap="square" lIns="25400" tIns="25400" rIns="25400" bIns="25400" rtlCol="0" anchor="t">
            <a:normAutofit/>
          </a:bodyPr>
          <a:lstStyle/>
          <a:p>
            <a:pPr marL="0" indent="0" algn="l">
              <a:buNone/>
            </a:pPr>
            <a:r>
              <a:rPr lang="en-US" sz="1350" dirty="0">
                <a:solidFill>
                  <a:srgbClr val="3F7A5E"/>
                </a:solidFill>
                <a:latin typeface="Courier New" pitchFamily="34" charset="0"/>
                <a:ea typeface="Courier New" pitchFamily="34" charset="-122"/>
                <a:cs typeface="Courier New" pitchFamily="34" charset="-120"/>
              </a:rPr>
              <a:t>✓ pass</a:t>
            </a:r>
            <a:endParaRPr lang="en-US" sz="1350" dirty="0"/>
          </a:p>
        </p:txBody>
      </p:sp>
      <p:sp>
        <p:nvSpPr>
          <p:cNvPr id="12" name="Text 10"/>
          <p:cNvSpPr/>
          <p:nvPr/>
        </p:nvSpPr>
        <p:spPr>
          <a:xfrm>
            <a:off x="1200150" y="2800350"/>
            <a:ext cx="5344835"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Noisy baseline, no shift</a:t>
            </a:r>
            <a:endParaRPr lang="en-US" sz="2325" dirty="0"/>
          </a:p>
        </p:txBody>
      </p:sp>
      <p:sp>
        <p:nvSpPr>
          <p:cNvPr id="13" name="Text 11"/>
          <p:cNvSpPr/>
          <p:nvPr/>
        </p:nvSpPr>
        <p:spPr>
          <a:xfrm>
            <a:off x="1200150" y="3264337"/>
            <a:ext cx="5004709" cy="5157668"/>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A false-positive trap: high variance, zero mean shift. EWMA smoothing averages the noise away.</a:t>
            </a:r>
            <a:endParaRPr lang="en-US" sz="1650" dirty="0"/>
          </a:p>
        </p:txBody>
      </p:sp>
      <p:sp>
        <p:nvSpPr>
          <p:cNvPr id="14" name="Shape 12"/>
          <p:cNvSpPr/>
          <p:nvPr/>
        </p:nvSpPr>
        <p:spPr>
          <a:xfrm>
            <a:off x="1200150" y="8555355"/>
            <a:ext cx="4858941" cy="9525"/>
          </a:xfrm>
          <a:prstGeom prst="rect">
            <a:avLst/>
          </a:prstGeom>
          <a:solidFill>
            <a:srgbClr val="E0DBCF"/>
          </a:solidFill>
          <a:ln/>
        </p:spPr>
      </p:sp>
      <p:sp>
        <p:nvSpPr>
          <p:cNvPr id="15" name="Text 13"/>
          <p:cNvSpPr/>
          <p:nvPr/>
        </p:nvSpPr>
        <p:spPr>
          <a:xfrm>
            <a:off x="1200150" y="8736330"/>
            <a:ext cx="5344835"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FP 7.1% </a:t>
            </a:r>
            <a:r>
              <a:rPr lang="en-US" sz="1575" dirty="0">
                <a:solidFill>
                  <a:srgbClr val="A29E92"/>
                </a:solidFill>
                <a:latin typeface="Courier New" pitchFamily="34" charset="0"/>
                <a:ea typeface="Courier New" pitchFamily="34" charset="-122"/>
                <a:cs typeface="Courier New" pitchFamily="34" charset="-120"/>
              </a:rPr>
              <a:t>(17.5% at K=3)</a:t>
            </a:r>
            <a:endParaRPr lang="en-US" sz="1575" dirty="0"/>
          </a:p>
        </p:txBody>
      </p:sp>
      <p:sp>
        <p:nvSpPr>
          <p:cNvPr id="16" name="Shape 14"/>
          <p:cNvSpPr/>
          <p:nvPr/>
        </p:nvSpPr>
        <p:spPr>
          <a:xfrm>
            <a:off x="11897320" y="2076450"/>
            <a:ext cx="9525" cy="7223760"/>
          </a:xfrm>
          <a:prstGeom prst="rect">
            <a:avLst/>
          </a:prstGeom>
          <a:solidFill>
            <a:srgbClr val="E0DBCF"/>
          </a:solidFill>
          <a:ln/>
        </p:spPr>
      </p:sp>
      <p:sp>
        <p:nvSpPr>
          <p:cNvPr id="17" name="Text 15"/>
          <p:cNvSpPr/>
          <p:nvPr/>
        </p:nvSpPr>
        <p:spPr>
          <a:xfrm>
            <a:off x="6714411" y="2388870"/>
            <a:ext cx="796290" cy="25908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8C887C"/>
                </a:solidFill>
                <a:latin typeface="Courier New" pitchFamily="34" charset="0"/>
                <a:ea typeface="Courier New" pitchFamily="34" charset="-122"/>
                <a:cs typeface="Courier New" pitchFamily="34" charset="-120"/>
              </a:rPr>
              <a:t>MEDIUM</a:t>
            </a:r>
            <a:endParaRPr lang="en-US" sz="1350" dirty="0"/>
          </a:p>
        </p:txBody>
      </p:sp>
      <p:sp>
        <p:nvSpPr>
          <p:cNvPr id="18" name="Text 16"/>
          <p:cNvSpPr/>
          <p:nvPr/>
        </p:nvSpPr>
        <p:spPr>
          <a:xfrm>
            <a:off x="10930653" y="2381250"/>
            <a:ext cx="719018" cy="266700"/>
          </a:xfrm>
          <a:prstGeom prst="rect">
            <a:avLst/>
          </a:prstGeom>
          <a:noFill/>
          <a:ln/>
        </p:spPr>
        <p:txBody>
          <a:bodyPr wrap="square" lIns="25400" tIns="25400" rIns="25400" bIns="25400" rtlCol="0" anchor="t">
            <a:normAutofit/>
          </a:bodyPr>
          <a:lstStyle/>
          <a:p>
            <a:pPr marL="0" indent="0" algn="l">
              <a:buNone/>
            </a:pPr>
            <a:r>
              <a:rPr lang="en-US" sz="1350" dirty="0">
                <a:solidFill>
                  <a:srgbClr val="3F7A5E"/>
                </a:solidFill>
                <a:latin typeface="Courier New" pitchFamily="34" charset="0"/>
                <a:ea typeface="Courier New" pitchFamily="34" charset="-122"/>
                <a:cs typeface="Courier New" pitchFamily="34" charset="-120"/>
              </a:rPr>
              <a:t>✓ pass</a:t>
            </a:r>
            <a:endParaRPr lang="en-US" sz="1350" dirty="0"/>
          </a:p>
        </p:txBody>
      </p:sp>
      <p:sp>
        <p:nvSpPr>
          <p:cNvPr id="19" name="Text 17"/>
          <p:cNvSpPr/>
          <p:nvPr/>
        </p:nvSpPr>
        <p:spPr>
          <a:xfrm>
            <a:off x="6714411" y="2800350"/>
            <a:ext cx="5344966"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Sudden spike + slow leak</a:t>
            </a:r>
            <a:endParaRPr lang="en-US" sz="2325" dirty="0"/>
          </a:p>
        </p:txBody>
      </p:sp>
      <p:sp>
        <p:nvSpPr>
          <p:cNvPr id="20" name="Text 18"/>
          <p:cNvSpPr/>
          <p:nvPr/>
        </p:nvSpPr>
        <p:spPr>
          <a:xfrm>
            <a:off x="6714411" y="3264337"/>
            <a:ext cx="5004832" cy="5157668"/>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Injected latency spike and a 180-min memory leak. EWMA catches the sustained drift early.</a:t>
            </a:r>
            <a:endParaRPr lang="en-US" sz="1650" dirty="0"/>
          </a:p>
        </p:txBody>
      </p:sp>
      <p:sp>
        <p:nvSpPr>
          <p:cNvPr id="21" name="Shape 19"/>
          <p:cNvSpPr/>
          <p:nvPr/>
        </p:nvSpPr>
        <p:spPr>
          <a:xfrm>
            <a:off x="6714411" y="8555355"/>
            <a:ext cx="4859060" cy="9525"/>
          </a:xfrm>
          <a:prstGeom prst="rect">
            <a:avLst/>
          </a:prstGeom>
          <a:solidFill>
            <a:srgbClr val="E0DBCF"/>
          </a:solidFill>
          <a:ln/>
        </p:spPr>
      </p:sp>
      <p:sp>
        <p:nvSpPr>
          <p:cNvPr id="22" name="Text 20"/>
          <p:cNvSpPr/>
          <p:nvPr/>
        </p:nvSpPr>
        <p:spPr>
          <a:xfrm>
            <a:off x="6714411" y="8736330"/>
            <a:ext cx="5344966"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caught · 110 min lead</a:t>
            </a:r>
            <a:endParaRPr lang="en-US" sz="1575" dirty="0"/>
          </a:p>
        </p:txBody>
      </p:sp>
      <p:sp>
        <p:nvSpPr>
          <p:cNvPr id="23" name="Text 21"/>
          <p:cNvSpPr/>
          <p:nvPr/>
        </p:nvSpPr>
        <p:spPr>
          <a:xfrm>
            <a:off x="12228791" y="2388870"/>
            <a:ext cx="676275" cy="25908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8C887C"/>
                </a:solidFill>
                <a:latin typeface="Courier New" pitchFamily="34" charset="0"/>
                <a:ea typeface="Courier New" pitchFamily="34" charset="-122"/>
                <a:cs typeface="Courier New" pitchFamily="34" charset="-120"/>
              </a:rPr>
              <a:t>CHAOS</a:t>
            </a:r>
            <a:endParaRPr lang="en-US" sz="1350" dirty="0"/>
          </a:p>
        </p:txBody>
      </p:sp>
      <p:sp>
        <p:nvSpPr>
          <p:cNvPr id="24" name="Text 22"/>
          <p:cNvSpPr/>
          <p:nvPr/>
        </p:nvSpPr>
        <p:spPr>
          <a:xfrm>
            <a:off x="16445032" y="2381250"/>
            <a:ext cx="719018" cy="266700"/>
          </a:xfrm>
          <a:prstGeom prst="rect">
            <a:avLst/>
          </a:prstGeom>
          <a:noFill/>
          <a:ln/>
        </p:spPr>
        <p:txBody>
          <a:bodyPr wrap="square" lIns="25400" tIns="25400" rIns="25400" bIns="25400" rtlCol="0" anchor="t">
            <a:normAutofit/>
          </a:bodyPr>
          <a:lstStyle/>
          <a:p>
            <a:pPr marL="0" indent="0" algn="l">
              <a:buNone/>
            </a:pPr>
            <a:r>
              <a:rPr lang="en-US" sz="1350" dirty="0">
                <a:solidFill>
                  <a:srgbClr val="3F7A5E"/>
                </a:solidFill>
                <a:latin typeface="Courier New" pitchFamily="34" charset="0"/>
                <a:ea typeface="Courier New" pitchFamily="34" charset="-122"/>
                <a:cs typeface="Courier New" pitchFamily="34" charset="-120"/>
              </a:rPr>
              <a:t>✓ pass</a:t>
            </a:r>
            <a:endParaRPr lang="en-US" sz="1350" dirty="0"/>
          </a:p>
        </p:txBody>
      </p:sp>
      <p:sp>
        <p:nvSpPr>
          <p:cNvPr id="25" name="Text 23"/>
          <p:cNvSpPr/>
          <p:nvPr/>
        </p:nvSpPr>
        <p:spPr>
          <a:xfrm>
            <a:off x="12228791" y="2800350"/>
            <a:ext cx="5344966" cy="36873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325" b="1" dirty="0">
                <a:solidFill>
                  <a:srgbClr val="1B1B19"/>
                </a:solidFill>
                <a:latin typeface="Georgia" pitchFamily="34" charset="0"/>
                <a:ea typeface="Georgia" pitchFamily="34" charset="-122"/>
                <a:cs typeface="Georgia" pitchFamily="34" charset="-120"/>
              </a:rPr>
              <a:t>Engine outage</a:t>
            </a:r>
            <a:endParaRPr lang="en-US" sz="2325" dirty="0"/>
          </a:p>
        </p:txBody>
      </p:sp>
      <p:sp>
        <p:nvSpPr>
          <p:cNvPr id="26" name="Text 24"/>
          <p:cNvSpPr/>
          <p:nvPr/>
        </p:nvSpPr>
        <p:spPr>
          <a:xfrm>
            <a:off x="12228791" y="3264337"/>
            <a:ext cx="5004832" cy="5157668"/>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6E6C64"/>
                </a:solidFill>
                <a:latin typeface="Arial" pitchFamily="34" charset="0"/>
                <a:ea typeface="Arial" pitchFamily="34" charset="-122"/>
                <a:cs typeface="Arial" pitchFamily="34" charset="-120"/>
              </a:rPr>
              <a:t>The AI engine returns 5xx or is scaled to zero by the cost breaker.</a:t>
            </a:r>
            <a:endParaRPr lang="en-US" sz="1650" dirty="0"/>
          </a:p>
        </p:txBody>
      </p:sp>
      <p:sp>
        <p:nvSpPr>
          <p:cNvPr id="27" name="Shape 25"/>
          <p:cNvSpPr/>
          <p:nvPr/>
        </p:nvSpPr>
        <p:spPr>
          <a:xfrm>
            <a:off x="12228791" y="8555355"/>
            <a:ext cx="4859060" cy="9525"/>
          </a:xfrm>
          <a:prstGeom prst="rect">
            <a:avLst/>
          </a:prstGeom>
          <a:solidFill>
            <a:srgbClr val="E0DBCF"/>
          </a:solidFill>
          <a:ln/>
        </p:spPr>
      </p:sp>
      <p:sp>
        <p:nvSpPr>
          <p:cNvPr id="28" name="Text 26"/>
          <p:cNvSpPr/>
          <p:nvPr/>
        </p:nvSpPr>
        <p:spPr>
          <a:xfrm>
            <a:off x="12228791" y="8736330"/>
            <a:ext cx="5344966" cy="297180"/>
          </a:xfrm>
          <a:prstGeom prst="rect">
            <a:avLst/>
          </a:prstGeom>
          <a:noFill/>
          <a:ln/>
        </p:spPr>
        <p:txBody>
          <a:bodyPr wrap="square" lIns="25400" tIns="25400" rIns="25400" bIns="25400" rtlCol="0" anchor="t">
            <a:normAutofit/>
          </a:bodyPr>
          <a:lstStyle/>
          <a:p>
            <a:pPr marL="0" indent="0" algn="l">
              <a:buNone/>
            </a:pPr>
            <a:r>
              <a:rPr lang="en-US" sz="1575" dirty="0">
                <a:solidFill>
                  <a:srgbClr val="1F5061"/>
                </a:solidFill>
                <a:latin typeface="Courier New" pitchFamily="34" charset="0"/>
                <a:ea typeface="Courier New" pitchFamily="34" charset="-122"/>
                <a:cs typeface="Courier New" pitchFamily="34" charset="-120"/>
              </a:rPr>
              <a:t>fail-open → CDO rules</a:t>
            </a:r>
            <a:endParaRPr lang="en-US" sz="1575" dirty="0"/>
          </a:p>
        </p:txBody>
      </p:sp>
      <p:sp>
        <p:nvSpPr>
          <p:cNvPr id="29" name="Text 27"/>
          <p:cNvSpPr/>
          <p:nvPr/>
        </p:nvSpPr>
        <p:spPr>
          <a:xfrm>
            <a:off x="49530" y="9525000"/>
            <a:ext cx="18188940" cy="266700"/>
          </a:xfrm>
          <a:prstGeom prst="rect">
            <a:avLst/>
          </a:prstGeom>
          <a:noFill/>
          <a:ln/>
        </p:spPr>
        <p:txBody>
          <a:bodyPr wrap="square" lIns="25400" tIns="25400" rIns="25400" bIns="25400" rtlCol="0" anchor="t">
            <a:normAutofit fontScale="92500" lnSpcReduction="10000"/>
          </a:bodyPr>
          <a:lstStyle/>
          <a:p>
            <a:pPr marL="0" indent="0" algn="ctr">
              <a:buNone/>
            </a:pPr>
            <a:r>
              <a:rPr lang="en-US" sz="1575" i="1" dirty="0">
                <a:solidFill>
                  <a:srgbClr val="7A766C"/>
                </a:solidFill>
                <a:latin typeface="Georgia" pitchFamily="34" charset="0"/>
                <a:ea typeface="Georgia" pitchFamily="34" charset="-122"/>
                <a:cs typeface="Georgia" pitchFamily="34" charset="-120"/>
              </a:rPr>
              <a:t>Scenarios from documented eval traps &amp; failure modes — replace with the actual graded W12 curveballs once confirmed.</a:t>
            </a:r>
            <a:endParaRPr lang="en-US" sz="15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2D2A"/>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FA39B"/>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FA39B"/>
                </a:solidFill>
                <a:latin typeface="Courier New" pitchFamily="34" charset="0"/>
                <a:ea typeface="Courier New" pitchFamily="34" charset="-122"/>
                <a:cs typeface="Courier New" pitchFamily="34" charset="-120"/>
              </a:rPr>
              <a:t>15 / 16</a:t>
            </a:r>
            <a:endParaRPr lang="en-US" sz="1275" dirty="0"/>
          </a:p>
        </p:txBody>
      </p:sp>
      <p:sp>
        <p:nvSpPr>
          <p:cNvPr id="4" name="Shape 2"/>
          <p:cNvSpPr/>
          <p:nvPr/>
        </p:nvSpPr>
        <p:spPr>
          <a:xfrm>
            <a:off x="876300" y="918210"/>
            <a:ext cx="16535400" cy="19050"/>
          </a:xfrm>
          <a:prstGeom prst="rect">
            <a:avLst/>
          </a:prstGeom>
          <a:solidFill>
            <a:srgbClr val="EDEAE0"/>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6FBFA0"/>
                </a:solidFill>
                <a:latin typeface="Courier New" pitchFamily="34" charset="0"/>
                <a:ea typeface="Courier New" pitchFamily="34" charset="-122"/>
                <a:cs typeface="Courier New" pitchFamily="34" charset="-120"/>
              </a:rPr>
              <a:t>15</a:t>
            </a:r>
            <a:endParaRPr lang="en-US" sz="1725" dirty="0"/>
          </a:p>
        </p:txBody>
      </p:sp>
      <p:sp>
        <p:nvSpPr>
          <p:cNvPr id="6" name="Text 4"/>
          <p:cNvSpPr/>
          <p:nvPr/>
        </p:nvSpPr>
        <p:spPr>
          <a:xfrm>
            <a:off x="1329690" y="1184910"/>
            <a:ext cx="4755737"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F4F1E9"/>
                </a:solidFill>
                <a:latin typeface="Georgia" pitchFamily="34" charset="0"/>
                <a:ea typeface="Georgia" pitchFamily="34" charset="-122"/>
                <a:cs typeface="Georgia" pitchFamily="34" charset="-120"/>
              </a:rPr>
              <a:t>What we shipped</a:t>
            </a:r>
            <a:endParaRPr lang="en-US" sz="4500" dirty="0"/>
          </a:p>
        </p:txBody>
      </p:sp>
      <p:sp>
        <p:nvSpPr>
          <p:cNvPr id="7" name="Shape 5"/>
          <p:cNvSpPr/>
          <p:nvPr/>
        </p:nvSpPr>
        <p:spPr>
          <a:xfrm>
            <a:off x="876300" y="5710595"/>
            <a:ext cx="16535400" cy="15240"/>
          </a:xfrm>
          <a:prstGeom prst="rect">
            <a:avLst/>
          </a:prstGeom>
          <a:solidFill>
            <a:srgbClr val="EDEAE0"/>
          </a:solidFill>
          <a:ln/>
        </p:spPr>
      </p:sp>
      <p:sp>
        <p:nvSpPr>
          <p:cNvPr id="8" name="Shape 6"/>
          <p:cNvSpPr/>
          <p:nvPr/>
        </p:nvSpPr>
        <p:spPr>
          <a:xfrm>
            <a:off x="876300" y="3987522"/>
            <a:ext cx="16535400" cy="15240"/>
          </a:xfrm>
          <a:prstGeom prst="rect">
            <a:avLst/>
          </a:prstGeom>
          <a:solidFill>
            <a:srgbClr val="EDEAE0"/>
          </a:solidFill>
          <a:ln/>
        </p:spPr>
      </p:sp>
      <p:sp>
        <p:nvSpPr>
          <p:cNvPr id="9" name="Shape 7"/>
          <p:cNvSpPr/>
          <p:nvPr/>
        </p:nvSpPr>
        <p:spPr>
          <a:xfrm>
            <a:off x="5002530" y="4002762"/>
            <a:ext cx="9525" cy="1707833"/>
          </a:xfrm>
          <a:prstGeom prst="rect">
            <a:avLst/>
          </a:prstGeom>
          <a:solidFill>
            <a:srgbClr val="3A4A45"/>
          </a:solidFill>
          <a:ln/>
        </p:spPr>
      </p:sp>
      <p:sp>
        <p:nvSpPr>
          <p:cNvPr id="10" name="Text 8"/>
          <p:cNvSpPr/>
          <p:nvPr/>
        </p:nvSpPr>
        <p:spPr>
          <a:xfrm>
            <a:off x="1143000" y="4364712"/>
            <a:ext cx="3952113" cy="60388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950" b="1" dirty="0">
                <a:solidFill>
                  <a:srgbClr val="6FBFA0"/>
                </a:solidFill>
                <a:latin typeface="Georgia" pitchFamily="34" charset="0"/>
                <a:ea typeface="Georgia" pitchFamily="34" charset="-122"/>
                <a:cs typeface="Georgia" pitchFamily="34" charset="-120"/>
              </a:rPr>
              <a:t>All</a:t>
            </a:r>
            <a:endParaRPr lang="en-US" sz="4950" dirty="0"/>
          </a:p>
        </p:txBody>
      </p:sp>
      <p:sp>
        <p:nvSpPr>
          <p:cNvPr id="11" name="Text 9"/>
          <p:cNvSpPr/>
          <p:nvPr/>
        </p:nvSpPr>
        <p:spPr>
          <a:xfrm>
            <a:off x="1143000" y="5063847"/>
            <a:ext cx="3952113" cy="322897"/>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725" dirty="0">
                <a:solidFill>
                  <a:srgbClr val="C2CCC6"/>
                </a:solidFill>
                <a:latin typeface="Arial" pitchFamily="34" charset="0"/>
                <a:ea typeface="Arial" pitchFamily="34" charset="-122"/>
                <a:cs typeface="Arial" pitchFamily="34" charset="-120"/>
              </a:rPr>
              <a:t>client gates met, with margin</a:t>
            </a:r>
            <a:endParaRPr lang="en-US" sz="1725" dirty="0"/>
          </a:p>
        </p:txBody>
      </p:sp>
      <p:sp>
        <p:nvSpPr>
          <p:cNvPr id="12" name="Shape 10"/>
          <p:cNvSpPr/>
          <p:nvPr/>
        </p:nvSpPr>
        <p:spPr>
          <a:xfrm>
            <a:off x="9136380" y="4002762"/>
            <a:ext cx="9525" cy="1707833"/>
          </a:xfrm>
          <a:prstGeom prst="rect">
            <a:avLst/>
          </a:prstGeom>
          <a:solidFill>
            <a:srgbClr val="3A4A45"/>
          </a:solidFill>
          <a:ln/>
        </p:spPr>
      </p:sp>
      <p:sp>
        <p:nvSpPr>
          <p:cNvPr id="13" name="Text 11"/>
          <p:cNvSpPr/>
          <p:nvPr/>
        </p:nvSpPr>
        <p:spPr>
          <a:xfrm>
            <a:off x="5276850" y="4364712"/>
            <a:ext cx="3952113" cy="60388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950" b="1" dirty="0">
                <a:solidFill>
                  <a:srgbClr val="F4F1E9"/>
                </a:solidFill>
                <a:latin typeface="Georgia" pitchFamily="34" charset="0"/>
                <a:ea typeface="Georgia" pitchFamily="34" charset="-122"/>
                <a:cs typeface="Georgia" pitchFamily="34" charset="-120"/>
              </a:rPr>
              <a:t>~$36</a:t>
            </a:r>
            <a:endParaRPr lang="en-US" sz="4950" dirty="0"/>
          </a:p>
        </p:txBody>
      </p:sp>
      <p:sp>
        <p:nvSpPr>
          <p:cNvPr id="14" name="Text 12"/>
          <p:cNvSpPr/>
          <p:nvPr/>
        </p:nvSpPr>
        <p:spPr>
          <a:xfrm>
            <a:off x="5276850" y="5063847"/>
            <a:ext cx="3952113" cy="322897"/>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725" dirty="0">
                <a:solidFill>
                  <a:srgbClr val="C2CCC6"/>
                </a:solidFill>
                <a:latin typeface="Arial" pitchFamily="34" charset="0"/>
                <a:ea typeface="Arial" pitchFamily="34" charset="-122"/>
                <a:cs typeface="Arial" pitchFamily="34" charset="-120"/>
              </a:rPr>
              <a:t>/ month — 18% of budget</a:t>
            </a:r>
            <a:endParaRPr lang="en-US" sz="1725" dirty="0"/>
          </a:p>
        </p:txBody>
      </p:sp>
      <p:sp>
        <p:nvSpPr>
          <p:cNvPr id="15" name="Shape 13"/>
          <p:cNvSpPr/>
          <p:nvPr/>
        </p:nvSpPr>
        <p:spPr>
          <a:xfrm>
            <a:off x="13270230" y="4002762"/>
            <a:ext cx="9525" cy="1707833"/>
          </a:xfrm>
          <a:prstGeom prst="rect">
            <a:avLst/>
          </a:prstGeom>
          <a:solidFill>
            <a:srgbClr val="3A4A45"/>
          </a:solidFill>
          <a:ln/>
        </p:spPr>
      </p:sp>
      <p:sp>
        <p:nvSpPr>
          <p:cNvPr id="16" name="Text 14"/>
          <p:cNvSpPr/>
          <p:nvPr/>
        </p:nvSpPr>
        <p:spPr>
          <a:xfrm>
            <a:off x="9410700" y="4364712"/>
            <a:ext cx="3952113" cy="60388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950" b="1" dirty="0">
                <a:solidFill>
                  <a:srgbClr val="F4F1E9"/>
                </a:solidFill>
                <a:latin typeface="Georgia" pitchFamily="34" charset="0"/>
                <a:ea typeface="Georgia" pitchFamily="34" charset="-122"/>
                <a:cs typeface="Georgia" pitchFamily="34" charset="-120"/>
              </a:rPr>
              <a:t>3</a:t>
            </a:r>
            <a:endParaRPr lang="en-US" sz="4950" dirty="0"/>
          </a:p>
        </p:txBody>
      </p:sp>
      <p:sp>
        <p:nvSpPr>
          <p:cNvPr id="17" name="Text 15"/>
          <p:cNvSpPr/>
          <p:nvPr/>
        </p:nvSpPr>
        <p:spPr>
          <a:xfrm>
            <a:off x="9410700" y="5063847"/>
            <a:ext cx="3952113" cy="322897"/>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725" dirty="0">
                <a:solidFill>
                  <a:srgbClr val="C2CCC6"/>
                </a:solidFill>
                <a:latin typeface="Arial" pitchFamily="34" charset="0"/>
                <a:ea typeface="Arial" pitchFamily="34" charset="-122"/>
                <a:cs typeface="Arial" pitchFamily="34" charset="-120"/>
              </a:rPr>
              <a:t>contracts signed &amp; frozen</a:t>
            </a:r>
            <a:endParaRPr lang="en-US" sz="1725" dirty="0"/>
          </a:p>
        </p:txBody>
      </p:sp>
      <p:sp>
        <p:nvSpPr>
          <p:cNvPr id="18" name="Text 16"/>
          <p:cNvSpPr/>
          <p:nvPr/>
        </p:nvSpPr>
        <p:spPr>
          <a:xfrm>
            <a:off x="13544550" y="4364712"/>
            <a:ext cx="3960495" cy="60388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950" b="1" dirty="0">
                <a:solidFill>
                  <a:srgbClr val="F4F1E9"/>
                </a:solidFill>
                <a:latin typeface="Georgia" pitchFamily="34" charset="0"/>
                <a:ea typeface="Georgia" pitchFamily="34" charset="-122"/>
                <a:cs typeface="Georgia" pitchFamily="34" charset="-120"/>
              </a:rPr>
              <a:t>9/9</a:t>
            </a:r>
            <a:endParaRPr lang="en-US" sz="4950" dirty="0"/>
          </a:p>
        </p:txBody>
      </p:sp>
      <p:sp>
        <p:nvSpPr>
          <p:cNvPr id="19" name="Text 17"/>
          <p:cNvSpPr/>
          <p:nvPr/>
        </p:nvSpPr>
        <p:spPr>
          <a:xfrm>
            <a:off x="13544550" y="5063847"/>
            <a:ext cx="3960495" cy="322897"/>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725" dirty="0">
                <a:solidFill>
                  <a:srgbClr val="C2CCC6"/>
                </a:solidFill>
                <a:latin typeface="Arial" pitchFamily="34" charset="0"/>
                <a:ea typeface="Arial" pitchFamily="34" charset="-122"/>
                <a:cs typeface="Arial" pitchFamily="34" charset="-120"/>
              </a:rPr>
              <a:t>tests · real artifact, not slideware</a:t>
            </a:r>
            <a:endParaRPr lang="en-US" sz="1725" dirty="0"/>
          </a:p>
        </p:txBody>
      </p:sp>
      <p:sp>
        <p:nvSpPr>
          <p:cNvPr id="20" name="Text 18"/>
          <p:cNvSpPr/>
          <p:nvPr/>
        </p:nvSpPr>
        <p:spPr>
          <a:xfrm>
            <a:off x="876300" y="6125885"/>
            <a:ext cx="13538835" cy="1042273"/>
          </a:xfrm>
          <a:prstGeom prst="rect">
            <a:avLst/>
          </a:prstGeom>
          <a:noFill/>
          <a:ln/>
        </p:spPr>
        <p:txBody>
          <a:bodyPr wrap="square" lIns="25400" tIns="25400" rIns="25400" bIns="25400" rtlCol="0" anchor="t">
            <a:normAutofit fontScale="92500" lnSpcReduction="10000"/>
          </a:bodyPr>
          <a:lstStyle/>
          <a:p>
            <a:pPr marL="0" indent="0" algn="l">
              <a:lnSpc>
                <a:spcPct val="142000"/>
              </a:lnSpc>
              <a:buNone/>
            </a:pPr>
            <a:r>
              <a:rPr lang="en-US" sz="2700" dirty="0">
                <a:solidFill>
                  <a:srgbClr val="E6E2D7"/>
                </a:solidFill>
                <a:latin typeface="Georgia" pitchFamily="34" charset="0"/>
                <a:ea typeface="Georgia" pitchFamily="34" charset="-122"/>
                <a:cs typeface="Georgia" pitchFamily="34" charset="-120"/>
              </a:rPr>
              <a:t>A working FastAPI engine on stateless Fargate, with reproducible evidence — </a:t>
            </a:r>
            <a:r>
              <a:rPr lang="en-US" sz="2700" i="1" dirty="0">
                <a:solidFill>
                  <a:srgbClr val="6FBFA0"/>
                </a:solidFill>
                <a:latin typeface="Georgia" pitchFamily="34" charset="0"/>
                <a:ea typeface="Georgia" pitchFamily="34" charset="-122"/>
                <a:cs typeface="Georgia" pitchFamily="34" charset="-120"/>
              </a:rPr>
              <a:t>ready for W12 final build </a:t>
            </a:r>
            <a:r>
              <a:rPr lang="en-US" sz="2700" dirty="0">
                <a:solidFill>
                  <a:srgbClr val="E6E2D7"/>
                </a:solidFill>
                <a:latin typeface="Georgia" pitchFamily="34" charset="0"/>
                <a:ea typeface="Georgia" pitchFamily="34" charset="-122"/>
                <a:cs typeface="Georgia" pitchFamily="34" charset="-120"/>
              </a:rPr>
              <a:t>: IAM SigV4 enforced, schema unchanged.</a:t>
            </a:r>
            <a:endParaRPr lang="en-US" sz="2700" dirty="0"/>
          </a:p>
        </p:txBody>
      </p:sp>
      <p:sp>
        <p:nvSpPr>
          <p:cNvPr id="21" name="Shape 19"/>
          <p:cNvSpPr/>
          <p:nvPr/>
        </p:nvSpPr>
        <p:spPr>
          <a:xfrm>
            <a:off x="876300" y="9361170"/>
            <a:ext cx="16535400" cy="9525"/>
          </a:xfrm>
          <a:prstGeom prst="rect">
            <a:avLst/>
          </a:prstGeom>
          <a:solidFill>
            <a:srgbClr val="3A4A45"/>
          </a:solidFill>
          <a:ln/>
        </p:spPr>
      </p:sp>
      <p:sp>
        <p:nvSpPr>
          <p:cNvPr id="22" name="Text 20"/>
          <p:cNvSpPr/>
          <p:nvPr/>
        </p:nvSpPr>
        <p:spPr>
          <a:xfrm>
            <a:off x="876300" y="9540240"/>
            <a:ext cx="5144060" cy="251460"/>
          </a:xfrm>
          <a:prstGeom prst="rect">
            <a:avLst/>
          </a:prstGeom>
          <a:noFill/>
          <a:ln/>
        </p:spPr>
        <p:txBody>
          <a:bodyPr wrap="square" lIns="25400" tIns="25400" rIns="25400" bIns="25400" rtlCol="0" anchor="t">
            <a:normAutofit/>
          </a:bodyPr>
          <a:lstStyle/>
          <a:p>
            <a:pPr marL="0" indent="0" algn="l">
              <a:buNone/>
            </a:pPr>
            <a:r>
              <a:rPr lang="en-US" sz="1275" kern="0" spc="204" dirty="0">
                <a:solidFill>
                  <a:srgbClr val="8FA39B"/>
                </a:solidFill>
                <a:latin typeface="Courier New" pitchFamily="34" charset="0"/>
                <a:ea typeface="Courier New" pitchFamily="34" charset="-122"/>
                <a:cs typeface="Courier New" pitchFamily="34" charset="-120"/>
              </a:rPr>
              <a:t>FORESIGHT LENS · AIO-03 · TASK FORCE 4</a:t>
            </a:r>
            <a:endParaRPr lang="en-US" sz="1275" dirty="0"/>
          </a:p>
        </p:txBody>
      </p:sp>
      <p:sp>
        <p:nvSpPr>
          <p:cNvPr id="23" name="Text 21"/>
          <p:cNvSpPr/>
          <p:nvPr/>
        </p:nvSpPr>
        <p:spPr>
          <a:xfrm>
            <a:off x="16304062" y="9540240"/>
            <a:ext cx="1183838" cy="251460"/>
          </a:xfrm>
          <a:prstGeom prst="rect">
            <a:avLst/>
          </a:prstGeom>
          <a:noFill/>
          <a:ln/>
        </p:spPr>
        <p:txBody>
          <a:bodyPr wrap="square" lIns="25400" tIns="25400" rIns="25400" bIns="25400" rtlCol="0" anchor="t">
            <a:normAutofit/>
          </a:bodyPr>
          <a:lstStyle/>
          <a:p>
            <a:pPr marL="0" indent="0" algn="l">
              <a:buNone/>
            </a:pPr>
            <a:r>
              <a:rPr lang="en-US" sz="1275" kern="0" spc="204" dirty="0">
                <a:solidFill>
                  <a:srgbClr val="8FA39B"/>
                </a:solidFill>
                <a:latin typeface="Courier New" pitchFamily="34" charset="0"/>
                <a:ea typeface="Courier New" pitchFamily="34" charset="-122"/>
                <a:cs typeface="Courier New" pitchFamily="34" charset="-120"/>
              </a:rPr>
              <a:t>THANK YOU</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76300" y="571500"/>
            <a:ext cx="4844796"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FORESIGHT LENS · PREDICTION ENGINE</a:t>
            </a:r>
            <a:endParaRPr lang="en-US" sz="1275" dirty="0"/>
          </a:p>
        </p:txBody>
      </p:sp>
      <p:sp>
        <p:nvSpPr>
          <p:cNvPr id="3" name="Text 1"/>
          <p:cNvSpPr/>
          <p:nvPr/>
        </p:nvSpPr>
        <p:spPr>
          <a:xfrm>
            <a:off x="16504920" y="571500"/>
            <a:ext cx="982980" cy="251460"/>
          </a:xfrm>
          <a:prstGeom prst="rect">
            <a:avLst/>
          </a:prstGeom>
          <a:noFill/>
          <a:ln/>
        </p:spPr>
        <p:txBody>
          <a:bodyPr wrap="square" lIns="25400" tIns="25400" rIns="25400" bIns="25400" rtlCol="0" anchor="t">
            <a:normAutofit/>
          </a:bodyPr>
          <a:lstStyle/>
          <a:p>
            <a:pPr marL="0" indent="0" algn="l">
              <a:buNone/>
            </a:pPr>
            <a:r>
              <a:rPr lang="en-US" sz="1275" kern="0" spc="255" dirty="0">
                <a:solidFill>
                  <a:srgbClr val="8C887C"/>
                </a:solidFill>
                <a:latin typeface="Courier New" pitchFamily="34" charset="0"/>
                <a:ea typeface="Courier New" pitchFamily="34" charset="-122"/>
                <a:cs typeface="Courier New" pitchFamily="34" charset="-120"/>
              </a:rPr>
              <a:t>16 / 16</a:t>
            </a:r>
            <a:endParaRPr lang="en-US" sz="1275" dirty="0"/>
          </a:p>
        </p:txBody>
      </p:sp>
      <p:sp>
        <p:nvSpPr>
          <p:cNvPr id="4" name="Shape 2"/>
          <p:cNvSpPr/>
          <p:nvPr/>
        </p:nvSpPr>
        <p:spPr>
          <a:xfrm>
            <a:off x="876300" y="918210"/>
            <a:ext cx="16535400" cy="19050"/>
          </a:xfrm>
          <a:prstGeom prst="rect">
            <a:avLst/>
          </a:prstGeom>
          <a:solidFill>
            <a:srgbClr val="1B1B19"/>
          </a:solidFill>
          <a:ln/>
        </p:spPr>
      </p:sp>
      <p:sp>
        <p:nvSpPr>
          <p:cNvPr id="5" name="Text 3"/>
          <p:cNvSpPr/>
          <p:nvPr/>
        </p:nvSpPr>
        <p:spPr>
          <a:xfrm>
            <a:off x="876300" y="1413510"/>
            <a:ext cx="339090"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16</a:t>
            </a:r>
            <a:endParaRPr lang="en-US" sz="1725" dirty="0"/>
          </a:p>
        </p:txBody>
      </p:sp>
      <p:sp>
        <p:nvSpPr>
          <p:cNvPr id="6" name="Text 4"/>
          <p:cNvSpPr/>
          <p:nvPr/>
        </p:nvSpPr>
        <p:spPr>
          <a:xfrm>
            <a:off x="1329690" y="1184910"/>
            <a:ext cx="5153751" cy="609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500" kern="0" spc="-45" dirty="0">
                <a:solidFill>
                  <a:srgbClr val="1B1B19"/>
                </a:solidFill>
                <a:latin typeface="Georgia" pitchFamily="34" charset="0"/>
                <a:ea typeface="Georgia" pitchFamily="34" charset="-122"/>
                <a:cs typeface="Georgia" pitchFamily="34" charset="-120"/>
              </a:rPr>
              <a:t>Appendix · backup</a:t>
            </a:r>
            <a:endParaRPr lang="en-US" sz="4500" dirty="0"/>
          </a:p>
        </p:txBody>
      </p:sp>
      <p:sp>
        <p:nvSpPr>
          <p:cNvPr id="7" name="Text 5"/>
          <p:cNvSpPr/>
          <p:nvPr/>
        </p:nvSpPr>
        <p:spPr>
          <a:xfrm>
            <a:off x="876300" y="2042160"/>
            <a:ext cx="6126980"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TABLE 3 — EWMA PARAMETER SWEEP</a:t>
            </a:r>
            <a:endParaRPr lang="en-US" sz="1200" dirty="0"/>
          </a:p>
        </p:txBody>
      </p:sp>
      <p:sp>
        <p:nvSpPr>
          <p:cNvPr id="8" name="Shape 6"/>
          <p:cNvSpPr/>
          <p:nvPr/>
        </p:nvSpPr>
        <p:spPr>
          <a:xfrm>
            <a:off x="876300" y="2716530"/>
            <a:ext cx="5569982" cy="15240"/>
          </a:xfrm>
          <a:prstGeom prst="rect">
            <a:avLst/>
          </a:prstGeom>
          <a:solidFill>
            <a:srgbClr val="1B1B19"/>
          </a:solidFill>
          <a:ln/>
        </p:spPr>
      </p:sp>
      <p:sp>
        <p:nvSpPr>
          <p:cNvPr id="9" name="Text 7"/>
          <p:cNvSpPr/>
          <p:nvPr/>
        </p:nvSpPr>
        <p:spPr>
          <a:xfrm>
            <a:off x="914400" y="2381250"/>
            <a:ext cx="1510725"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α</a:t>
            </a:r>
            <a:endParaRPr lang="en-US" sz="1350" dirty="0"/>
          </a:p>
        </p:txBody>
      </p:sp>
      <p:sp>
        <p:nvSpPr>
          <p:cNvPr id="10" name="Text 8"/>
          <p:cNvSpPr/>
          <p:nvPr/>
        </p:nvSpPr>
        <p:spPr>
          <a:xfrm>
            <a:off x="2287786" y="2381250"/>
            <a:ext cx="1510855"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K</a:t>
            </a:r>
            <a:endParaRPr lang="en-US" sz="1350" dirty="0"/>
          </a:p>
        </p:txBody>
      </p:sp>
      <p:sp>
        <p:nvSpPr>
          <p:cNvPr id="11" name="Text 9"/>
          <p:cNvSpPr/>
          <p:nvPr/>
        </p:nvSpPr>
        <p:spPr>
          <a:xfrm>
            <a:off x="3661291" y="2381250"/>
            <a:ext cx="1510725"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FP%</a:t>
            </a:r>
            <a:endParaRPr lang="en-US" sz="1350" dirty="0"/>
          </a:p>
        </p:txBody>
      </p:sp>
      <p:sp>
        <p:nvSpPr>
          <p:cNvPr id="12" name="Text 10"/>
          <p:cNvSpPr/>
          <p:nvPr/>
        </p:nvSpPr>
        <p:spPr>
          <a:xfrm>
            <a:off x="5034677" y="2381250"/>
            <a:ext cx="1510855" cy="259080"/>
          </a:xfrm>
          <a:prstGeom prst="rect">
            <a:avLst/>
          </a:prstGeom>
          <a:noFill/>
          <a:ln/>
        </p:spPr>
        <p:txBody>
          <a:bodyPr wrap="square" lIns="25400" tIns="25400" rIns="25400" bIns="25400" rtlCol="0" anchor="t">
            <a:normAutofit/>
          </a:bodyPr>
          <a:lstStyle/>
          <a:p>
            <a:pPr marL="0" indent="0" algn="l">
              <a:buNone/>
            </a:pPr>
            <a:r>
              <a:rPr lang="en-US" sz="1350" dirty="0">
                <a:solidFill>
                  <a:srgbClr val="8C887C"/>
                </a:solidFill>
                <a:latin typeface="Courier New" pitchFamily="34" charset="0"/>
                <a:ea typeface="Courier New" pitchFamily="34" charset="-122"/>
                <a:cs typeface="Courier New" pitchFamily="34" charset="-120"/>
              </a:rPr>
              <a:t>recall</a:t>
            </a:r>
            <a:endParaRPr lang="en-US" sz="1350" dirty="0"/>
          </a:p>
        </p:txBody>
      </p:sp>
      <p:sp>
        <p:nvSpPr>
          <p:cNvPr id="13" name="Shape 11"/>
          <p:cNvSpPr/>
          <p:nvPr/>
        </p:nvSpPr>
        <p:spPr>
          <a:xfrm>
            <a:off x="876300" y="4382453"/>
            <a:ext cx="5569982" cy="9525"/>
          </a:xfrm>
          <a:prstGeom prst="rect">
            <a:avLst/>
          </a:prstGeom>
          <a:solidFill>
            <a:srgbClr val="E0DBCF"/>
          </a:solidFill>
          <a:ln/>
        </p:spPr>
      </p:sp>
      <p:sp>
        <p:nvSpPr>
          <p:cNvPr id="14" name="Text 12"/>
          <p:cNvSpPr/>
          <p:nvPr/>
        </p:nvSpPr>
        <p:spPr>
          <a:xfrm>
            <a:off x="914400" y="3416141"/>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0.3</a:t>
            </a:r>
            <a:endParaRPr lang="en-US" sz="1725" dirty="0"/>
          </a:p>
        </p:txBody>
      </p:sp>
      <p:sp>
        <p:nvSpPr>
          <p:cNvPr id="15" name="Text 13"/>
          <p:cNvSpPr/>
          <p:nvPr/>
        </p:nvSpPr>
        <p:spPr>
          <a:xfrm>
            <a:off x="2287786" y="3416141"/>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3.0</a:t>
            </a:r>
            <a:endParaRPr lang="en-US" sz="1725" dirty="0"/>
          </a:p>
        </p:txBody>
      </p:sp>
      <p:sp>
        <p:nvSpPr>
          <p:cNvPr id="16" name="Text 14"/>
          <p:cNvSpPr/>
          <p:nvPr/>
        </p:nvSpPr>
        <p:spPr>
          <a:xfrm>
            <a:off x="3661291" y="3416141"/>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A8432E"/>
                </a:solidFill>
                <a:latin typeface="Courier New" pitchFamily="34" charset="0"/>
                <a:ea typeface="Courier New" pitchFamily="34" charset="-122"/>
                <a:cs typeface="Courier New" pitchFamily="34" charset="-120"/>
              </a:rPr>
              <a:t>17.5</a:t>
            </a:r>
            <a:endParaRPr lang="en-US" sz="1725" dirty="0"/>
          </a:p>
        </p:txBody>
      </p:sp>
      <p:sp>
        <p:nvSpPr>
          <p:cNvPr id="17" name="Text 15"/>
          <p:cNvSpPr/>
          <p:nvPr/>
        </p:nvSpPr>
        <p:spPr>
          <a:xfrm>
            <a:off x="5034677" y="3416141"/>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.977</a:t>
            </a:r>
            <a:endParaRPr lang="en-US" sz="1725" dirty="0"/>
          </a:p>
        </p:txBody>
      </p:sp>
      <p:sp>
        <p:nvSpPr>
          <p:cNvPr id="18" name="Shape 16"/>
          <p:cNvSpPr/>
          <p:nvPr/>
        </p:nvSpPr>
        <p:spPr>
          <a:xfrm>
            <a:off x="876300" y="4390072"/>
            <a:ext cx="5569982" cy="1658303"/>
          </a:xfrm>
          <a:prstGeom prst="rect">
            <a:avLst/>
          </a:prstGeom>
          <a:solidFill>
            <a:srgbClr val="1F5061">
              <a:alpha val="7000"/>
            </a:srgbClr>
          </a:solidFill>
          <a:ln/>
        </p:spPr>
      </p:sp>
      <p:sp>
        <p:nvSpPr>
          <p:cNvPr id="19" name="Shape 17"/>
          <p:cNvSpPr/>
          <p:nvPr/>
        </p:nvSpPr>
        <p:spPr>
          <a:xfrm>
            <a:off x="876300" y="6040755"/>
            <a:ext cx="5569982" cy="9525"/>
          </a:xfrm>
          <a:prstGeom prst="rect">
            <a:avLst/>
          </a:prstGeom>
          <a:solidFill>
            <a:srgbClr val="E0DBCF"/>
          </a:solidFill>
          <a:ln/>
        </p:spPr>
      </p:sp>
      <p:sp>
        <p:nvSpPr>
          <p:cNvPr id="20" name="Text 18"/>
          <p:cNvSpPr/>
          <p:nvPr/>
        </p:nvSpPr>
        <p:spPr>
          <a:xfrm>
            <a:off x="914400" y="5074444"/>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0.3</a:t>
            </a:r>
            <a:endParaRPr lang="en-US" sz="1725" dirty="0"/>
          </a:p>
        </p:txBody>
      </p:sp>
      <p:sp>
        <p:nvSpPr>
          <p:cNvPr id="21" name="Text 19"/>
          <p:cNvSpPr/>
          <p:nvPr/>
        </p:nvSpPr>
        <p:spPr>
          <a:xfrm>
            <a:off x="2287786" y="5074444"/>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4.0</a:t>
            </a:r>
            <a:endParaRPr lang="en-US" sz="1725" dirty="0"/>
          </a:p>
        </p:txBody>
      </p:sp>
      <p:sp>
        <p:nvSpPr>
          <p:cNvPr id="22" name="Text 20"/>
          <p:cNvSpPr/>
          <p:nvPr/>
        </p:nvSpPr>
        <p:spPr>
          <a:xfrm>
            <a:off x="3661291" y="5074444"/>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7.1</a:t>
            </a:r>
            <a:endParaRPr lang="en-US" sz="1725" dirty="0"/>
          </a:p>
        </p:txBody>
      </p:sp>
      <p:sp>
        <p:nvSpPr>
          <p:cNvPr id="23" name="Text 21"/>
          <p:cNvSpPr/>
          <p:nvPr/>
        </p:nvSpPr>
        <p:spPr>
          <a:xfrm>
            <a:off x="5034677" y="5074444"/>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1F5061"/>
                </a:solidFill>
                <a:latin typeface="Courier New" pitchFamily="34" charset="0"/>
                <a:ea typeface="Courier New" pitchFamily="34" charset="-122"/>
                <a:cs typeface="Courier New" pitchFamily="34" charset="-120"/>
              </a:rPr>
              <a:t>.971</a:t>
            </a:r>
            <a:endParaRPr lang="en-US" sz="1725" dirty="0"/>
          </a:p>
        </p:txBody>
      </p:sp>
      <p:sp>
        <p:nvSpPr>
          <p:cNvPr id="24" name="Shape 22"/>
          <p:cNvSpPr/>
          <p:nvPr/>
        </p:nvSpPr>
        <p:spPr>
          <a:xfrm>
            <a:off x="876300" y="7699058"/>
            <a:ext cx="5569982" cy="9525"/>
          </a:xfrm>
          <a:prstGeom prst="rect">
            <a:avLst/>
          </a:prstGeom>
          <a:solidFill>
            <a:srgbClr val="E0DBCF"/>
          </a:solidFill>
          <a:ln/>
        </p:spPr>
      </p:sp>
      <p:sp>
        <p:nvSpPr>
          <p:cNvPr id="25" name="Text 23"/>
          <p:cNvSpPr/>
          <p:nvPr/>
        </p:nvSpPr>
        <p:spPr>
          <a:xfrm>
            <a:off x="914400" y="6732747"/>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0.3</a:t>
            </a:r>
            <a:endParaRPr lang="en-US" sz="1725" dirty="0"/>
          </a:p>
        </p:txBody>
      </p:sp>
      <p:sp>
        <p:nvSpPr>
          <p:cNvPr id="26" name="Text 24"/>
          <p:cNvSpPr/>
          <p:nvPr/>
        </p:nvSpPr>
        <p:spPr>
          <a:xfrm>
            <a:off x="2287786" y="6732747"/>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4.5</a:t>
            </a:r>
            <a:endParaRPr lang="en-US" sz="1725" dirty="0"/>
          </a:p>
        </p:txBody>
      </p:sp>
      <p:sp>
        <p:nvSpPr>
          <p:cNvPr id="27" name="Text 25"/>
          <p:cNvSpPr/>
          <p:nvPr/>
        </p:nvSpPr>
        <p:spPr>
          <a:xfrm>
            <a:off x="3661291" y="6732747"/>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6.5</a:t>
            </a:r>
            <a:endParaRPr lang="en-US" sz="1725" dirty="0"/>
          </a:p>
        </p:txBody>
      </p:sp>
      <p:sp>
        <p:nvSpPr>
          <p:cNvPr id="28" name="Text 26"/>
          <p:cNvSpPr/>
          <p:nvPr/>
        </p:nvSpPr>
        <p:spPr>
          <a:xfrm>
            <a:off x="5034677" y="6732747"/>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.966</a:t>
            </a:r>
            <a:endParaRPr lang="en-US" sz="1725" dirty="0"/>
          </a:p>
        </p:txBody>
      </p:sp>
      <p:sp>
        <p:nvSpPr>
          <p:cNvPr id="29" name="Shape 27"/>
          <p:cNvSpPr/>
          <p:nvPr/>
        </p:nvSpPr>
        <p:spPr>
          <a:xfrm>
            <a:off x="876300" y="9357360"/>
            <a:ext cx="5569982" cy="15240"/>
          </a:xfrm>
          <a:prstGeom prst="rect">
            <a:avLst/>
          </a:prstGeom>
          <a:solidFill>
            <a:srgbClr val="1B1B19"/>
          </a:solidFill>
          <a:ln/>
        </p:spPr>
      </p:sp>
      <p:sp>
        <p:nvSpPr>
          <p:cNvPr id="30" name="Text 28"/>
          <p:cNvSpPr/>
          <p:nvPr/>
        </p:nvSpPr>
        <p:spPr>
          <a:xfrm>
            <a:off x="914400" y="8391049"/>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0.15</a:t>
            </a:r>
            <a:endParaRPr lang="en-US" sz="1725" dirty="0"/>
          </a:p>
        </p:txBody>
      </p:sp>
      <p:sp>
        <p:nvSpPr>
          <p:cNvPr id="31" name="Text 29"/>
          <p:cNvSpPr/>
          <p:nvPr/>
        </p:nvSpPr>
        <p:spPr>
          <a:xfrm>
            <a:off x="2287786" y="8391049"/>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4.0</a:t>
            </a:r>
            <a:endParaRPr lang="en-US" sz="1725" dirty="0"/>
          </a:p>
        </p:txBody>
      </p:sp>
      <p:sp>
        <p:nvSpPr>
          <p:cNvPr id="32" name="Text 30"/>
          <p:cNvSpPr/>
          <p:nvPr/>
        </p:nvSpPr>
        <p:spPr>
          <a:xfrm>
            <a:off x="3661291" y="8391049"/>
            <a:ext cx="151072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B07D33"/>
                </a:solidFill>
                <a:latin typeface="Courier New" pitchFamily="34" charset="0"/>
                <a:ea typeface="Courier New" pitchFamily="34" charset="-122"/>
                <a:cs typeface="Courier New" pitchFamily="34" charset="-120"/>
              </a:rPr>
              <a:t>11.8</a:t>
            </a:r>
            <a:endParaRPr lang="en-US" sz="1725" dirty="0"/>
          </a:p>
        </p:txBody>
      </p:sp>
      <p:sp>
        <p:nvSpPr>
          <p:cNvPr id="33" name="Text 31"/>
          <p:cNvSpPr/>
          <p:nvPr/>
        </p:nvSpPr>
        <p:spPr>
          <a:xfrm>
            <a:off x="5034677" y="8391049"/>
            <a:ext cx="1510855" cy="320040"/>
          </a:xfrm>
          <a:prstGeom prst="rect">
            <a:avLst/>
          </a:prstGeom>
          <a:noFill/>
          <a:ln/>
        </p:spPr>
        <p:txBody>
          <a:bodyPr wrap="square" lIns="25400" tIns="25400" rIns="25400" bIns="25400" rtlCol="0" anchor="t">
            <a:normAutofit/>
          </a:bodyPr>
          <a:lstStyle/>
          <a:p>
            <a:pPr marL="0" indent="0" algn="l">
              <a:buNone/>
            </a:pPr>
            <a:r>
              <a:rPr lang="en-US" sz="1725" dirty="0">
                <a:solidFill>
                  <a:srgbClr val="54514A"/>
                </a:solidFill>
                <a:latin typeface="Courier New" pitchFamily="34" charset="0"/>
                <a:ea typeface="Courier New" pitchFamily="34" charset="-122"/>
                <a:cs typeface="Courier New" pitchFamily="34" charset="-120"/>
              </a:rPr>
              <a:t>.977</a:t>
            </a:r>
            <a:endParaRPr lang="en-US" sz="1725" dirty="0"/>
          </a:p>
        </p:txBody>
      </p:sp>
      <p:sp>
        <p:nvSpPr>
          <p:cNvPr id="34" name="Text 32"/>
          <p:cNvSpPr/>
          <p:nvPr/>
        </p:nvSpPr>
        <p:spPr>
          <a:xfrm>
            <a:off x="876300" y="9505950"/>
            <a:ext cx="5737082"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i="1" dirty="0">
                <a:solidFill>
                  <a:srgbClr val="7A766C"/>
                </a:solidFill>
                <a:latin typeface="Georgia" pitchFamily="34" charset="0"/>
                <a:ea typeface="Georgia" pitchFamily="34" charset="-122"/>
                <a:cs typeface="Georgia" pitchFamily="34" charset="-120"/>
              </a:rPr>
              <a:t>Chosen α=0.3, K=4.0 — best FP margin while holding recall.</a:t>
            </a:r>
            <a:endParaRPr lang="en-US" sz="1500" dirty="0"/>
          </a:p>
        </p:txBody>
      </p:sp>
      <p:sp>
        <p:nvSpPr>
          <p:cNvPr id="35" name="Text 33"/>
          <p:cNvSpPr/>
          <p:nvPr/>
        </p:nvSpPr>
        <p:spPr>
          <a:xfrm>
            <a:off x="6865382" y="2042160"/>
            <a:ext cx="5569970"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TELEMETRY · 7 SIGNALS</a:t>
            </a:r>
            <a:endParaRPr lang="en-US" sz="1200" dirty="0"/>
          </a:p>
        </p:txBody>
      </p:sp>
      <p:sp>
        <p:nvSpPr>
          <p:cNvPr id="36" name="Shape 34"/>
          <p:cNvSpPr/>
          <p:nvPr/>
        </p:nvSpPr>
        <p:spPr>
          <a:xfrm>
            <a:off x="6865382" y="2381250"/>
            <a:ext cx="5063609" cy="15240"/>
          </a:xfrm>
          <a:prstGeom prst="rect">
            <a:avLst/>
          </a:prstGeom>
          <a:solidFill>
            <a:srgbClr val="1B1B19"/>
          </a:solidFill>
          <a:ln/>
        </p:spPr>
      </p:sp>
      <p:sp>
        <p:nvSpPr>
          <p:cNvPr id="37" name="Text 35"/>
          <p:cNvSpPr/>
          <p:nvPr/>
        </p:nvSpPr>
        <p:spPr>
          <a:xfrm>
            <a:off x="6865382" y="2548890"/>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33322D"/>
                </a:solidFill>
                <a:latin typeface="Courier New" pitchFamily="34" charset="0"/>
                <a:ea typeface="Courier New" pitchFamily="34" charset="-122"/>
                <a:cs typeface="Courier New" pitchFamily="34" charset="-120"/>
              </a:rPr>
              <a:t>cpu_usage_percent</a:t>
            </a:r>
            <a:endParaRPr lang="en-US" sz="1500" dirty="0"/>
          </a:p>
        </p:txBody>
      </p:sp>
      <p:sp>
        <p:nvSpPr>
          <p:cNvPr id="38" name="Text 36"/>
          <p:cNvSpPr/>
          <p:nvPr/>
        </p:nvSpPr>
        <p:spPr>
          <a:xfrm>
            <a:off x="6865382" y="3644265"/>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33322D"/>
                </a:solidFill>
                <a:latin typeface="Courier New" pitchFamily="34" charset="0"/>
                <a:ea typeface="Courier New" pitchFamily="34" charset="-122"/>
                <a:cs typeface="Courier New" pitchFamily="34" charset="-120"/>
              </a:rPr>
              <a:t>memory_usage_percent</a:t>
            </a:r>
            <a:endParaRPr lang="en-US" sz="1500" dirty="0"/>
          </a:p>
        </p:txBody>
      </p:sp>
      <p:sp>
        <p:nvSpPr>
          <p:cNvPr id="39" name="Text 37"/>
          <p:cNvSpPr/>
          <p:nvPr/>
        </p:nvSpPr>
        <p:spPr>
          <a:xfrm>
            <a:off x="6865382" y="4739640"/>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33322D"/>
                </a:solidFill>
                <a:latin typeface="Courier New" pitchFamily="34" charset="0"/>
                <a:ea typeface="Courier New" pitchFamily="34" charset="-122"/>
                <a:cs typeface="Courier New" pitchFamily="34" charset="-120"/>
              </a:rPr>
              <a:t>api_latency_ms</a:t>
            </a:r>
            <a:endParaRPr lang="en-US" sz="1500" dirty="0"/>
          </a:p>
        </p:txBody>
      </p:sp>
      <p:sp>
        <p:nvSpPr>
          <p:cNvPr id="40" name="Text 38"/>
          <p:cNvSpPr/>
          <p:nvPr/>
        </p:nvSpPr>
        <p:spPr>
          <a:xfrm>
            <a:off x="6865382" y="5835015"/>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33322D"/>
                </a:solidFill>
                <a:latin typeface="Courier New" pitchFamily="34" charset="0"/>
                <a:ea typeface="Courier New" pitchFamily="34" charset="-122"/>
                <a:cs typeface="Courier New" pitchFamily="34" charset="-120"/>
              </a:rPr>
              <a:t>queue_depth</a:t>
            </a:r>
            <a:endParaRPr lang="en-US" sz="1500" dirty="0"/>
          </a:p>
        </p:txBody>
      </p:sp>
      <p:sp>
        <p:nvSpPr>
          <p:cNvPr id="41" name="Text 39"/>
          <p:cNvSpPr/>
          <p:nvPr/>
        </p:nvSpPr>
        <p:spPr>
          <a:xfrm>
            <a:off x="6865382" y="6930390"/>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9A968A"/>
                </a:solidFill>
                <a:latin typeface="Courier New" pitchFamily="34" charset="0"/>
                <a:ea typeface="Courier New" pitchFamily="34" charset="-122"/>
                <a:cs typeface="Courier New" pitchFamily="34" charset="-120"/>
              </a:rPr>
              <a:t>active_connections</a:t>
            </a:r>
            <a:endParaRPr lang="en-US" sz="1500" dirty="0"/>
          </a:p>
        </p:txBody>
      </p:sp>
      <p:sp>
        <p:nvSpPr>
          <p:cNvPr id="42" name="Text 40"/>
          <p:cNvSpPr/>
          <p:nvPr/>
        </p:nvSpPr>
        <p:spPr>
          <a:xfrm>
            <a:off x="6865382" y="8025765"/>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9A968A"/>
                </a:solidFill>
                <a:latin typeface="Courier New" pitchFamily="34" charset="0"/>
                <a:ea typeface="Courier New" pitchFamily="34" charset="-122"/>
                <a:cs typeface="Courier New" pitchFamily="34" charset="-120"/>
              </a:rPr>
              <a:t>db_connection_pool_pct</a:t>
            </a:r>
            <a:endParaRPr lang="en-US" sz="1500" dirty="0"/>
          </a:p>
        </p:txBody>
      </p:sp>
      <p:sp>
        <p:nvSpPr>
          <p:cNvPr id="43" name="Text 41"/>
          <p:cNvSpPr/>
          <p:nvPr/>
        </p:nvSpPr>
        <p:spPr>
          <a:xfrm>
            <a:off x="6865382" y="9121140"/>
            <a:ext cx="5569970" cy="289560"/>
          </a:xfrm>
          <a:prstGeom prst="rect">
            <a:avLst/>
          </a:prstGeom>
          <a:noFill/>
          <a:ln/>
        </p:spPr>
        <p:txBody>
          <a:bodyPr wrap="square" lIns="25400" tIns="25400" rIns="25400" bIns="25400" rtlCol="0" anchor="t">
            <a:normAutofit/>
          </a:bodyPr>
          <a:lstStyle/>
          <a:p>
            <a:pPr marL="0" indent="0" algn="l">
              <a:buNone/>
            </a:pPr>
            <a:r>
              <a:rPr lang="en-US" sz="1500" dirty="0">
                <a:solidFill>
                  <a:srgbClr val="9A968A"/>
                </a:solidFill>
                <a:latin typeface="Courier New" pitchFamily="34" charset="0"/>
                <a:ea typeface="Courier New" pitchFamily="34" charset="-122"/>
                <a:cs typeface="Courier New" pitchFamily="34" charset="-120"/>
              </a:rPr>
              <a:t>cache_hit_rate_pct</a:t>
            </a:r>
            <a:endParaRPr lang="en-US" sz="1500" dirty="0"/>
          </a:p>
        </p:txBody>
      </p:sp>
      <p:sp>
        <p:nvSpPr>
          <p:cNvPr id="44" name="Text 42"/>
          <p:cNvSpPr/>
          <p:nvPr/>
        </p:nvSpPr>
        <p:spPr>
          <a:xfrm>
            <a:off x="6865382" y="9505950"/>
            <a:ext cx="5215517"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i="1" dirty="0">
                <a:solidFill>
                  <a:srgbClr val="7A766C"/>
                </a:solidFill>
                <a:latin typeface="Georgia" pitchFamily="34" charset="0"/>
                <a:ea typeface="Georgia" pitchFamily="34" charset="-122"/>
                <a:cs typeface="Georgia" pitchFamily="34" charset="-120"/>
              </a:rPr>
              <a:t>4 baselined · 3 z-score fallback. 1-min, 90-day retention.</a:t>
            </a:r>
            <a:endParaRPr lang="en-US" sz="1500" dirty="0"/>
          </a:p>
        </p:txBody>
      </p:sp>
      <p:sp>
        <p:nvSpPr>
          <p:cNvPr id="45" name="Text 43"/>
          <p:cNvSpPr/>
          <p:nvPr/>
        </p:nvSpPr>
        <p:spPr>
          <a:xfrm>
            <a:off x="12348092" y="2042160"/>
            <a:ext cx="5569970"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API ERROR CODES</a:t>
            </a:r>
            <a:endParaRPr lang="en-US" sz="1200" dirty="0"/>
          </a:p>
        </p:txBody>
      </p:sp>
      <p:sp>
        <p:nvSpPr>
          <p:cNvPr id="46" name="Shape 44"/>
          <p:cNvSpPr/>
          <p:nvPr/>
        </p:nvSpPr>
        <p:spPr>
          <a:xfrm>
            <a:off x="12348092" y="2362200"/>
            <a:ext cx="5063609" cy="15240"/>
          </a:xfrm>
          <a:prstGeom prst="rect">
            <a:avLst/>
          </a:prstGeom>
          <a:solidFill>
            <a:srgbClr val="1B1B19"/>
          </a:solidFill>
          <a:ln/>
        </p:spPr>
      </p:sp>
      <p:sp>
        <p:nvSpPr>
          <p:cNvPr id="47" name="Text 45"/>
          <p:cNvSpPr/>
          <p:nvPr/>
        </p:nvSpPr>
        <p:spPr>
          <a:xfrm>
            <a:off x="12348092" y="2510790"/>
            <a:ext cx="5569970" cy="274320"/>
          </a:xfrm>
          <a:prstGeom prst="rect">
            <a:avLst/>
          </a:prstGeom>
          <a:noFill/>
          <a:ln/>
        </p:spPr>
        <p:txBody>
          <a:bodyPr wrap="square" lIns="25400" tIns="25400" rIns="25400" bIns="25400" rtlCol="0" anchor="t">
            <a:normAutofit/>
          </a:bodyPr>
          <a:lstStyle/>
          <a:p>
            <a:pPr marL="0" indent="0" algn="l">
              <a:buNone/>
            </a:pPr>
            <a:r>
              <a:rPr lang="en-US" sz="1425" dirty="0">
                <a:solidFill>
                  <a:srgbClr val="B07D33"/>
                </a:solidFill>
                <a:latin typeface="Courier New" pitchFamily="34" charset="0"/>
                <a:ea typeface="Courier New" pitchFamily="34" charset="-122"/>
                <a:cs typeface="Courier New" pitchFamily="34" charset="-120"/>
              </a:rPr>
              <a:t>400 </a:t>
            </a:r>
            <a:r>
              <a:rPr lang="en-US" sz="1425" dirty="0">
                <a:solidFill>
                  <a:srgbClr val="33322D"/>
                </a:solidFill>
                <a:latin typeface="Courier New" pitchFamily="34" charset="0"/>
                <a:ea typeface="Courier New" pitchFamily="34" charset="-122"/>
                <a:cs typeface="Courier New" pitchFamily="34" charset="-120"/>
              </a:rPr>
              <a:t>tenant/data mismatch · no retry</a:t>
            </a:r>
            <a:endParaRPr lang="en-US" sz="1425" dirty="0"/>
          </a:p>
        </p:txBody>
      </p:sp>
      <p:sp>
        <p:nvSpPr>
          <p:cNvPr id="48" name="Text 46"/>
          <p:cNvSpPr/>
          <p:nvPr/>
        </p:nvSpPr>
        <p:spPr>
          <a:xfrm>
            <a:off x="12348092" y="3269933"/>
            <a:ext cx="5569970" cy="274320"/>
          </a:xfrm>
          <a:prstGeom prst="rect">
            <a:avLst/>
          </a:prstGeom>
          <a:noFill/>
          <a:ln/>
        </p:spPr>
        <p:txBody>
          <a:bodyPr wrap="square" lIns="25400" tIns="25400" rIns="25400" bIns="25400" rtlCol="0" anchor="t">
            <a:normAutofit/>
          </a:bodyPr>
          <a:lstStyle/>
          <a:p>
            <a:pPr marL="0" indent="0" algn="l">
              <a:buNone/>
            </a:pPr>
            <a:r>
              <a:rPr lang="en-US" sz="1425" dirty="0">
                <a:solidFill>
                  <a:srgbClr val="B07D33"/>
                </a:solidFill>
                <a:latin typeface="Courier New" pitchFamily="34" charset="0"/>
                <a:ea typeface="Courier New" pitchFamily="34" charset="-122"/>
                <a:cs typeface="Courier New" pitchFamily="34" charset="-120"/>
              </a:rPr>
              <a:t>401 </a:t>
            </a:r>
            <a:r>
              <a:rPr lang="en-US" sz="1425" dirty="0">
                <a:solidFill>
                  <a:srgbClr val="33322D"/>
                </a:solidFill>
                <a:latin typeface="Courier New" pitchFamily="34" charset="0"/>
                <a:ea typeface="Courier New" pitchFamily="34" charset="-122"/>
                <a:cs typeface="Courier New" pitchFamily="34" charset="-120"/>
              </a:rPr>
              <a:t>missing X-Tenant-Id / auth</a:t>
            </a:r>
            <a:endParaRPr lang="en-US" sz="1425" dirty="0"/>
          </a:p>
        </p:txBody>
      </p:sp>
      <p:sp>
        <p:nvSpPr>
          <p:cNvPr id="49" name="Text 47"/>
          <p:cNvSpPr/>
          <p:nvPr/>
        </p:nvSpPr>
        <p:spPr>
          <a:xfrm>
            <a:off x="12348092" y="4029075"/>
            <a:ext cx="5569970" cy="274320"/>
          </a:xfrm>
          <a:prstGeom prst="rect">
            <a:avLst/>
          </a:prstGeom>
          <a:noFill/>
          <a:ln/>
        </p:spPr>
        <p:txBody>
          <a:bodyPr wrap="square" lIns="25400" tIns="25400" rIns="25400" bIns="25400" rtlCol="0" anchor="t">
            <a:normAutofit/>
          </a:bodyPr>
          <a:lstStyle/>
          <a:p>
            <a:pPr marL="0" indent="0" algn="l">
              <a:buNone/>
            </a:pPr>
            <a:r>
              <a:rPr lang="en-US" sz="1425" dirty="0">
                <a:solidFill>
                  <a:srgbClr val="B07D33"/>
                </a:solidFill>
                <a:latin typeface="Courier New" pitchFamily="34" charset="0"/>
                <a:ea typeface="Courier New" pitchFamily="34" charset="-122"/>
                <a:cs typeface="Courier New" pitchFamily="34" charset="-120"/>
              </a:rPr>
              <a:t>422 </a:t>
            </a:r>
            <a:r>
              <a:rPr lang="en-US" sz="1425" dirty="0">
                <a:solidFill>
                  <a:srgbClr val="33322D"/>
                </a:solidFill>
                <a:latin typeface="Courier New" pitchFamily="34" charset="0"/>
                <a:ea typeface="Courier New" pitchFamily="34" charset="-122"/>
                <a:cs typeface="Courier New" pitchFamily="34" charset="-120"/>
              </a:rPr>
              <a:t>schema · &lt;120 points</a:t>
            </a:r>
            <a:endParaRPr lang="en-US" sz="1425" dirty="0"/>
          </a:p>
        </p:txBody>
      </p:sp>
      <p:sp>
        <p:nvSpPr>
          <p:cNvPr id="50" name="Text 48"/>
          <p:cNvSpPr/>
          <p:nvPr/>
        </p:nvSpPr>
        <p:spPr>
          <a:xfrm>
            <a:off x="12348092" y="4788218"/>
            <a:ext cx="5569970" cy="274320"/>
          </a:xfrm>
          <a:prstGeom prst="rect">
            <a:avLst/>
          </a:prstGeom>
          <a:noFill/>
          <a:ln/>
        </p:spPr>
        <p:txBody>
          <a:bodyPr wrap="square" lIns="25400" tIns="25400" rIns="25400" bIns="25400" rtlCol="0" anchor="t">
            <a:normAutofit/>
          </a:bodyPr>
          <a:lstStyle/>
          <a:p>
            <a:pPr marL="0" indent="0" algn="l">
              <a:buNone/>
            </a:pPr>
            <a:r>
              <a:rPr lang="en-US" sz="1425" dirty="0">
                <a:solidFill>
                  <a:srgbClr val="B07D33"/>
                </a:solidFill>
                <a:latin typeface="Courier New" pitchFamily="34" charset="0"/>
                <a:ea typeface="Courier New" pitchFamily="34" charset="-122"/>
                <a:cs typeface="Courier New" pitchFamily="34" charset="-120"/>
              </a:rPr>
              <a:t>429 </a:t>
            </a:r>
            <a:r>
              <a:rPr lang="en-US" sz="1425" dirty="0">
                <a:solidFill>
                  <a:srgbClr val="33322D"/>
                </a:solidFill>
                <a:latin typeface="Courier New" pitchFamily="34" charset="0"/>
                <a:ea typeface="Courier New" pitchFamily="34" charset="-122"/>
                <a:cs typeface="Courier New" pitchFamily="34" charset="-120"/>
              </a:rPr>
              <a:t>rate limit · backoff</a:t>
            </a:r>
            <a:endParaRPr lang="en-US" sz="1425" dirty="0"/>
          </a:p>
        </p:txBody>
      </p:sp>
      <p:sp>
        <p:nvSpPr>
          <p:cNvPr id="51" name="Text 49"/>
          <p:cNvSpPr/>
          <p:nvPr/>
        </p:nvSpPr>
        <p:spPr>
          <a:xfrm>
            <a:off x="12348092" y="5547360"/>
            <a:ext cx="5569970" cy="274320"/>
          </a:xfrm>
          <a:prstGeom prst="rect">
            <a:avLst/>
          </a:prstGeom>
          <a:noFill/>
          <a:ln/>
        </p:spPr>
        <p:txBody>
          <a:bodyPr wrap="square" lIns="25400" tIns="25400" rIns="25400" bIns="25400" rtlCol="0" anchor="t">
            <a:normAutofit/>
          </a:bodyPr>
          <a:lstStyle/>
          <a:p>
            <a:pPr marL="0" indent="0" algn="l">
              <a:buNone/>
            </a:pPr>
            <a:r>
              <a:rPr lang="en-US" sz="1425" dirty="0">
                <a:solidFill>
                  <a:srgbClr val="A8432E"/>
                </a:solidFill>
                <a:latin typeface="Courier New" pitchFamily="34" charset="0"/>
                <a:ea typeface="Courier New" pitchFamily="34" charset="-122"/>
                <a:cs typeface="Courier New" pitchFamily="34" charset="-120"/>
              </a:rPr>
              <a:t>503 </a:t>
            </a:r>
            <a:r>
              <a:rPr lang="en-US" sz="1425" dirty="0">
                <a:solidFill>
                  <a:srgbClr val="33322D"/>
                </a:solidFill>
                <a:latin typeface="Courier New" pitchFamily="34" charset="0"/>
                <a:ea typeface="Courier New" pitchFamily="34" charset="-122"/>
                <a:cs typeface="Courier New" pitchFamily="34" charset="-120"/>
              </a:rPr>
              <a:t>unavailable → CDO fallback</a:t>
            </a:r>
            <a:endParaRPr lang="en-US" sz="1425" dirty="0"/>
          </a:p>
        </p:txBody>
      </p:sp>
      <p:sp>
        <p:nvSpPr>
          <p:cNvPr id="52" name="Text 50"/>
          <p:cNvSpPr/>
          <p:nvPr/>
        </p:nvSpPr>
        <p:spPr>
          <a:xfrm>
            <a:off x="12348092" y="6012180"/>
            <a:ext cx="5569970" cy="243840"/>
          </a:xfrm>
          <a:prstGeom prst="rect">
            <a:avLst/>
          </a:prstGeom>
          <a:noFill/>
          <a:ln/>
        </p:spPr>
        <p:txBody>
          <a:bodyPr wrap="square" lIns="25400" tIns="25400" rIns="25400" bIns="25400" rtlCol="0" anchor="t">
            <a:normAutofit/>
          </a:bodyPr>
          <a:lstStyle/>
          <a:p>
            <a:pPr marL="0" indent="0" algn="l">
              <a:buNone/>
            </a:pPr>
            <a:r>
              <a:rPr lang="en-US" sz="1200" kern="0" spc="120" dirty="0">
                <a:solidFill>
                  <a:srgbClr val="8C887C"/>
                </a:solidFill>
                <a:latin typeface="Courier New" pitchFamily="34" charset="0"/>
                <a:ea typeface="Courier New" pitchFamily="34" charset="-122"/>
                <a:cs typeface="Courier New" pitchFamily="34" charset="-120"/>
              </a:rPr>
              <a:t>DEPLOYMENT</a:t>
            </a:r>
            <a:endParaRPr lang="en-US" sz="1200" dirty="0"/>
          </a:p>
        </p:txBody>
      </p:sp>
      <p:sp>
        <p:nvSpPr>
          <p:cNvPr id="53" name="Shape 51"/>
          <p:cNvSpPr/>
          <p:nvPr/>
        </p:nvSpPr>
        <p:spPr>
          <a:xfrm>
            <a:off x="12348092" y="6332220"/>
            <a:ext cx="5063609" cy="15240"/>
          </a:xfrm>
          <a:prstGeom prst="rect">
            <a:avLst/>
          </a:prstGeom>
          <a:solidFill>
            <a:srgbClr val="1B1B19"/>
          </a:solidFill>
          <a:ln/>
        </p:spPr>
      </p:sp>
      <p:sp>
        <p:nvSpPr>
          <p:cNvPr id="54" name="Text 52"/>
          <p:cNvSpPr/>
          <p:nvPr/>
        </p:nvSpPr>
        <p:spPr>
          <a:xfrm>
            <a:off x="12348092" y="6480810"/>
            <a:ext cx="5569970"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33322D"/>
                </a:solidFill>
                <a:latin typeface="Arial" pitchFamily="34" charset="0"/>
                <a:ea typeface="Arial" pitchFamily="34" charset="-122"/>
                <a:cs typeface="Arial" pitchFamily="34" charset="-120"/>
              </a:rPr>
              <a:t>us-east-1 · multi-AZ · private subnet</a:t>
            </a:r>
            <a:endParaRPr lang="en-US" sz="1500" dirty="0"/>
          </a:p>
        </p:txBody>
      </p:sp>
      <p:sp>
        <p:nvSpPr>
          <p:cNvPr id="55" name="Text 53"/>
          <p:cNvSpPr/>
          <p:nvPr/>
        </p:nvSpPr>
        <p:spPr>
          <a:xfrm>
            <a:off x="12348092" y="7489150"/>
            <a:ext cx="5569970"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33322D"/>
                </a:solidFill>
                <a:latin typeface="Arial" pitchFamily="34" charset="0"/>
                <a:ea typeface="Arial" pitchFamily="34" charset="-122"/>
                <a:cs typeface="Arial" pitchFamily="34" charset="-120"/>
              </a:rPr>
              <a:t>internal ALB · no public IP</a:t>
            </a:r>
            <a:endParaRPr lang="en-US" sz="1500" dirty="0"/>
          </a:p>
        </p:txBody>
      </p:sp>
      <p:sp>
        <p:nvSpPr>
          <p:cNvPr id="56" name="Text 54"/>
          <p:cNvSpPr/>
          <p:nvPr/>
        </p:nvSpPr>
        <p:spPr>
          <a:xfrm>
            <a:off x="12348092" y="8497610"/>
            <a:ext cx="5569970"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33322D"/>
                </a:solidFill>
                <a:latin typeface="Arial" pitchFamily="34" charset="0"/>
                <a:ea typeface="Arial" pitchFamily="34" charset="-122"/>
                <a:cs typeface="Arial" pitchFamily="34" charset="-120"/>
              </a:rPr>
              <a:t>canary 10→50→100 · RTO &lt; 60s</a:t>
            </a:r>
            <a:endParaRPr lang="en-US" sz="1500" dirty="0"/>
          </a:p>
        </p:txBody>
      </p:sp>
      <p:sp>
        <p:nvSpPr>
          <p:cNvPr id="57" name="Text 55"/>
          <p:cNvSpPr/>
          <p:nvPr/>
        </p:nvSpPr>
        <p:spPr>
          <a:xfrm>
            <a:off x="12348092" y="9505950"/>
            <a:ext cx="5569970"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33322D"/>
                </a:solidFill>
                <a:latin typeface="Arial" pitchFamily="34" charset="0"/>
                <a:ea typeface="Arial" pitchFamily="34" charset="-122"/>
                <a:cs typeface="Arial" pitchFamily="34" charset="-120"/>
              </a:rPr>
              <a:t>baseline in S3 (KMS) · audit 365d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3105</Words>
  <Application>Microsoft Office PowerPoint</Application>
  <PresentationFormat>Custom</PresentationFormat>
  <Paragraphs>433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Trần Mạnh Trường</cp:lastModifiedBy>
  <cp:revision>3</cp:revision>
  <dcterms:created xsi:type="dcterms:W3CDTF">2026-06-29T15:15:30Z</dcterms:created>
  <dcterms:modified xsi:type="dcterms:W3CDTF">2026-06-29T15:24:36Z</dcterms:modified>
</cp:coreProperties>
</file>